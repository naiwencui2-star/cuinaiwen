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content from slide 1 of 5957汇报.pptx. The legal relationships, two dates and both issues are retained. Forfeiture cannot be justified simply because of subletting or noise; the breach, forfeiture clause and notice requirements must be addressed. The renewal issue turns on the valid determination of new rent. No new legal authorities or factual findings have been added.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 2 wording:</a:t>
            </a:r>
          </a:p>
          <a:p>
            <a:r>
              <a:t>Frederick's Position: Subletting breach: Angela sublet to Charles without consent, potentially violating the tenancy agreement. Noise nuisance: Late-night noise complaints indicate breach of quiet enjoyment / covenant to use premises in a tenant-like manner. Forfeiture right: If the lease contains a forfeiture clause, Frederick may lawfully terminate early and re-enter. Renewal negotiation: Upon expiry, Frederick is not obliged to renew on the same terms; new rent is negotiable.</a:t>
            </a:r>
          </a:p>
          <a:p>
            <a:r>
              <a:t>Angela's Position: No proven breach: A complaint alone is not proof of breach; noise must be substantiated and material. Subletting may be permitted: The tenancy agreement may not prohibit subletting, or consent may have been implied. Procedural fairness: Frederick must comply with all statutory notice requirements before forfeiting; defective procedure invalidates forfeiture. Renewal right: If the agreement provides for renewal, or if a fair new rent can be determined, Angela may be entitled to enforce renewal.</a:t>
            </a:r>
          </a:p>
          <a:p>
            <a:r>
              <a:t>Conditional Conclusions (Member 1): (a) Frederick can only lawfully recover possession if he proves a valid breach and strictly complies with all contractual and statutory requirements for forfeiture. (b) Angela's right to enforce renewal turns on whether a new rent can be validly determined — the noise complaint is background, not decisive.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 name="TextBox 4"/>
          <p:cNvSpPr txBox="1"/>
          <p:nvPr/>
        </p:nvSpPr>
        <p:spPr>
          <a:xfrm>
            <a:off x="594360" y="274320"/>
            <a:ext cx="8229600" cy="228600"/>
          </a:xfrm>
          <a:prstGeom prst="rect">
            <a:avLst/>
          </a:prstGeom>
          <a:noFill/>
          <a:effectLst/>
        </p:spPr>
        <p:txBody>
          <a:bodyPr wrap="square" lIns="0" rIns="0" tIns="0" bIns="0">
            <a:spAutoFit/>
          </a:bodyPr>
          <a:lstStyle/>
          <a:p>
            <a:pPr>
              <a:lnSpc>
                <a:spcPct val="113000"/>
              </a:lnSpc>
              <a:spcAft>
                <a:spcPts val="0"/>
              </a:spcAft>
              <a:defRPr sz="800" b="1">
                <a:solidFill>
                  <a:srgbClr val="A34450"/>
                </a:solidFill>
                <a:latin typeface="Noto Sans"/>
              </a:defRPr>
            </a:pPr>
            <a:r>
              <a:rPr>
                <a:ea typeface="Noto Sans CJK SC"/>
              </a:rPr>
              <a:t>TENANCY DISPUTE  /  CASE BRIEFING</a:t>
            </a:r>
          </a:p>
        </p:txBody>
      </p:sp>
      <p:sp>
        <p:nvSpPr>
          <p:cNvPr id="6" name="TextBox 5"/>
          <p:cNvSpPr txBox="1"/>
          <p:nvPr/>
        </p:nvSpPr>
        <p:spPr>
          <a:xfrm>
            <a:off x="576072" y="667512"/>
            <a:ext cx="11064240" cy="640080"/>
          </a:xfrm>
          <a:prstGeom prst="rect">
            <a:avLst/>
          </a:prstGeom>
          <a:noFill/>
          <a:effectLst/>
        </p:spPr>
        <p:txBody>
          <a:bodyPr wrap="square" lIns="0" rIns="0" tIns="0" bIns="0">
            <a:spAutoFit/>
          </a:bodyPr>
          <a:lstStyle/>
          <a:p>
            <a:pPr>
              <a:lnSpc>
                <a:spcPct val="113000"/>
              </a:lnSpc>
              <a:spcAft>
                <a:spcPts val="0"/>
              </a:spcAft>
              <a:defRPr sz="3000" b="0">
                <a:solidFill>
                  <a:srgbClr val="7A202C"/>
                </a:solidFill>
                <a:latin typeface="Noto Serif"/>
              </a:defRPr>
            </a:pPr>
            <a:r>
              <a:rPr>
                <a:ea typeface="Noto Sans CJK SC"/>
              </a:rPr>
              <a:t>Facts, Relationships &amp; Issues</a:t>
            </a:r>
          </a:p>
        </p:txBody>
      </p:sp>
      <p:cxnSp>
        <p:nvCxnSpPr>
          <p:cNvPr id="7" name="Connector 6"/>
          <p:cNvCxnSpPr/>
          <p:nvPr/>
        </p:nvCxnSpPr>
        <p:spPr>
          <a:xfrm>
            <a:off x="603504" y="1399032"/>
            <a:ext cx="10981944" cy="0"/>
          </a:xfrm>
          <a:prstGeom prst="line">
            <a:avLst/>
          </a:prstGeom>
          <a:ln w="12700">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12648" y="1682496"/>
            <a:ext cx="4754880" cy="228600"/>
          </a:xfrm>
          <a:prstGeom prst="rect">
            <a:avLst/>
          </a:prstGeom>
          <a:noFill/>
          <a:effectLst/>
        </p:spPr>
        <p:txBody>
          <a:bodyPr wrap="square" lIns="0" rIns="0" tIns="0" bIns="0">
            <a:spAutoFit/>
          </a:bodyPr>
          <a:lstStyle/>
          <a:p>
            <a:pPr>
              <a:lnSpc>
                <a:spcPct val="113000"/>
              </a:lnSpc>
              <a:spcAft>
                <a:spcPts val="0"/>
              </a:spcAft>
              <a:defRPr sz="1200" b="1">
                <a:solidFill>
                  <a:srgbClr val="7A202C"/>
                </a:solidFill>
                <a:latin typeface="Noto Sans"/>
              </a:defRPr>
            </a:pPr>
            <a:r>
              <a:rPr>
                <a:ea typeface="Noto Sans CJK SC"/>
              </a:rPr>
              <a:t>01  /  LEGAL RELATIONSHIPS</a:t>
            </a:r>
          </a:p>
        </p:txBody>
      </p:sp>
      <p:sp>
        <p:nvSpPr>
          <p:cNvPr id="9" name="Rectangle 8"/>
          <p:cNvSpPr/>
          <p:nvPr/>
        </p:nvSpPr>
        <p:spPr>
          <a:xfrm>
            <a:off x="1088136" y="2176272"/>
            <a:ext cx="3401568" cy="548640"/>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280160" y="2313432"/>
            <a:ext cx="3026664" cy="301752"/>
          </a:xfrm>
          <a:prstGeom prst="rect">
            <a:avLst/>
          </a:prstGeom>
          <a:noFill/>
          <a:effectLst/>
        </p:spPr>
        <p:txBody>
          <a:bodyPr wrap="square" lIns="0" rIns="0" tIns="0" bIns="0">
            <a:spAutoFit/>
          </a:bodyPr>
          <a:lstStyle/>
          <a:p>
            <a:pPr algn="ctr">
              <a:lnSpc>
                <a:spcPct val="113000"/>
              </a:lnSpc>
              <a:spcAft>
                <a:spcPts val="0"/>
              </a:spcAft>
              <a:defRPr sz="1600" b="1">
                <a:solidFill>
                  <a:srgbClr val="FFFFFF"/>
                </a:solidFill>
                <a:latin typeface="Noto Sans"/>
              </a:defRPr>
            </a:pPr>
            <a:r>
              <a:rPr>
                <a:ea typeface="Noto Sans CJK SC"/>
              </a:rPr>
              <a:t>Frederick  /  Landlord</a:t>
            </a:r>
          </a:p>
        </p:txBody>
      </p:sp>
      <p:sp>
        <p:nvSpPr>
          <p:cNvPr id="11" name="Rectangle 10"/>
          <p:cNvSpPr/>
          <p:nvPr/>
        </p:nvSpPr>
        <p:spPr>
          <a:xfrm>
            <a:off x="1088136" y="3273552"/>
            <a:ext cx="3401568" cy="548640"/>
          </a:xfrm>
          <a:prstGeom prst="rect">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280160" y="3410712"/>
            <a:ext cx="3026664" cy="301752"/>
          </a:xfrm>
          <a:prstGeom prst="rect">
            <a:avLst/>
          </a:prstGeom>
          <a:noFill/>
          <a:effectLst/>
        </p:spPr>
        <p:txBody>
          <a:bodyPr wrap="square" lIns="0" rIns="0" tIns="0" bIns="0">
            <a:spAutoFit/>
          </a:bodyPr>
          <a:lstStyle/>
          <a:p>
            <a:pPr algn="ctr">
              <a:lnSpc>
                <a:spcPct val="113000"/>
              </a:lnSpc>
              <a:spcAft>
                <a:spcPts val="0"/>
              </a:spcAft>
              <a:defRPr sz="1600" b="1">
                <a:solidFill>
                  <a:srgbClr val="FFFFFF"/>
                </a:solidFill>
                <a:latin typeface="Noto Sans"/>
              </a:defRPr>
            </a:pPr>
            <a:r>
              <a:rPr>
                <a:ea typeface="Noto Sans CJK SC"/>
              </a:rPr>
              <a:t>Angela  /  Tenant</a:t>
            </a:r>
          </a:p>
        </p:txBody>
      </p:sp>
      <p:sp>
        <p:nvSpPr>
          <p:cNvPr id="13" name="Rectangle 12"/>
          <p:cNvSpPr/>
          <p:nvPr/>
        </p:nvSpPr>
        <p:spPr>
          <a:xfrm>
            <a:off x="1088136" y="4370832"/>
            <a:ext cx="3401568" cy="548640"/>
          </a:xfrm>
          <a:prstGeom prst="rect">
            <a:avLst/>
          </a:prstGeom>
          <a:solidFill>
            <a:srgbClr val="D4A59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280160" y="4507992"/>
            <a:ext cx="3026664" cy="301752"/>
          </a:xfrm>
          <a:prstGeom prst="rect">
            <a:avLst/>
          </a:prstGeom>
          <a:noFill/>
          <a:effectLst/>
        </p:spPr>
        <p:txBody>
          <a:bodyPr wrap="square" lIns="0" rIns="0" tIns="0" bIns="0">
            <a:spAutoFit/>
          </a:bodyPr>
          <a:lstStyle/>
          <a:p>
            <a:pPr algn="ctr">
              <a:lnSpc>
                <a:spcPct val="113000"/>
              </a:lnSpc>
              <a:spcAft>
                <a:spcPts val="0"/>
              </a:spcAft>
              <a:defRPr sz="1600" b="1">
                <a:solidFill>
                  <a:srgbClr val="1E191C"/>
                </a:solidFill>
                <a:latin typeface="Noto Sans"/>
              </a:defRPr>
            </a:pPr>
            <a:r>
              <a:rPr>
                <a:ea typeface="Noto Sans CJK SC"/>
              </a:rPr>
              <a:t>Charles  /  Sub-tenant</a:t>
            </a:r>
          </a:p>
        </p:txBody>
      </p:sp>
      <p:cxnSp>
        <p:nvCxnSpPr>
          <p:cNvPr id="15" name="Connector 14"/>
          <p:cNvCxnSpPr/>
          <p:nvPr/>
        </p:nvCxnSpPr>
        <p:spPr>
          <a:xfrm>
            <a:off x="2788920" y="2724912"/>
            <a:ext cx="0" cy="548640"/>
          </a:xfrm>
          <a:prstGeom prst="line">
            <a:avLst/>
          </a:prstGeom>
          <a:ln w="15240">
            <a:solidFill>
              <a:srgbClr val="A34450"/>
            </a:solidFill>
          </a:ln>
          <a:effectLst/>
        </p:spPr>
        <p:style>
          <a:lnRef idx="2">
            <a:schemeClr val="accent1"/>
          </a:lnRef>
          <a:fillRef idx="0">
            <a:schemeClr val="accent1"/>
          </a:fillRef>
          <a:effectRef idx="0">
            <a:schemeClr val="accent1"/>
          </a:effectRef>
          <a:fontRef idx="minor">
            <a:schemeClr val="tx1"/>
          </a:fontRef>
        </p:style>
      </p:cxnSp>
      <p:sp>
        <p:nvSpPr>
          <p:cNvPr id="16" name="Diamond 15"/>
          <p:cNvSpPr/>
          <p:nvPr/>
        </p:nvSpPr>
        <p:spPr>
          <a:xfrm>
            <a:off x="2747772" y="3182112"/>
            <a:ext cx="82296" cy="82296"/>
          </a:xfrm>
          <a:prstGeom prst="diamond">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3008376" y="2898648"/>
            <a:ext cx="2331720" cy="274320"/>
          </a:xfrm>
          <a:prstGeom prst="rect">
            <a:avLst/>
          </a:prstGeom>
          <a:noFill/>
          <a:effectLst/>
        </p:spPr>
        <p:txBody>
          <a:bodyPr wrap="square" lIns="0" rIns="0" tIns="0" bIns="0">
            <a:spAutoFit/>
          </a:bodyPr>
          <a:lstStyle/>
          <a:p>
            <a:pPr>
              <a:lnSpc>
                <a:spcPct val="113000"/>
              </a:lnSpc>
              <a:spcAft>
                <a:spcPts val="0"/>
              </a:spcAft>
              <a:defRPr sz="1050" b="0">
                <a:solidFill>
                  <a:srgbClr val="5A5A5A"/>
                </a:solidFill>
                <a:latin typeface="Noto Sans"/>
              </a:defRPr>
            </a:pPr>
            <a:r>
              <a:rPr>
                <a:ea typeface="Noto Sans CJK SC"/>
              </a:rPr>
              <a:t>Head tenancy  ·  2 years</a:t>
            </a:r>
          </a:p>
        </p:txBody>
      </p:sp>
      <p:cxnSp>
        <p:nvCxnSpPr>
          <p:cNvPr id="18" name="Connector 17"/>
          <p:cNvCxnSpPr/>
          <p:nvPr/>
        </p:nvCxnSpPr>
        <p:spPr>
          <a:xfrm>
            <a:off x="2788920" y="3822191"/>
            <a:ext cx="0" cy="548640"/>
          </a:xfrm>
          <a:prstGeom prst="line">
            <a:avLst/>
          </a:prstGeom>
          <a:ln w="15240">
            <a:solidFill>
              <a:srgbClr val="A34450"/>
            </a:solidFill>
          </a:ln>
          <a:effectLst/>
        </p:spPr>
        <p:style>
          <a:lnRef idx="2">
            <a:schemeClr val="accent1"/>
          </a:lnRef>
          <a:fillRef idx="0">
            <a:schemeClr val="accent1"/>
          </a:fillRef>
          <a:effectRef idx="0">
            <a:schemeClr val="accent1"/>
          </a:effectRef>
          <a:fontRef idx="minor">
            <a:schemeClr val="tx1"/>
          </a:fontRef>
        </p:style>
      </p:cxnSp>
      <p:sp>
        <p:nvSpPr>
          <p:cNvPr id="19" name="Diamond 18"/>
          <p:cNvSpPr/>
          <p:nvPr/>
        </p:nvSpPr>
        <p:spPr>
          <a:xfrm>
            <a:off x="2747772" y="4279392"/>
            <a:ext cx="82296" cy="82296"/>
          </a:xfrm>
          <a:prstGeom prst="diamond">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008376" y="3995928"/>
            <a:ext cx="2331720" cy="274320"/>
          </a:xfrm>
          <a:prstGeom prst="rect">
            <a:avLst/>
          </a:prstGeom>
          <a:noFill/>
          <a:effectLst/>
        </p:spPr>
        <p:txBody>
          <a:bodyPr wrap="square" lIns="0" rIns="0" tIns="0" bIns="0">
            <a:spAutoFit/>
          </a:bodyPr>
          <a:lstStyle/>
          <a:p>
            <a:pPr>
              <a:lnSpc>
                <a:spcPct val="113000"/>
              </a:lnSpc>
              <a:spcAft>
                <a:spcPts val="0"/>
              </a:spcAft>
              <a:defRPr sz="1050" b="0">
                <a:solidFill>
                  <a:srgbClr val="5A5A5A"/>
                </a:solidFill>
                <a:latin typeface="Noto Sans"/>
              </a:defRPr>
            </a:pPr>
            <a:r>
              <a:rPr>
                <a:ea typeface="Noto Sans CJK SC"/>
              </a:rPr>
              <a:t>Sub-tenancy agreement</a:t>
            </a:r>
          </a:p>
        </p:txBody>
      </p:sp>
      <p:sp>
        <p:nvSpPr>
          <p:cNvPr id="21" name="TextBox 20"/>
          <p:cNvSpPr txBox="1"/>
          <p:nvPr/>
        </p:nvSpPr>
        <p:spPr>
          <a:xfrm>
            <a:off x="886968" y="5157216"/>
            <a:ext cx="4343400" cy="484632"/>
          </a:xfrm>
          <a:prstGeom prst="rect">
            <a:avLst/>
          </a:prstGeom>
          <a:noFill/>
          <a:effectLst/>
        </p:spPr>
        <p:txBody>
          <a:bodyPr wrap="square" lIns="0" rIns="0" tIns="0" bIns="0">
            <a:spAutoFit/>
          </a:bodyPr>
          <a:lstStyle/>
          <a:p>
            <a:pPr algn="ctr">
              <a:lnSpc>
                <a:spcPct val="113000"/>
              </a:lnSpc>
              <a:spcAft>
                <a:spcPts val="0"/>
              </a:spcAft>
              <a:defRPr sz="1100" b="0">
                <a:solidFill>
                  <a:srgbClr val="5A5A5A"/>
                </a:solidFill>
                <a:latin typeface="Noto Sans"/>
              </a:defRPr>
            </a:pPr>
            <a:r>
              <a:rPr>
                <a:ea typeface="Noto Sans CJK SC"/>
              </a:rPr>
              <a:t>No direct contractual relationship between</a:t>
            </a:r>
          </a:p>
          <a:p>
            <a:pPr algn="ctr">
              <a:lnSpc>
                <a:spcPct val="113000"/>
              </a:lnSpc>
              <a:spcAft>
                <a:spcPts val="0"/>
              </a:spcAft>
              <a:defRPr sz="1100" b="0">
                <a:solidFill>
                  <a:srgbClr val="5A5A5A"/>
                </a:solidFill>
                <a:latin typeface="Noto Sans"/>
              </a:defRPr>
            </a:pPr>
            <a:r>
              <a:rPr>
                <a:ea typeface="Noto Sans CJK SC"/>
              </a:rPr>
              <a:t>Frederick and Charles</a:t>
            </a:r>
          </a:p>
        </p:txBody>
      </p:sp>
      <p:sp>
        <p:nvSpPr>
          <p:cNvPr id="22" name="TextBox 21"/>
          <p:cNvSpPr txBox="1"/>
          <p:nvPr/>
        </p:nvSpPr>
        <p:spPr>
          <a:xfrm>
            <a:off x="612648" y="5660136"/>
            <a:ext cx="2743200" cy="228600"/>
          </a:xfrm>
          <a:prstGeom prst="rect">
            <a:avLst/>
          </a:prstGeom>
          <a:noFill/>
          <a:effectLst/>
        </p:spPr>
        <p:txBody>
          <a:bodyPr wrap="square" lIns="0" rIns="0" tIns="0" bIns="0">
            <a:spAutoFit/>
          </a:bodyPr>
          <a:lstStyle/>
          <a:p>
            <a:pPr>
              <a:lnSpc>
                <a:spcPct val="113000"/>
              </a:lnSpc>
              <a:spcAft>
                <a:spcPts val="0"/>
              </a:spcAft>
              <a:defRPr sz="1000" b="1">
                <a:solidFill>
                  <a:srgbClr val="7A202C"/>
                </a:solidFill>
                <a:latin typeface="Noto Sans"/>
              </a:defRPr>
            </a:pPr>
            <a:r>
              <a:rPr>
                <a:ea typeface="Noto Sans CJK SC"/>
              </a:rPr>
              <a:t>TIMELINE</a:t>
            </a:r>
          </a:p>
        </p:txBody>
      </p:sp>
      <p:cxnSp>
        <p:nvCxnSpPr>
          <p:cNvPr id="23" name="Connector 22"/>
          <p:cNvCxnSpPr/>
          <p:nvPr/>
        </p:nvCxnSpPr>
        <p:spPr>
          <a:xfrm>
            <a:off x="777240" y="5998464"/>
            <a:ext cx="4480560" cy="0"/>
          </a:xfrm>
          <a:prstGeom prst="line">
            <a:avLst/>
          </a:prstGeom>
          <a:ln w="13970">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24" name="Oval 23"/>
          <p:cNvSpPr/>
          <p:nvPr/>
        </p:nvSpPr>
        <p:spPr>
          <a:xfrm>
            <a:off x="886968" y="5943600"/>
            <a:ext cx="109728" cy="109728"/>
          </a:xfrm>
          <a:prstGeom prst="ellipse">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612648" y="6153912"/>
            <a:ext cx="2103120" cy="173736"/>
          </a:xfrm>
          <a:prstGeom prst="rect">
            <a:avLst/>
          </a:prstGeom>
          <a:noFill/>
          <a:effectLst/>
        </p:spPr>
        <p:txBody>
          <a:bodyPr wrap="square" lIns="0" rIns="0" tIns="0" bIns="0">
            <a:spAutoFit/>
          </a:bodyPr>
          <a:lstStyle/>
          <a:p>
            <a:pPr>
              <a:lnSpc>
                <a:spcPct val="113000"/>
              </a:lnSpc>
              <a:spcAft>
                <a:spcPts val="0"/>
              </a:spcAft>
              <a:defRPr sz="800" b="1">
                <a:solidFill>
                  <a:srgbClr val="1E191C"/>
                </a:solidFill>
                <a:latin typeface="Noto Sans"/>
              </a:defRPr>
            </a:pPr>
            <a:r>
              <a:rPr>
                <a:ea typeface="Noto Sans CJK SC"/>
              </a:rPr>
              <a:t>1 DEC · PREVIOUS YEAR</a:t>
            </a:r>
          </a:p>
        </p:txBody>
      </p:sp>
      <p:sp>
        <p:nvSpPr>
          <p:cNvPr id="26" name="TextBox 25"/>
          <p:cNvSpPr txBox="1"/>
          <p:nvPr/>
        </p:nvSpPr>
        <p:spPr>
          <a:xfrm>
            <a:off x="612648" y="6336792"/>
            <a:ext cx="2103120" cy="164592"/>
          </a:xfrm>
          <a:prstGeom prst="rect">
            <a:avLst/>
          </a:prstGeom>
          <a:noFill/>
          <a:effectLst/>
        </p:spPr>
        <p:txBody>
          <a:bodyPr wrap="square" lIns="0" rIns="0" tIns="0" bIns="0">
            <a:spAutoFit/>
          </a:bodyPr>
          <a:lstStyle/>
          <a:p>
            <a:pPr>
              <a:lnSpc>
                <a:spcPct val="113000"/>
              </a:lnSpc>
              <a:spcAft>
                <a:spcPts val="0"/>
              </a:spcAft>
              <a:defRPr sz="800" b="0">
                <a:solidFill>
                  <a:srgbClr val="5A5A5A"/>
                </a:solidFill>
                <a:latin typeface="Noto Sans"/>
              </a:defRPr>
            </a:pPr>
            <a:r>
              <a:rPr>
                <a:ea typeface="Noto Sans CJK SC"/>
              </a:rPr>
              <a:t>Tenancy commenced</a:t>
            </a:r>
          </a:p>
        </p:txBody>
      </p:sp>
      <p:sp>
        <p:nvSpPr>
          <p:cNvPr id="27" name="Oval 26"/>
          <p:cNvSpPr/>
          <p:nvPr/>
        </p:nvSpPr>
        <p:spPr>
          <a:xfrm>
            <a:off x="4352544" y="5943600"/>
            <a:ext cx="109728" cy="109728"/>
          </a:xfrm>
          <a:prstGeom prst="ellipse">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3602736" y="6153912"/>
            <a:ext cx="2103120" cy="173736"/>
          </a:xfrm>
          <a:prstGeom prst="rect">
            <a:avLst/>
          </a:prstGeom>
          <a:noFill/>
          <a:effectLst/>
        </p:spPr>
        <p:txBody>
          <a:bodyPr wrap="square" lIns="0" rIns="0" tIns="0" bIns="0">
            <a:spAutoFit/>
          </a:bodyPr>
          <a:lstStyle/>
          <a:p>
            <a:pPr>
              <a:lnSpc>
                <a:spcPct val="113000"/>
              </a:lnSpc>
              <a:spcAft>
                <a:spcPts val="0"/>
              </a:spcAft>
              <a:defRPr sz="800" b="1">
                <a:solidFill>
                  <a:srgbClr val="1E191C"/>
                </a:solidFill>
                <a:latin typeface="Noto Sans"/>
              </a:defRPr>
            </a:pPr>
            <a:r>
              <a:rPr>
                <a:ea typeface="Noto Sans CJK SC"/>
              </a:rPr>
              <a:t>1 SEP · CURRENT YEAR</a:t>
            </a:r>
          </a:p>
        </p:txBody>
      </p:sp>
      <p:sp>
        <p:nvSpPr>
          <p:cNvPr id="29" name="TextBox 28"/>
          <p:cNvSpPr txBox="1"/>
          <p:nvPr/>
        </p:nvSpPr>
        <p:spPr>
          <a:xfrm>
            <a:off x="3602736" y="6336792"/>
            <a:ext cx="2103120" cy="164592"/>
          </a:xfrm>
          <a:prstGeom prst="rect">
            <a:avLst/>
          </a:prstGeom>
          <a:noFill/>
          <a:effectLst/>
        </p:spPr>
        <p:txBody>
          <a:bodyPr wrap="square" lIns="0" rIns="0" tIns="0" bIns="0">
            <a:spAutoFit/>
          </a:bodyPr>
          <a:lstStyle/>
          <a:p>
            <a:pPr>
              <a:lnSpc>
                <a:spcPct val="113000"/>
              </a:lnSpc>
              <a:spcAft>
                <a:spcPts val="0"/>
              </a:spcAft>
              <a:defRPr sz="800" b="0">
                <a:solidFill>
                  <a:srgbClr val="5A5A5A"/>
                </a:solidFill>
                <a:latin typeface="Noto Sans"/>
              </a:defRPr>
            </a:pPr>
            <a:r>
              <a:rPr>
                <a:ea typeface="Noto Sans CJK SC"/>
              </a:rPr>
              <a:t>Noise complaint received</a:t>
            </a:r>
          </a:p>
        </p:txBody>
      </p:sp>
      <p:cxnSp>
        <p:nvCxnSpPr>
          <p:cNvPr id="30" name="Connector 29"/>
          <p:cNvCxnSpPr/>
          <p:nvPr/>
        </p:nvCxnSpPr>
        <p:spPr>
          <a:xfrm>
            <a:off x="5660136" y="1691640"/>
            <a:ext cx="0" cy="4553712"/>
          </a:xfrm>
          <a:prstGeom prst="line">
            <a:avLst/>
          </a:prstGeom>
          <a:ln w="8255">
            <a:solidFill>
              <a:srgbClr val="E6D9DA"/>
            </a:solidFill>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6071616" y="1682496"/>
            <a:ext cx="5486400" cy="228600"/>
          </a:xfrm>
          <a:prstGeom prst="rect">
            <a:avLst/>
          </a:prstGeom>
          <a:noFill/>
          <a:effectLst/>
        </p:spPr>
        <p:txBody>
          <a:bodyPr wrap="square" lIns="0" rIns="0" tIns="0" bIns="0">
            <a:spAutoFit/>
          </a:bodyPr>
          <a:lstStyle/>
          <a:p>
            <a:pPr>
              <a:lnSpc>
                <a:spcPct val="113000"/>
              </a:lnSpc>
              <a:spcAft>
                <a:spcPts val="0"/>
              </a:spcAft>
              <a:defRPr sz="1200" b="1">
                <a:solidFill>
                  <a:srgbClr val="7A202C"/>
                </a:solidFill>
                <a:latin typeface="Noto Sans"/>
              </a:defRPr>
            </a:pPr>
            <a:r>
              <a:rPr>
                <a:ea typeface="Noto Sans CJK SC"/>
              </a:rPr>
              <a:t>02  /  ISSUES TO BE ADDRESSED</a:t>
            </a:r>
          </a:p>
        </p:txBody>
      </p:sp>
      <p:sp>
        <p:nvSpPr>
          <p:cNvPr id="32" name="Rectangle 31"/>
          <p:cNvSpPr/>
          <p:nvPr/>
        </p:nvSpPr>
        <p:spPr>
          <a:xfrm>
            <a:off x="6080760" y="2167128"/>
            <a:ext cx="5504688" cy="1883664"/>
          </a:xfrm>
          <a:prstGeom prst="rect">
            <a:avLst/>
          </a:prstGeom>
          <a:solidFill>
            <a:srgbClr val="F8F0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6080760" y="2167128"/>
            <a:ext cx="41148" cy="188366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291072" y="2331720"/>
            <a:ext cx="484632" cy="365760"/>
          </a:xfrm>
          <a:prstGeom prst="rect">
            <a:avLst/>
          </a:prstGeom>
          <a:noFill/>
          <a:effectLst/>
        </p:spPr>
        <p:txBody>
          <a:bodyPr wrap="square" lIns="0" rIns="0" tIns="0" bIns="0">
            <a:spAutoFit/>
          </a:bodyPr>
          <a:lstStyle/>
          <a:p>
            <a:pPr>
              <a:lnSpc>
                <a:spcPct val="113000"/>
              </a:lnSpc>
              <a:spcAft>
                <a:spcPts val="0"/>
              </a:spcAft>
              <a:defRPr sz="2000" b="1">
                <a:solidFill>
                  <a:srgbClr val="7A202C"/>
                </a:solidFill>
                <a:latin typeface="Noto Serif"/>
              </a:defRPr>
            </a:pPr>
            <a:r>
              <a:rPr>
                <a:ea typeface="Noto Sans CJK SC"/>
              </a:rPr>
              <a:t>(a)</a:t>
            </a:r>
          </a:p>
        </p:txBody>
      </p:sp>
      <p:sp>
        <p:nvSpPr>
          <p:cNvPr id="35" name="TextBox 34"/>
          <p:cNvSpPr txBox="1"/>
          <p:nvPr/>
        </p:nvSpPr>
        <p:spPr>
          <a:xfrm>
            <a:off x="6858000" y="2368296"/>
            <a:ext cx="4480560" cy="228600"/>
          </a:xfrm>
          <a:prstGeom prst="rect">
            <a:avLst/>
          </a:prstGeom>
          <a:noFill/>
          <a:effectLst/>
        </p:spPr>
        <p:txBody>
          <a:bodyPr wrap="square" lIns="0" rIns="0" tIns="0" bIns="0">
            <a:spAutoFit/>
          </a:bodyPr>
          <a:lstStyle/>
          <a:p>
            <a:pPr>
              <a:lnSpc>
                <a:spcPct val="113000"/>
              </a:lnSpc>
              <a:spcAft>
                <a:spcPts val="0"/>
              </a:spcAft>
              <a:defRPr sz="1000" b="1">
                <a:solidFill>
                  <a:srgbClr val="7A202C"/>
                </a:solidFill>
                <a:latin typeface="Noto Sans"/>
              </a:defRPr>
            </a:pPr>
            <a:r>
              <a:rPr>
                <a:ea typeface="Noto Sans CJK SC"/>
              </a:rPr>
              <a:t>FORFEITURE BEFORE EXPIRY</a:t>
            </a:r>
          </a:p>
        </p:txBody>
      </p:sp>
      <p:sp>
        <p:nvSpPr>
          <p:cNvPr id="36" name="TextBox 35"/>
          <p:cNvSpPr txBox="1"/>
          <p:nvPr/>
        </p:nvSpPr>
        <p:spPr>
          <a:xfrm>
            <a:off x="6858000" y="2734056"/>
            <a:ext cx="4425696" cy="630936"/>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Can Frederick lawfully forfeit the tenancy and recover possession before expiry?</a:t>
            </a:r>
          </a:p>
        </p:txBody>
      </p:sp>
      <p:sp>
        <p:nvSpPr>
          <p:cNvPr id="37" name="TextBox 36"/>
          <p:cNvSpPr txBox="1"/>
          <p:nvPr/>
        </p:nvSpPr>
        <p:spPr>
          <a:xfrm>
            <a:off x="6858000" y="3401568"/>
            <a:ext cx="4425696" cy="530352"/>
          </a:xfrm>
          <a:prstGeom prst="rect">
            <a:avLst/>
          </a:prstGeom>
          <a:noFill/>
          <a:effectLst/>
        </p:spPr>
        <p:txBody>
          <a:bodyPr wrap="square" lIns="0" rIns="0" tIns="0" bIns="0">
            <a:spAutoFit/>
          </a:bodyPr>
          <a:lstStyle/>
          <a:p>
            <a:pPr>
              <a:lnSpc>
                <a:spcPct val="113000"/>
              </a:lnSpc>
              <a:spcAft>
                <a:spcPts val="0"/>
              </a:spcAft>
              <a:defRPr sz="1150" b="0">
                <a:solidFill>
                  <a:srgbClr val="5A5A5A"/>
                </a:solidFill>
                <a:latin typeface="Noto Sans"/>
              </a:defRPr>
            </a:pPr>
            <a:r>
              <a:rPr>
                <a:ea typeface="Noto Sans CJK SC"/>
              </a:rPr>
              <a:t>A breach must be established, forfeiture clauses complied with, and the required notice validly served.</a:t>
            </a:r>
          </a:p>
        </p:txBody>
      </p:sp>
      <p:sp>
        <p:nvSpPr>
          <p:cNvPr id="38" name="Rectangle 37"/>
          <p:cNvSpPr/>
          <p:nvPr/>
        </p:nvSpPr>
        <p:spPr>
          <a:xfrm>
            <a:off x="6080760" y="4270248"/>
            <a:ext cx="5504688" cy="1883664"/>
          </a:xfrm>
          <a:prstGeom prst="rect">
            <a:avLst/>
          </a:prstGeom>
          <a:solidFill>
            <a:srgbClr val="F8F0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ectangle 38"/>
          <p:cNvSpPr/>
          <p:nvPr/>
        </p:nvSpPr>
        <p:spPr>
          <a:xfrm>
            <a:off x="6080760" y="4270248"/>
            <a:ext cx="41148" cy="1883664"/>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6291072" y="4434840"/>
            <a:ext cx="484632" cy="365760"/>
          </a:xfrm>
          <a:prstGeom prst="rect">
            <a:avLst/>
          </a:prstGeom>
          <a:noFill/>
          <a:effectLst/>
        </p:spPr>
        <p:txBody>
          <a:bodyPr wrap="square" lIns="0" rIns="0" tIns="0" bIns="0">
            <a:spAutoFit/>
          </a:bodyPr>
          <a:lstStyle/>
          <a:p>
            <a:pPr>
              <a:lnSpc>
                <a:spcPct val="113000"/>
              </a:lnSpc>
              <a:spcAft>
                <a:spcPts val="0"/>
              </a:spcAft>
              <a:defRPr sz="2000" b="1">
                <a:solidFill>
                  <a:srgbClr val="7A202C"/>
                </a:solidFill>
                <a:latin typeface="Noto Serif"/>
              </a:defRPr>
            </a:pPr>
            <a:r>
              <a:rPr>
                <a:ea typeface="Noto Sans CJK SC"/>
              </a:rPr>
              <a:t>(b)</a:t>
            </a:r>
          </a:p>
        </p:txBody>
      </p:sp>
      <p:sp>
        <p:nvSpPr>
          <p:cNvPr id="41" name="TextBox 40"/>
          <p:cNvSpPr txBox="1"/>
          <p:nvPr/>
        </p:nvSpPr>
        <p:spPr>
          <a:xfrm>
            <a:off x="6858000" y="4471416"/>
            <a:ext cx="4480560" cy="228600"/>
          </a:xfrm>
          <a:prstGeom prst="rect">
            <a:avLst/>
          </a:prstGeom>
          <a:noFill/>
          <a:effectLst/>
        </p:spPr>
        <p:txBody>
          <a:bodyPr wrap="square" lIns="0" rIns="0" tIns="0" bIns="0">
            <a:spAutoFit/>
          </a:bodyPr>
          <a:lstStyle/>
          <a:p>
            <a:pPr>
              <a:lnSpc>
                <a:spcPct val="113000"/>
              </a:lnSpc>
              <a:spcAft>
                <a:spcPts val="0"/>
              </a:spcAft>
              <a:defRPr sz="1000" b="1">
                <a:solidFill>
                  <a:srgbClr val="7A202C"/>
                </a:solidFill>
                <a:latin typeface="Noto Sans"/>
              </a:defRPr>
            </a:pPr>
            <a:r>
              <a:rPr>
                <a:ea typeface="Noto Sans CJK SC"/>
              </a:rPr>
              <a:t>RENEWAL AT EXPIRY</a:t>
            </a:r>
          </a:p>
        </p:txBody>
      </p:sp>
      <p:sp>
        <p:nvSpPr>
          <p:cNvPr id="42" name="TextBox 41"/>
          <p:cNvSpPr txBox="1"/>
          <p:nvPr/>
        </p:nvSpPr>
        <p:spPr>
          <a:xfrm>
            <a:off x="6858000" y="4837176"/>
            <a:ext cx="4425696" cy="630936"/>
          </a:xfrm>
          <a:prstGeom prst="rect">
            <a:avLst/>
          </a:prstGeom>
          <a:noFill/>
          <a:effectLst/>
        </p:spPr>
        <p:txBody>
          <a:bodyPr wrap="square" lIns="0" rIns="0" tIns="0" bIns="0">
            <a:spAutoFit/>
          </a:bodyPr>
          <a:lstStyle/>
          <a:p>
            <a:pPr>
              <a:lnSpc>
                <a:spcPct val="113000"/>
              </a:lnSpc>
              <a:spcAft>
                <a:spcPts val="0"/>
              </a:spcAft>
              <a:defRPr sz="1500" b="0">
                <a:solidFill>
                  <a:srgbClr val="1E191C"/>
                </a:solidFill>
                <a:latin typeface="Noto Sans"/>
              </a:defRPr>
            </a:pPr>
            <a:r>
              <a:rPr>
                <a:ea typeface="Noto Sans CJK SC"/>
              </a:rPr>
              <a:t>Can Angela enforce a renewal of the tenancy upon expiry of the 2-year term?</a:t>
            </a:r>
          </a:p>
        </p:txBody>
      </p:sp>
      <p:sp>
        <p:nvSpPr>
          <p:cNvPr id="43" name="TextBox 42"/>
          <p:cNvSpPr txBox="1"/>
          <p:nvPr/>
        </p:nvSpPr>
        <p:spPr>
          <a:xfrm>
            <a:off x="6858000" y="5504688"/>
            <a:ext cx="4425696" cy="530352"/>
          </a:xfrm>
          <a:prstGeom prst="rect">
            <a:avLst/>
          </a:prstGeom>
          <a:noFill/>
          <a:effectLst/>
        </p:spPr>
        <p:txBody>
          <a:bodyPr wrap="square" lIns="0" rIns="0" tIns="0" bIns="0">
            <a:spAutoFit/>
          </a:bodyPr>
          <a:lstStyle/>
          <a:p>
            <a:pPr>
              <a:lnSpc>
                <a:spcPct val="113000"/>
              </a:lnSpc>
              <a:spcAft>
                <a:spcPts val="0"/>
              </a:spcAft>
              <a:defRPr sz="1150" b="0">
                <a:solidFill>
                  <a:srgbClr val="5A5A5A"/>
                </a:solidFill>
                <a:latin typeface="Noto Sans"/>
              </a:defRPr>
            </a:pPr>
            <a:r>
              <a:rPr>
                <a:ea typeface="Noto Sans CJK SC"/>
              </a:rPr>
              <a:t>The key question is whether the new rent can be validly determined. The noise complaint is background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 name="TextBox 4"/>
          <p:cNvSpPr txBox="1"/>
          <p:nvPr/>
        </p:nvSpPr>
        <p:spPr>
          <a:xfrm>
            <a:off x="594360" y="274320"/>
            <a:ext cx="8229600" cy="228600"/>
          </a:xfrm>
          <a:prstGeom prst="rect">
            <a:avLst/>
          </a:prstGeom>
          <a:noFill/>
          <a:effectLst/>
        </p:spPr>
        <p:txBody>
          <a:bodyPr wrap="square" lIns="0" rIns="0" tIns="0" bIns="0">
            <a:spAutoFit/>
          </a:bodyPr>
          <a:lstStyle/>
          <a:p>
            <a:pPr>
              <a:lnSpc>
                <a:spcPct val="113000"/>
              </a:lnSpc>
              <a:spcAft>
                <a:spcPts val="0"/>
              </a:spcAft>
              <a:defRPr sz="800" b="1">
                <a:solidFill>
                  <a:srgbClr val="A34450"/>
                </a:solidFill>
                <a:latin typeface="Noto Sans"/>
              </a:defRPr>
            </a:pPr>
            <a:r>
              <a:rPr>
                <a:ea typeface="Noto Sans CJK SC"/>
              </a:rPr>
              <a:t>TENANCY DISPUTE  /  CASE BRIEFING</a:t>
            </a:r>
          </a:p>
        </p:txBody>
      </p:sp>
      <p:sp>
        <p:nvSpPr>
          <p:cNvPr id="6" name="TextBox 5"/>
          <p:cNvSpPr txBox="1"/>
          <p:nvPr/>
        </p:nvSpPr>
        <p:spPr>
          <a:xfrm>
            <a:off x="576072" y="667512"/>
            <a:ext cx="11064240" cy="640080"/>
          </a:xfrm>
          <a:prstGeom prst="rect">
            <a:avLst/>
          </a:prstGeom>
          <a:noFill/>
          <a:effectLst/>
        </p:spPr>
        <p:txBody>
          <a:bodyPr wrap="square" lIns="0" rIns="0" tIns="0" bIns="0">
            <a:spAutoFit/>
          </a:bodyPr>
          <a:lstStyle/>
          <a:p>
            <a:pPr>
              <a:lnSpc>
                <a:spcPct val="113000"/>
              </a:lnSpc>
              <a:spcAft>
                <a:spcPts val="0"/>
              </a:spcAft>
              <a:defRPr sz="2900" b="0">
                <a:solidFill>
                  <a:srgbClr val="7A202C"/>
                </a:solidFill>
                <a:latin typeface="Noto Serif"/>
              </a:defRPr>
            </a:pPr>
            <a:r>
              <a:rPr>
                <a:ea typeface="Noto Sans CJK SC"/>
              </a:rPr>
              <a:t>Arguments &amp; Conditional Conclusions</a:t>
            </a:r>
          </a:p>
        </p:txBody>
      </p:sp>
      <p:cxnSp>
        <p:nvCxnSpPr>
          <p:cNvPr id="7" name="Connector 6"/>
          <p:cNvCxnSpPr/>
          <p:nvPr/>
        </p:nvCxnSpPr>
        <p:spPr>
          <a:xfrm>
            <a:off x="603504" y="1399032"/>
            <a:ext cx="10981944" cy="0"/>
          </a:xfrm>
          <a:prstGeom prst="line">
            <a:avLst/>
          </a:prstGeom>
          <a:ln w="12700">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8" name="Rectangle 7"/>
          <p:cNvSpPr/>
          <p:nvPr/>
        </p:nvSpPr>
        <p:spPr>
          <a:xfrm>
            <a:off x="612648" y="1627632"/>
            <a:ext cx="5303520" cy="521207"/>
          </a:xfrm>
          <a:prstGeom prst="rect">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95528" y="1719072"/>
            <a:ext cx="4937760" cy="329184"/>
          </a:xfrm>
          <a:prstGeom prst="rect">
            <a:avLst/>
          </a:prstGeom>
          <a:noFill/>
          <a:effectLst/>
        </p:spPr>
        <p:txBody>
          <a:bodyPr wrap="square" lIns="0" rIns="0" tIns="0" bIns="0">
            <a:spAutoFit/>
          </a:bodyPr>
          <a:lstStyle/>
          <a:p>
            <a:pPr>
              <a:lnSpc>
                <a:spcPct val="113000"/>
              </a:lnSpc>
              <a:spcAft>
                <a:spcPts val="0"/>
              </a:spcAft>
              <a:defRPr sz="1900" b="0">
                <a:solidFill>
                  <a:srgbClr val="FFFFFF"/>
                </a:solidFill>
                <a:latin typeface="Noto Serif"/>
              </a:defRPr>
            </a:pPr>
            <a:r>
              <a:rPr>
                <a:ea typeface="Noto Sans CJK SC"/>
              </a:rPr>
              <a:t>Frederick’s Position</a:t>
            </a:r>
          </a:p>
        </p:txBody>
      </p:sp>
      <p:sp>
        <p:nvSpPr>
          <p:cNvPr id="10" name="TextBox 9"/>
          <p:cNvSpPr txBox="1"/>
          <p:nvPr/>
        </p:nvSpPr>
        <p:spPr>
          <a:xfrm>
            <a:off x="640080" y="2231136"/>
            <a:ext cx="5212080" cy="237744"/>
          </a:xfrm>
          <a:prstGeom prst="rect">
            <a:avLst/>
          </a:prstGeom>
          <a:noFill/>
          <a:effectLst/>
        </p:spPr>
        <p:txBody>
          <a:bodyPr wrap="square" lIns="0" rIns="0" tIns="0" bIns="0">
            <a:spAutoFit/>
          </a:bodyPr>
          <a:lstStyle/>
          <a:p>
            <a:pPr>
              <a:lnSpc>
                <a:spcPct val="113000"/>
              </a:lnSpc>
              <a:spcAft>
                <a:spcPts val="0"/>
              </a:spcAft>
              <a:defRPr sz="1100" b="0">
                <a:solidFill>
                  <a:srgbClr val="5A5A5A"/>
                </a:solidFill>
                <a:latin typeface="Noto Sans"/>
              </a:defRPr>
            </a:pPr>
            <a:r>
              <a:rPr>
                <a:ea typeface="Noto Sans CJK SC"/>
              </a:rPr>
              <a:t>Landlord — seeking to recover possession</a:t>
            </a:r>
          </a:p>
        </p:txBody>
      </p:sp>
      <p:sp>
        <p:nvSpPr>
          <p:cNvPr id="11" name="Rectangle 10"/>
          <p:cNvSpPr/>
          <p:nvPr/>
        </p:nvSpPr>
        <p:spPr>
          <a:xfrm>
            <a:off x="6272784" y="1627632"/>
            <a:ext cx="5303520" cy="521207"/>
          </a:xfrm>
          <a:prstGeom prst="rect">
            <a:avLst/>
          </a:prstGeom>
          <a:solidFill>
            <a:srgbClr val="A344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455664" y="1719072"/>
            <a:ext cx="4937760" cy="329184"/>
          </a:xfrm>
          <a:prstGeom prst="rect">
            <a:avLst/>
          </a:prstGeom>
          <a:noFill/>
          <a:effectLst/>
        </p:spPr>
        <p:txBody>
          <a:bodyPr wrap="square" lIns="0" rIns="0" tIns="0" bIns="0">
            <a:spAutoFit/>
          </a:bodyPr>
          <a:lstStyle/>
          <a:p>
            <a:pPr>
              <a:lnSpc>
                <a:spcPct val="113000"/>
              </a:lnSpc>
              <a:spcAft>
                <a:spcPts val="0"/>
              </a:spcAft>
              <a:defRPr sz="1900" b="0">
                <a:solidFill>
                  <a:srgbClr val="FFFFFF"/>
                </a:solidFill>
                <a:latin typeface="Noto Serif"/>
              </a:defRPr>
            </a:pPr>
            <a:r>
              <a:rPr>
                <a:ea typeface="Noto Sans CJK SC"/>
              </a:rPr>
              <a:t>Angela’s Position</a:t>
            </a:r>
          </a:p>
        </p:txBody>
      </p:sp>
      <p:sp>
        <p:nvSpPr>
          <p:cNvPr id="13" name="TextBox 12"/>
          <p:cNvSpPr txBox="1"/>
          <p:nvPr/>
        </p:nvSpPr>
        <p:spPr>
          <a:xfrm>
            <a:off x="6300216" y="2231136"/>
            <a:ext cx="5212080" cy="237744"/>
          </a:xfrm>
          <a:prstGeom prst="rect">
            <a:avLst/>
          </a:prstGeom>
          <a:noFill/>
          <a:effectLst/>
        </p:spPr>
        <p:txBody>
          <a:bodyPr wrap="square" lIns="0" rIns="0" tIns="0" bIns="0">
            <a:spAutoFit/>
          </a:bodyPr>
          <a:lstStyle/>
          <a:p>
            <a:pPr>
              <a:lnSpc>
                <a:spcPct val="113000"/>
              </a:lnSpc>
              <a:spcAft>
                <a:spcPts val="0"/>
              </a:spcAft>
              <a:defRPr sz="1100" b="0">
                <a:solidFill>
                  <a:srgbClr val="5A5A5A"/>
                </a:solidFill>
                <a:latin typeface="Noto Sans"/>
              </a:defRPr>
            </a:pPr>
            <a:r>
              <a:rPr>
                <a:ea typeface="Noto Sans CJK SC"/>
              </a:rPr>
              <a:t>Tenant — seeking to remain / renew</a:t>
            </a:r>
          </a:p>
        </p:txBody>
      </p:sp>
      <p:sp>
        <p:nvSpPr>
          <p:cNvPr id="14" name="Oval 13"/>
          <p:cNvSpPr/>
          <p:nvPr/>
        </p:nvSpPr>
        <p:spPr>
          <a:xfrm>
            <a:off x="612648" y="2702052"/>
            <a:ext cx="283464" cy="283464"/>
          </a:xfrm>
          <a:prstGeom prst="ellipse">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12648" y="2725826"/>
            <a:ext cx="283464" cy="219456"/>
          </a:xfrm>
          <a:prstGeom prst="rect">
            <a:avLst/>
          </a:prstGeom>
          <a:noFill/>
          <a:effectLst/>
        </p:spPr>
        <p:txBody>
          <a:bodyPr wrap="square" lIns="0" rIns="0" tIns="0" bIns="0">
            <a:spAutoFit/>
          </a:bodyPr>
          <a:lstStyle/>
          <a:p>
            <a:pPr algn="ctr">
              <a:lnSpc>
                <a:spcPct val="113000"/>
              </a:lnSpc>
              <a:spcAft>
                <a:spcPts val="0"/>
              </a:spcAft>
              <a:defRPr sz="1100" b="1">
                <a:solidFill>
                  <a:srgbClr val="FFFFFF"/>
                </a:solidFill>
                <a:latin typeface="Noto Sans"/>
              </a:defRPr>
            </a:pPr>
            <a:r>
              <a:rPr>
                <a:ea typeface="Noto Sans CJK SC"/>
              </a:rPr>
              <a:t>1</a:t>
            </a:r>
          </a:p>
        </p:txBody>
      </p:sp>
      <p:sp>
        <p:nvSpPr>
          <p:cNvPr id="16" name="TextBox 15"/>
          <p:cNvSpPr txBox="1"/>
          <p:nvPr/>
        </p:nvSpPr>
        <p:spPr>
          <a:xfrm>
            <a:off x="1024128" y="2688336"/>
            <a:ext cx="4800600" cy="228600"/>
          </a:xfrm>
          <a:prstGeom prst="rect">
            <a:avLst/>
          </a:prstGeom>
          <a:noFill/>
          <a:effectLst/>
        </p:spPr>
        <p:txBody>
          <a:bodyPr wrap="square" lIns="0" rIns="0" tIns="0" bIns="0">
            <a:spAutoFit/>
          </a:bodyPr>
          <a:lstStyle/>
          <a:p>
            <a:pPr>
              <a:lnSpc>
                <a:spcPct val="113000"/>
              </a:lnSpc>
              <a:spcAft>
                <a:spcPts val="0"/>
              </a:spcAft>
              <a:defRPr sz="1100" b="1">
                <a:solidFill>
                  <a:srgbClr val="7A202C"/>
                </a:solidFill>
                <a:latin typeface="Noto Sans"/>
              </a:defRPr>
            </a:pPr>
            <a:r>
              <a:rPr>
                <a:ea typeface="Noto Sans CJK SC"/>
              </a:rPr>
              <a:t>Subletting breach</a:t>
            </a:r>
          </a:p>
        </p:txBody>
      </p:sp>
      <p:sp>
        <p:nvSpPr>
          <p:cNvPr id="17" name="TextBox 16"/>
          <p:cNvSpPr txBox="1"/>
          <p:nvPr/>
        </p:nvSpPr>
        <p:spPr>
          <a:xfrm>
            <a:off x="1024128" y="2916936"/>
            <a:ext cx="4818888" cy="429768"/>
          </a:xfrm>
          <a:prstGeom prst="rect">
            <a:avLst/>
          </a:prstGeom>
          <a:noFill/>
          <a:effectLst/>
        </p:spPr>
        <p:txBody>
          <a:bodyPr wrap="square" lIns="0" rIns="0" tIns="0" bIns="0">
            <a:spAutoFit/>
          </a:bodyPr>
          <a:lstStyle/>
          <a:p>
            <a:pPr>
              <a:lnSpc>
                <a:spcPct val="113000"/>
              </a:lnSpc>
              <a:spcAft>
                <a:spcPts val="0"/>
              </a:spcAft>
              <a:defRPr sz="1200" b="0">
                <a:solidFill>
                  <a:srgbClr val="1E191C"/>
                </a:solidFill>
                <a:latin typeface="Noto Sans"/>
              </a:defRPr>
            </a:pPr>
            <a:r>
              <a:rPr>
                <a:ea typeface="Noto Sans CJK SC"/>
              </a:rPr>
              <a:t>Angela sublet to Charles without consent, potentially violating the tenancy agreement.</a:t>
            </a:r>
          </a:p>
        </p:txBody>
      </p:sp>
      <p:cxnSp>
        <p:nvCxnSpPr>
          <p:cNvPr id="18" name="Connector 17"/>
          <p:cNvCxnSpPr/>
          <p:nvPr/>
        </p:nvCxnSpPr>
        <p:spPr>
          <a:xfrm>
            <a:off x="1024128" y="3300984"/>
            <a:ext cx="4828032" cy="0"/>
          </a:xfrm>
          <a:prstGeom prst="line">
            <a:avLst/>
          </a:prstGeom>
          <a:ln w="6985">
            <a:solidFill>
              <a:srgbClr val="EADDE0"/>
            </a:solidFill>
          </a:ln>
          <a:effectLst/>
        </p:spPr>
        <p:style>
          <a:lnRef idx="2">
            <a:schemeClr val="accent1"/>
          </a:lnRef>
          <a:fillRef idx="0">
            <a:schemeClr val="accent1"/>
          </a:fillRef>
          <a:effectRef idx="0">
            <a:schemeClr val="accent1"/>
          </a:effectRef>
          <a:fontRef idx="minor">
            <a:schemeClr val="tx1"/>
          </a:fontRef>
        </p:style>
      </p:cxnSp>
      <p:sp>
        <p:nvSpPr>
          <p:cNvPr id="19" name="Oval 18"/>
          <p:cNvSpPr/>
          <p:nvPr/>
        </p:nvSpPr>
        <p:spPr>
          <a:xfrm>
            <a:off x="612648" y="3369564"/>
            <a:ext cx="283464" cy="283464"/>
          </a:xfrm>
          <a:prstGeom prst="ellipse">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12648" y="3393338"/>
            <a:ext cx="283464" cy="219456"/>
          </a:xfrm>
          <a:prstGeom prst="rect">
            <a:avLst/>
          </a:prstGeom>
          <a:noFill/>
          <a:effectLst/>
        </p:spPr>
        <p:txBody>
          <a:bodyPr wrap="square" lIns="0" rIns="0" tIns="0" bIns="0">
            <a:spAutoFit/>
          </a:bodyPr>
          <a:lstStyle/>
          <a:p>
            <a:pPr algn="ctr">
              <a:lnSpc>
                <a:spcPct val="113000"/>
              </a:lnSpc>
              <a:spcAft>
                <a:spcPts val="0"/>
              </a:spcAft>
              <a:defRPr sz="1100" b="1">
                <a:solidFill>
                  <a:srgbClr val="FFFFFF"/>
                </a:solidFill>
                <a:latin typeface="Noto Sans"/>
              </a:defRPr>
            </a:pPr>
            <a:r>
              <a:rPr>
                <a:ea typeface="Noto Sans CJK SC"/>
              </a:rPr>
              <a:t>2</a:t>
            </a:r>
          </a:p>
        </p:txBody>
      </p:sp>
      <p:sp>
        <p:nvSpPr>
          <p:cNvPr id="21" name="TextBox 20"/>
          <p:cNvSpPr txBox="1"/>
          <p:nvPr/>
        </p:nvSpPr>
        <p:spPr>
          <a:xfrm>
            <a:off x="1024128" y="3355848"/>
            <a:ext cx="4800600" cy="228600"/>
          </a:xfrm>
          <a:prstGeom prst="rect">
            <a:avLst/>
          </a:prstGeom>
          <a:noFill/>
          <a:effectLst/>
        </p:spPr>
        <p:txBody>
          <a:bodyPr wrap="square" lIns="0" rIns="0" tIns="0" bIns="0">
            <a:spAutoFit/>
          </a:bodyPr>
          <a:lstStyle/>
          <a:p>
            <a:pPr>
              <a:lnSpc>
                <a:spcPct val="113000"/>
              </a:lnSpc>
              <a:spcAft>
                <a:spcPts val="0"/>
              </a:spcAft>
              <a:defRPr sz="1100" b="1">
                <a:solidFill>
                  <a:srgbClr val="7A202C"/>
                </a:solidFill>
                <a:latin typeface="Noto Sans"/>
              </a:defRPr>
            </a:pPr>
            <a:r>
              <a:rPr>
                <a:ea typeface="Noto Sans CJK SC"/>
              </a:rPr>
              <a:t>Noise nuisance</a:t>
            </a:r>
          </a:p>
        </p:txBody>
      </p:sp>
      <p:sp>
        <p:nvSpPr>
          <p:cNvPr id="22" name="TextBox 21"/>
          <p:cNvSpPr txBox="1"/>
          <p:nvPr/>
        </p:nvSpPr>
        <p:spPr>
          <a:xfrm>
            <a:off x="1024128" y="3584448"/>
            <a:ext cx="4818888" cy="429768"/>
          </a:xfrm>
          <a:prstGeom prst="rect">
            <a:avLst/>
          </a:prstGeom>
          <a:noFill/>
          <a:effectLst/>
        </p:spPr>
        <p:txBody>
          <a:bodyPr wrap="square" lIns="0" rIns="0" tIns="0" bIns="0">
            <a:spAutoFit/>
          </a:bodyPr>
          <a:lstStyle/>
          <a:p>
            <a:pPr>
              <a:lnSpc>
                <a:spcPct val="113000"/>
              </a:lnSpc>
              <a:spcAft>
                <a:spcPts val="0"/>
              </a:spcAft>
              <a:defRPr sz="1200" b="0">
                <a:solidFill>
                  <a:srgbClr val="1E191C"/>
                </a:solidFill>
                <a:latin typeface="Noto Sans"/>
              </a:defRPr>
            </a:pPr>
            <a:r>
              <a:rPr>
                <a:ea typeface="Noto Sans CJK SC"/>
              </a:rPr>
              <a:t>Late-night noise complaints indicate an alleged breach of quiet enjoyment / tenant-like use covenants.</a:t>
            </a:r>
          </a:p>
        </p:txBody>
      </p:sp>
      <p:cxnSp>
        <p:nvCxnSpPr>
          <p:cNvPr id="23" name="Connector 22"/>
          <p:cNvCxnSpPr/>
          <p:nvPr/>
        </p:nvCxnSpPr>
        <p:spPr>
          <a:xfrm>
            <a:off x="1024128" y="3968496"/>
            <a:ext cx="4828032" cy="0"/>
          </a:xfrm>
          <a:prstGeom prst="line">
            <a:avLst/>
          </a:prstGeom>
          <a:ln w="6985">
            <a:solidFill>
              <a:srgbClr val="EADDE0"/>
            </a:solidFill>
          </a:ln>
          <a:effectLst/>
        </p:spPr>
        <p:style>
          <a:lnRef idx="2">
            <a:schemeClr val="accent1"/>
          </a:lnRef>
          <a:fillRef idx="0">
            <a:schemeClr val="accent1"/>
          </a:fillRef>
          <a:effectRef idx="0">
            <a:schemeClr val="accent1"/>
          </a:effectRef>
          <a:fontRef idx="minor">
            <a:schemeClr val="tx1"/>
          </a:fontRef>
        </p:style>
      </p:cxnSp>
      <p:sp>
        <p:nvSpPr>
          <p:cNvPr id="24" name="Oval 23"/>
          <p:cNvSpPr/>
          <p:nvPr/>
        </p:nvSpPr>
        <p:spPr>
          <a:xfrm>
            <a:off x="612648" y="4037076"/>
            <a:ext cx="283464" cy="283464"/>
          </a:xfrm>
          <a:prstGeom prst="ellipse">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612648" y="4060850"/>
            <a:ext cx="283464" cy="219456"/>
          </a:xfrm>
          <a:prstGeom prst="rect">
            <a:avLst/>
          </a:prstGeom>
          <a:noFill/>
          <a:effectLst/>
        </p:spPr>
        <p:txBody>
          <a:bodyPr wrap="square" lIns="0" rIns="0" tIns="0" bIns="0">
            <a:spAutoFit/>
          </a:bodyPr>
          <a:lstStyle/>
          <a:p>
            <a:pPr algn="ctr">
              <a:lnSpc>
                <a:spcPct val="113000"/>
              </a:lnSpc>
              <a:spcAft>
                <a:spcPts val="0"/>
              </a:spcAft>
              <a:defRPr sz="1100" b="1">
                <a:solidFill>
                  <a:srgbClr val="FFFFFF"/>
                </a:solidFill>
                <a:latin typeface="Noto Sans"/>
              </a:defRPr>
            </a:pPr>
            <a:r>
              <a:rPr>
                <a:ea typeface="Noto Sans CJK SC"/>
              </a:rPr>
              <a:t>3</a:t>
            </a:r>
          </a:p>
        </p:txBody>
      </p:sp>
      <p:sp>
        <p:nvSpPr>
          <p:cNvPr id="26" name="TextBox 25"/>
          <p:cNvSpPr txBox="1"/>
          <p:nvPr/>
        </p:nvSpPr>
        <p:spPr>
          <a:xfrm>
            <a:off x="1024128" y="4023360"/>
            <a:ext cx="4800600" cy="228600"/>
          </a:xfrm>
          <a:prstGeom prst="rect">
            <a:avLst/>
          </a:prstGeom>
          <a:noFill/>
          <a:effectLst/>
        </p:spPr>
        <p:txBody>
          <a:bodyPr wrap="square" lIns="0" rIns="0" tIns="0" bIns="0">
            <a:spAutoFit/>
          </a:bodyPr>
          <a:lstStyle/>
          <a:p>
            <a:pPr>
              <a:lnSpc>
                <a:spcPct val="113000"/>
              </a:lnSpc>
              <a:spcAft>
                <a:spcPts val="0"/>
              </a:spcAft>
              <a:defRPr sz="1100" b="1">
                <a:solidFill>
                  <a:srgbClr val="7A202C"/>
                </a:solidFill>
                <a:latin typeface="Noto Sans"/>
              </a:defRPr>
            </a:pPr>
            <a:r>
              <a:rPr>
                <a:ea typeface="Noto Sans CJK SC"/>
              </a:rPr>
              <a:t>Forfeiture right</a:t>
            </a:r>
          </a:p>
        </p:txBody>
      </p:sp>
      <p:sp>
        <p:nvSpPr>
          <p:cNvPr id="27" name="TextBox 26"/>
          <p:cNvSpPr txBox="1"/>
          <p:nvPr/>
        </p:nvSpPr>
        <p:spPr>
          <a:xfrm>
            <a:off x="1024128" y="4251960"/>
            <a:ext cx="4818888" cy="429768"/>
          </a:xfrm>
          <a:prstGeom prst="rect">
            <a:avLst/>
          </a:prstGeom>
          <a:noFill/>
          <a:effectLst/>
        </p:spPr>
        <p:txBody>
          <a:bodyPr wrap="square" lIns="0" rIns="0" tIns="0" bIns="0">
            <a:spAutoFit/>
          </a:bodyPr>
          <a:lstStyle/>
          <a:p>
            <a:pPr>
              <a:lnSpc>
                <a:spcPct val="113000"/>
              </a:lnSpc>
              <a:spcAft>
                <a:spcPts val="0"/>
              </a:spcAft>
              <a:defRPr sz="1200" b="0">
                <a:solidFill>
                  <a:srgbClr val="1E191C"/>
                </a:solidFill>
                <a:latin typeface="Noto Sans"/>
              </a:defRPr>
            </a:pPr>
            <a:r>
              <a:rPr>
                <a:ea typeface="Noto Sans CJK SC"/>
              </a:rPr>
              <a:t>If the lease contains a forfeiture clause, Frederick may lawfully terminate early and re-enter.</a:t>
            </a:r>
          </a:p>
        </p:txBody>
      </p:sp>
      <p:cxnSp>
        <p:nvCxnSpPr>
          <p:cNvPr id="28" name="Connector 27"/>
          <p:cNvCxnSpPr/>
          <p:nvPr/>
        </p:nvCxnSpPr>
        <p:spPr>
          <a:xfrm>
            <a:off x="1024128" y="4636008"/>
            <a:ext cx="4828032" cy="0"/>
          </a:xfrm>
          <a:prstGeom prst="line">
            <a:avLst/>
          </a:prstGeom>
          <a:ln w="6985">
            <a:solidFill>
              <a:srgbClr val="EADDE0"/>
            </a:solidFill>
          </a:ln>
          <a:effectLst/>
        </p:spPr>
        <p:style>
          <a:lnRef idx="2">
            <a:schemeClr val="accent1"/>
          </a:lnRef>
          <a:fillRef idx="0">
            <a:schemeClr val="accent1"/>
          </a:fillRef>
          <a:effectRef idx="0">
            <a:schemeClr val="accent1"/>
          </a:effectRef>
          <a:fontRef idx="minor">
            <a:schemeClr val="tx1"/>
          </a:fontRef>
        </p:style>
      </p:cxnSp>
      <p:sp>
        <p:nvSpPr>
          <p:cNvPr id="29" name="Oval 28"/>
          <p:cNvSpPr/>
          <p:nvPr/>
        </p:nvSpPr>
        <p:spPr>
          <a:xfrm>
            <a:off x="612648" y="4704588"/>
            <a:ext cx="283464" cy="283464"/>
          </a:xfrm>
          <a:prstGeom prst="ellipse">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612648" y="4728362"/>
            <a:ext cx="283464" cy="219456"/>
          </a:xfrm>
          <a:prstGeom prst="rect">
            <a:avLst/>
          </a:prstGeom>
          <a:noFill/>
          <a:effectLst/>
        </p:spPr>
        <p:txBody>
          <a:bodyPr wrap="square" lIns="0" rIns="0" tIns="0" bIns="0">
            <a:spAutoFit/>
          </a:bodyPr>
          <a:lstStyle/>
          <a:p>
            <a:pPr algn="ctr">
              <a:lnSpc>
                <a:spcPct val="113000"/>
              </a:lnSpc>
              <a:spcAft>
                <a:spcPts val="0"/>
              </a:spcAft>
              <a:defRPr sz="1100" b="1">
                <a:solidFill>
                  <a:srgbClr val="FFFFFF"/>
                </a:solidFill>
                <a:latin typeface="Noto Sans"/>
              </a:defRPr>
            </a:pPr>
            <a:r>
              <a:rPr>
                <a:ea typeface="Noto Sans CJK SC"/>
              </a:rPr>
              <a:t>4</a:t>
            </a:r>
          </a:p>
        </p:txBody>
      </p:sp>
      <p:sp>
        <p:nvSpPr>
          <p:cNvPr id="31" name="TextBox 30"/>
          <p:cNvSpPr txBox="1"/>
          <p:nvPr/>
        </p:nvSpPr>
        <p:spPr>
          <a:xfrm>
            <a:off x="1024128" y="4690872"/>
            <a:ext cx="4800600" cy="228600"/>
          </a:xfrm>
          <a:prstGeom prst="rect">
            <a:avLst/>
          </a:prstGeom>
          <a:noFill/>
          <a:effectLst/>
        </p:spPr>
        <p:txBody>
          <a:bodyPr wrap="square" lIns="0" rIns="0" tIns="0" bIns="0">
            <a:spAutoFit/>
          </a:bodyPr>
          <a:lstStyle/>
          <a:p>
            <a:pPr>
              <a:lnSpc>
                <a:spcPct val="113000"/>
              </a:lnSpc>
              <a:spcAft>
                <a:spcPts val="0"/>
              </a:spcAft>
              <a:defRPr sz="1100" b="1">
                <a:solidFill>
                  <a:srgbClr val="7A202C"/>
                </a:solidFill>
                <a:latin typeface="Noto Sans"/>
              </a:defRPr>
            </a:pPr>
            <a:r>
              <a:rPr>
                <a:ea typeface="Noto Sans CJK SC"/>
              </a:rPr>
              <a:t>Renewal negotiation</a:t>
            </a:r>
          </a:p>
        </p:txBody>
      </p:sp>
      <p:sp>
        <p:nvSpPr>
          <p:cNvPr id="32" name="TextBox 31"/>
          <p:cNvSpPr txBox="1"/>
          <p:nvPr/>
        </p:nvSpPr>
        <p:spPr>
          <a:xfrm>
            <a:off x="1024128" y="4919472"/>
            <a:ext cx="4818888" cy="429768"/>
          </a:xfrm>
          <a:prstGeom prst="rect">
            <a:avLst/>
          </a:prstGeom>
          <a:noFill/>
          <a:effectLst/>
        </p:spPr>
        <p:txBody>
          <a:bodyPr wrap="square" lIns="0" rIns="0" tIns="0" bIns="0">
            <a:spAutoFit/>
          </a:bodyPr>
          <a:lstStyle/>
          <a:p>
            <a:pPr>
              <a:lnSpc>
                <a:spcPct val="113000"/>
              </a:lnSpc>
              <a:spcAft>
                <a:spcPts val="0"/>
              </a:spcAft>
              <a:defRPr sz="1200" b="0">
                <a:solidFill>
                  <a:srgbClr val="1E191C"/>
                </a:solidFill>
                <a:latin typeface="Noto Sans"/>
              </a:defRPr>
            </a:pPr>
            <a:r>
              <a:rPr>
                <a:ea typeface="Noto Sans CJK SC"/>
              </a:rPr>
              <a:t>At expiry, Frederick need not renew on the same terms; the new rent is negotiable.</a:t>
            </a:r>
          </a:p>
        </p:txBody>
      </p:sp>
      <p:sp>
        <p:nvSpPr>
          <p:cNvPr id="33" name="Oval 32"/>
          <p:cNvSpPr/>
          <p:nvPr/>
        </p:nvSpPr>
        <p:spPr>
          <a:xfrm>
            <a:off x="6272784" y="2702052"/>
            <a:ext cx="283464" cy="283464"/>
          </a:xfrm>
          <a:prstGeom prst="ellipse">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272784" y="2725826"/>
            <a:ext cx="283464" cy="219456"/>
          </a:xfrm>
          <a:prstGeom prst="rect">
            <a:avLst/>
          </a:prstGeom>
          <a:noFill/>
          <a:effectLst/>
        </p:spPr>
        <p:txBody>
          <a:bodyPr wrap="square" lIns="0" rIns="0" tIns="0" bIns="0">
            <a:spAutoFit/>
          </a:bodyPr>
          <a:lstStyle/>
          <a:p>
            <a:pPr algn="ctr">
              <a:lnSpc>
                <a:spcPct val="113000"/>
              </a:lnSpc>
              <a:spcAft>
                <a:spcPts val="0"/>
              </a:spcAft>
              <a:defRPr sz="1100" b="1">
                <a:solidFill>
                  <a:srgbClr val="FFFFFF"/>
                </a:solidFill>
                <a:latin typeface="Noto Sans"/>
              </a:defRPr>
            </a:pPr>
            <a:r>
              <a:rPr>
                <a:ea typeface="Noto Sans CJK SC"/>
              </a:rPr>
              <a:t>1</a:t>
            </a:r>
          </a:p>
        </p:txBody>
      </p:sp>
      <p:sp>
        <p:nvSpPr>
          <p:cNvPr id="35" name="TextBox 34"/>
          <p:cNvSpPr txBox="1"/>
          <p:nvPr/>
        </p:nvSpPr>
        <p:spPr>
          <a:xfrm>
            <a:off x="6684264" y="2688336"/>
            <a:ext cx="4800600" cy="228600"/>
          </a:xfrm>
          <a:prstGeom prst="rect">
            <a:avLst/>
          </a:prstGeom>
          <a:noFill/>
          <a:effectLst/>
        </p:spPr>
        <p:txBody>
          <a:bodyPr wrap="square" lIns="0" rIns="0" tIns="0" bIns="0">
            <a:spAutoFit/>
          </a:bodyPr>
          <a:lstStyle/>
          <a:p>
            <a:pPr>
              <a:lnSpc>
                <a:spcPct val="113000"/>
              </a:lnSpc>
              <a:spcAft>
                <a:spcPts val="0"/>
              </a:spcAft>
              <a:defRPr sz="1100" b="1">
                <a:solidFill>
                  <a:srgbClr val="7A202C"/>
                </a:solidFill>
                <a:latin typeface="Noto Sans"/>
              </a:defRPr>
            </a:pPr>
            <a:r>
              <a:rPr>
                <a:ea typeface="Noto Sans CJK SC"/>
              </a:rPr>
              <a:t>No proven breach</a:t>
            </a:r>
          </a:p>
        </p:txBody>
      </p:sp>
      <p:sp>
        <p:nvSpPr>
          <p:cNvPr id="36" name="TextBox 35"/>
          <p:cNvSpPr txBox="1"/>
          <p:nvPr/>
        </p:nvSpPr>
        <p:spPr>
          <a:xfrm>
            <a:off x="6684264" y="2916936"/>
            <a:ext cx="4818888" cy="429768"/>
          </a:xfrm>
          <a:prstGeom prst="rect">
            <a:avLst/>
          </a:prstGeom>
          <a:noFill/>
          <a:effectLst/>
        </p:spPr>
        <p:txBody>
          <a:bodyPr wrap="square" lIns="0" rIns="0" tIns="0" bIns="0">
            <a:spAutoFit/>
          </a:bodyPr>
          <a:lstStyle/>
          <a:p>
            <a:pPr>
              <a:lnSpc>
                <a:spcPct val="113000"/>
              </a:lnSpc>
              <a:spcAft>
                <a:spcPts val="0"/>
              </a:spcAft>
              <a:defRPr sz="1200" b="0">
                <a:solidFill>
                  <a:srgbClr val="1E191C"/>
                </a:solidFill>
                <a:latin typeface="Noto Sans"/>
              </a:defRPr>
            </a:pPr>
            <a:r>
              <a:rPr>
                <a:ea typeface="Noto Sans CJK SC"/>
              </a:rPr>
              <a:t>A complaint alone is not proof; noise must be substantiated and material.</a:t>
            </a:r>
          </a:p>
        </p:txBody>
      </p:sp>
      <p:cxnSp>
        <p:nvCxnSpPr>
          <p:cNvPr id="37" name="Connector 36"/>
          <p:cNvCxnSpPr/>
          <p:nvPr/>
        </p:nvCxnSpPr>
        <p:spPr>
          <a:xfrm>
            <a:off x="6684264" y="3300984"/>
            <a:ext cx="4828032" cy="0"/>
          </a:xfrm>
          <a:prstGeom prst="line">
            <a:avLst/>
          </a:prstGeom>
          <a:ln w="6985">
            <a:solidFill>
              <a:srgbClr val="EADDE0"/>
            </a:solidFill>
          </a:ln>
          <a:effectLst/>
        </p:spPr>
        <p:style>
          <a:lnRef idx="2">
            <a:schemeClr val="accent1"/>
          </a:lnRef>
          <a:fillRef idx="0">
            <a:schemeClr val="accent1"/>
          </a:fillRef>
          <a:effectRef idx="0">
            <a:schemeClr val="accent1"/>
          </a:effectRef>
          <a:fontRef idx="minor">
            <a:schemeClr val="tx1"/>
          </a:fontRef>
        </p:style>
      </p:cxnSp>
      <p:sp>
        <p:nvSpPr>
          <p:cNvPr id="38" name="Oval 37"/>
          <p:cNvSpPr/>
          <p:nvPr/>
        </p:nvSpPr>
        <p:spPr>
          <a:xfrm>
            <a:off x="6272784" y="3369564"/>
            <a:ext cx="283464" cy="283464"/>
          </a:xfrm>
          <a:prstGeom prst="ellipse">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272784" y="3393338"/>
            <a:ext cx="283464" cy="219456"/>
          </a:xfrm>
          <a:prstGeom prst="rect">
            <a:avLst/>
          </a:prstGeom>
          <a:noFill/>
          <a:effectLst/>
        </p:spPr>
        <p:txBody>
          <a:bodyPr wrap="square" lIns="0" rIns="0" tIns="0" bIns="0">
            <a:spAutoFit/>
          </a:bodyPr>
          <a:lstStyle/>
          <a:p>
            <a:pPr algn="ctr">
              <a:lnSpc>
                <a:spcPct val="113000"/>
              </a:lnSpc>
              <a:spcAft>
                <a:spcPts val="0"/>
              </a:spcAft>
              <a:defRPr sz="1100" b="1">
                <a:solidFill>
                  <a:srgbClr val="FFFFFF"/>
                </a:solidFill>
                <a:latin typeface="Noto Sans"/>
              </a:defRPr>
            </a:pPr>
            <a:r>
              <a:rPr>
                <a:ea typeface="Noto Sans CJK SC"/>
              </a:rPr>
              <a:t>2</a:t>
            </a:r>
          </a:p>
        </p:txBody>
      </p:sp>
      <p:sp>
        <p:nvSpPr>
          <p:cNvPr id="40" name="TextBox 39"/>
          <p:cNvSpPr txBox="1"/>
          <p:nvPr/>
        </p:nvSpPr>
        <p:spPr>
          <a:xfrm>
            <a:off x="6684264" y="3355848"/>
            <a:ext cx="4800600" cy="228600"/>
          </a:xfrm>
          <a:prstGeom prst="rect">
            <a:avLst/>
          </a:prstGeom>
          <a:noFill/>
          <a:effectLst/>
        </p:spPr>
        <p:txBody>
          <a:bodyPr wrap="square" lIns="0" rIns="0" tIns="0" bIns="0">
            <a:spAutoFit/>
          </a:bodyPr>
          <a:lstStyle/>
          <a:p>
            <a:pPr>
              <a:lnSpc>
                <a:spcPct val="113000"/>
              </a:lnSpc>
              <a:spcAft>
                <a:spcPts val="0"/>
              </a:spcAft>
              <a:defRPr sz="1100" b="1">
                <a:solidFill>
                  <a:srgbClr val="7A202C"/>
                </a:solidFill>
                <a:latin typeface="Noto Sans"/>
              </a:defRPr>
            </a:pPr>
            <a:r>
              <a:rPr>
                <a:ea typeface="Noto Sans CJK SC"/>
              </a:rPr>
              <a:t>Subletting may be permitted</a:t>
            </a:r>
          </a:p>
        </p:txBody>
      </p:sp>
      <p:sp>
        <p:nvSpPr>
          <p:cNvPr id="41" name="TextBox 40"/>
          <p:cNvSpPr txBox="1"/>
          <p:nvPr/>
        </p:nvSpPr>
        <p:spPr>
          <a:xfrm>
            <a:off x="6684264" y="3584448"/>
            <a:ext cx="4818888" cy="429768"/>
          </a:xfrm>
          <a:prstGeom prst="rect">
            <a:avLst/>
          </a:prstGeom>
          <a:noFill/>
          <a:effectLst/>
        </p:spPr>
        <p:txBody>
          <a:bodyPr wrap="square" lIns="0" rIns="0" tIns="0" bIns="0">
            <a:spAutoFit/>
          </a:bodyPr>
          <a:lstStyle/>
          <a:p>
            <a:pPr>
              <a:lnSpc>
                <a:spcPct val="113000"/>
              </a:lnSpc>
              <a:spcAft>
                <a:spcPts val="0"/>
              </a:spcAft>
              <a:defRPr sz="1200" b="0">
                <a:solidFill>
                  <a:srgbClr val="1E191C"/>
                </a:solidFill>
                <a:latin typeface="Noto Sans"/>
              </a:defRPr>
            </a:pPr>
            <a:r>
              <a:rPr>
                <a:ea typeface="Noto Sans CJK SC"/>
              </a:rPr>
              <a:t>The tenancy agreement may allow subletting, or consent may have been implied.</a:t>
            </a:r>
          </a:p>
        </p:txBody>
      </p:sp>
      <p:cxnSp>
        <p:nvCxnSpPr>
          <p:cNvPr id="42" name="Connector 41"/>
          <p:cNvCxnSpPr/>
          <p:nvPr/>
        </p:nvCxnSpPr>
        <p:spPr>
          <a:xfrm>
            <a:off x="6684264" y="3968496"/>
            <a:ext cx="4828032" cy="0"/>
          </a:xfrm>
          <a:prstGeom prst="line">
            <a:avLst/>
          </a:prstGeom>
          <a:ln w="6985">
            <a:solidFill>
              <a:srgbClr val="EADDE0"/>
            </a:solidFill>
          </a:ln>
          <a:effectLst/>
        </p:spPr>
        <p:style>
          <a:lnRef idx="2">
            <a:schemeClr val="accent1"/>
          </a:lnRef>
          <a:fillRef idx="0">
            <a:schemeClr val="accent1"/>
          </a:fillRef>
          <a:effectRef idx="0">
            <a:schemeClr val="accent1"/>
          </a:effectRef>
          <a:fontRef idx="minor">
            <a:schemeClr val="tx1"/>
          </a:fontRef>
        </p:style>
      </p:cxnSp>
      <p:sp>
        <p:nvSpPr>
          <p:cNvPr id="43" name="Oval 42"/>
          <p:cNvSpPr/>
          <p:nvPr/>
        </p:nvSpPr>
        <p:spPr>
          <a:xfrm>
            <a:off x="6272784" y="4037076"/>
            <a:ext cx="283464" cy="283464"/>
          </a:xfrm>
          <a:prstGeom prst="ellipse">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6272784" y="4060850"/>
            <a:ext cx="283464" cy="219456"/>
          </a:xfrm>
          <a:prstGeom prst="rect">
            <a:avLst/>
          </a:prstGeom>
          <a:noFill/>
          <a:effectLst/>
        </p:spPr>
        <p:txBody>
          <a:bodyPr wrap="square" lIns="0" rIns="0" tIns="0" bIns="0">
            <a:spAutoFit/>
          </a:bodyPr>
          <a:lstStyle/>
          <a:p>
            <a:pPr algn="ctr">
              <a:lnSpc>
                <a:spcPct val="113000"/>
              </a:lnSpc>
              <a:spcAft>
                <a:spcPts val="0"/>
              </a:spcAft>
              <a:defRPr sz="1100" b="1">
                <a:solidFill>
                  <a:srgbClr val="FFFFFF"/>
                </a:solidFill>
                <a:latin typeface="Noto Sans"/>
              </a:defRPr>
            </a:pPr>
            <a:r>
              <a:rPr>
                <a:ea typeface="Noto Sans CJK SC"/>
              </a:rPr>
              <a:t>3</a:t>
            </a:r>
          </a:p>
        </p:txBody>
      </p:sp>
      <p:sp>
        <p:nvSpPr>
          <p:cNvPr id="45" name="TextBox 44"/>
          <p:cNvSpPr txBox="1"/>
          <p:nvPr/>
        </p:nvSpPr>
        <p:spPr>
          <a:xfrm>
            <a:off x="6684264" y="4023360"/>
            <a:ext cx="4800600" cy="228600"/>
          </a:xfrm>
          <a:prstGeom prst="rect">
            <a:avLst/>
          </a:prstGeom>
          <a:noFill/>
          <a:effectLst/>
        </p:spPr>
        <p:txBody>
          <a:bodyPr wrap="square" lIns="0" rIns="0" tIns="0" bIns="0">
            <a:spAutoFit/>
          </a:bodyPr>
          <a:lstStyle/>
          <a:p>
            <a:pPr>
              <a:lnSpc>
                <a:spcPct val="113000"/>
              </a:lnSpc>
              <a:spcAft>
                <a:spcPts val="0"/>
              </a:spcAft>
              <a:defRPr sz="1100" b="1">
                <a:solidFill>
                  <a:srgbClr val="7A202C"/>
                </a:solidFill>
                <a:latin typeface="Noto Sans"/>
              </a:defRPr>
            </a:pPr>
            <a:r>
              <a:rPr>
                <a:ea typeface="Noto Sans CJK SC"/>
              </a:rPr>
              <a:t>Procedural requirements</a:t>
            </a:r>
          </a:p>
        </p:txBody>
      </p:sp>
      <p:sp>
        <p:nvSpPr>
          <p:cNvPr id="46" name="TextBox 45"/>
          <p:cNvSpPr txBox="1"/>
          <p:nvPr/>
        </p:nvSpPr>
        <p:spPr>
          <a:xfrm>
            <a:off x="6684264" y="4251960"/>
            <a:ext cx="4818888" cy="429768"/>
          </a:xfrm>
          <a:prstGeom prst="rect">
            <a:avLst/>
          </a:prstGeom>
          <a:noFill/>
          <a:effectLst/>
        </p:spPr>
        <p:txBody>
          <a:bodyPr wrap="square" lIns="0" rIns="0" tIns="0" bIns="0">
            <a:spAutoFit/>
          </a:bodyPr>
          <a:lstStyle/>
          <a:p>
            <a:pPr>
              <a:lnSpc>
                <a:spcPct val="113000"/>
              </a:lnSpc>
              <a:spcAft>
                <a:spcPts val="0"/>
              </a:spcAft>
              <a:defRPr sz="1200" b="0">
                <a:solidFill>
                  <a:srgbClr val="1E191C"/>
                </a:solidFill>
                <a:latin typeface="Noto Sans"/>
              </a:defRPr>
            </a:pPr>
            <a:r>
              <a:rPr>
                <a:ea typeface="Noto Sans CJK SC"/>
              </a:rPr>
              <a:t>Frederick must meet all statutory notice requirements; defective procedure invalidates forfeiture.</a:t>
            </a:r>
          </a:p>
        </p:txBody>
      </p:sp>
      <p:cxnSp>
        <p:nvCxnSpPr>
          <p:cNvPr id="47" name="Connector 46"/>
          <p:cNvCxnSpPr/>
          <p:nvPr/>
        </p:nvCxnSpPr>
        <p:spPr>
          <a:xfrm>
            <a:off x="6684264" y="4636008"/>
            <a:ext cx="4828032" cy="0"/>
          </a:xfrm>
          <a:prstGeom prst="line">
            <a:avLst/>
          </a:prstGeom>
          <a:ln w="6985">
            <a:solidFill>
              <a:srgbClr val="EADDE0"/>
            </a:solidFill>
          </a:ln>
          <a:effectLst/>
        </p:spPr>
        <p:style>
          <a:lnRef idx="2">
            <a:schemeClr val="accent1"/>
          </a:lnRef>
          <a:fillRef idx="0">
            <a:schemeClr val="accent1"/>
          </a:fillRef>
          <a:effectRef idx="0">
            <a:schemeClr val="accent1"/>
          </a:effectRef>
          <a:fontRef idx="minor">
            <a:schemeClr val="tx1"/>
          </a:fontRef>
        </p:style>
      </p:cxnSp>
      <p:sp>
        <p:nvSpPr>
          <p:cNvPr id="48" name="Oval 47"/>
          <p:cNvSpPr/>
          <p:nvPr/>
        </p:nvSpPr>
        <p:spPr>
          <a:xfrm>
            <a:off x="6272784" y="4704588"/>
            <a:ext cx="283464" cy="283464"/>
          </a:xfrm>
          <a:prstGeom prst="ellipse">
            <a:avLst/>
          </a:prstGeom>
          <a:solidFill>
            <a:srgbClr val="7A20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272784" y="4728362"/>
            <a:ext cx="283464" cy="219456"/>
          </a:xfrm>
          <a:prstGeom prst="rect">
            <a:avLst/>
          </a:prstGeom>
          <a:noFill/>
          <a:effectLst/>
        </p:spPr>
        <p:txBody>
          <a:bodyPr wrap="square" lIns="0" rIns="0" tIns="0" bIns="0">
            <a:spAutoFit/>
          </a:bodyPr>
          <a:lstStyle/>
          <a:p>
            <a:pPr algn="ctr">
              <a:lnSpc>
                <a:spcPct val="113000"/>
              </a:lnSpc>
              <a:spcAft>
                <a:spcPts val="0"/>
              </a:spcAft>
              <a:defRPr sz="1100" b="1">
                <a:solidFill>
                  <a:srgbClr val="FFFFFF"/>
                </a:solidFill>
                <a:latin typeface="Noto Sans"/>
              </a:defRPr>
            </a:pPr>
            <a:r>
              <a:rPr>
                <a:ea typeface="Noto Sans CJK SC"/>
              </a:rPr>
              <a:t>4</a:t>
            </a:r>
          </a:p>
        </p:txBody>
      </p:sp>
      <p:sp>
        <p:nvSpPr>
          <p:cNvPr id="50" name="TextBox 49"/>
          <p:cNvSpPr txBox="1"/>
          <p:nvPr/>
        </p:nvSpPr>
        <p:spPr>
          <a:xfrm>
            <a:off x="6684264" y="4690872"/>
            <a:ext cx="4800600" cy="228600"/>
          </a:xfrm>
          <a:prstGeom prst="rect">
            <a:avLst/>
          </a:prstGeom>
          <a:noFill/>
          <a:effectLst/>
        </p:spPr>
        <p:txBody>
          <a:bodyPr wrap="square" lIns="0" rIns="0" tIns="0" bIns="0">
            <a:spAutoFit/>
          </a:bodyPr>
          <a:lstStyle/>
          <a:p>
            <a:pPr>
              <a:lnSpc>
                <a:spcPct val="113000"/>
              </a:lnSpc>
              <a:spcAft>
                <a:spcPts val="0"/>
              </a:spcAft>
              <a:defRPr sz="1100" b="1">
                <a:solidFill>
                  <a:srgbClr val="7A202C"/>
                </a:solidFill>
                <a:latin typeface="Noto Sans"/>
              </a:defRPr>
            </a:pPr>
            <a:r>
              <a:rPr>
                <a:ea typeface="Noto Sans CJK SC"/>
              </a:rPr>
              <a:t>Renewal right</a:t>
            </a:r>
          </a:p>
        </p:txBody>
      </p:sp>
      <p:sp>
        <p:nvSpPr>
          <p:cNvPr id="51" name="TextBox 50"/>
          <p:cNvSpPr txBox="1"/>
          <p:nvPr/>
        </p:nvSpPr>
        <p:spPr>
          <a:xfrm>
            <a:off x="6684264" y="4919472"/>
            <a:ext cx="4818888" cy="429768"/>
          </a:xfrm>
          <a:prstGeom prst="rect">
            <a:avLst/>
          </a:prstGeom>
          <a:noFill/>
          <a:effectLst/>
        </p:spPr>
        <p:txBody>
          <a:bodyPr wrap="square" lIns="0" rIns="0" tIns="0" bIns="0">
            <a:spAutoFit/>
          </a:bodyPr>
          <a:lstStyle/>
          <a:p>
            <a:pPr>
              <a:lnSpc>
                <a:spcPct val="113000"/>
              </a:lnSpc>
              <a:spcAft>
                <a:spcPts val="0"/>
              </a:spcAft>
              <a:defRPr sz="1200" b="0">
                <a:solidFill>
                  <a:srgbClr val="1E191C"/>
                </a:solidFill>
                <a:latin typeface="Noto Sans"/>
              </a:defRPr>
            </a:pPr>
            <a:r>
              <a:rPr>
                <a:ea typeface="Noto Sans CJK SC"/>
              </a:rPr>
              <a:t>A renewal provision, or a valid way to determine fair new rent, may support enforcement of renewal.</a:t>
            </a:r>
          </a:p>
        </p:txBody>
      </p:sp>
      <p:sp>
        <p:nvSpPr>
          <p:cNvPr id="52" name="Rectangle 51"/>
          <p:cNvSpPr/>
          <p:nvPr/>
        </p:nvSpPr>
        <p:spPr>
          <a:xfrm>
            <a:off x="612648" y="5495544"/>
            <a:ext cx="10972800" cy="777240"/>
          </a:xfrm>
          <a:prstGeom prst="rect">
            <a:avLst/>
          </a:prstGeom>
          <a:solidFill>
            <a:srgbClr val="F8F0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804672" y="5650992"/>
            <a:ext cx="1618488" cy="228600"/>
          </a:xfrm>
          <a:prstGeom prst="rect">
            <a:avLst/>
          </a:prstGeom>
          <a:noFill/>
          <a:effectLst/>
        </p:spPr>
        <p:txBody>
          <a:bodyPr wrap="square" lIns="0" rIns="0" tIns="0" bIns="0">
            <a:spAutoFit/>
          </a:bodyPr>
          <a:lstStyle/>
          <a:p>
            <a:pPr>
              <a:lnSpc>
                <a:spcPct val="113000"/>
              </a:lnSpc>
              <a:spcAft>
                <a:spcPts val="0"/>
              </a:spcAft>
              <a:defRPr sz="1000" b="1">
                <a:solidFill>
                  <a:srgbClr val="7A202C"/>
                </a:solidFill>
                <a:latin typeface="Noto Sans"/>
              </a:defRPr>
            </a:pPr>
            <a:r>
              <a:rPr>
                <a:ea typeface="Noto Sans CJK SC"/>
              </a:rPr>
              <a:t>CONDITIONAL</a:t>
            </a:r>
          </a:p>
          <a:p>
            <a:pPr>
              <a:lnSpc>
                <a:spcPct val="113000"/>
              </a:lnSpc>
              <a:spcAft>
                <a:spcPts val="0"/>
              </a:spcAft>
              <a:defRPr sz="1000" b="1">
                <a:solidFill>
                  <a:srgbClr val="7A202C"/>
                </a:solidFill>
                <a:latin typeface="Noto Sans"/>
              </a:defRPr>
            </a:pPr>
            <a:r>
              <a:rPr>
                <a:ea typeface="Noto Sans CJK SC"/>
              </a:rPr>
              <a:t>CONCLUSIONS</a:t>
            </a:r>
          </a:p>
        </p:txBody>
      </p:sp>
      <p:cxnSp>
        <p:nvCxnSpPr>
          <p:cNvPr id="54" name="Connector 53"/>
          <p:cNvCxnSpPr/>
          <p:nvPr/>
        </p:nvCxnSpPr>
        <p:spPr>
          <a:xfrm>
            <a:off x="2560320" y="5614416"/>
            <a:ext cx="0" cy="530352"/>
          </a:xfrm>
          <a:prstGeom prst="line">
            <a:avLst/>
          </a:prstGeom>
          <a:ln w="9525">
            <a:solidFill>
              <a:srgbClr val="D4A59A"/>
            </a:solidFill>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2743200" y="5650992"/>
            <a:ext cx="4078224" cy="521207"/>
          </a:xfrm>
          <a:prstGeom prst="rect">
            <a:avLst/>
          </a:prstGeom>
          <a:noFill/>
          <a:effectLst/>
        </p:spPr>
        <p:txBody>
          <a:bodyPr wrap="square" lIns="0" rIns="0" tIns="0" bIns="0">
            <a:spAutoFit/>
          </a:bodyPr>
          <a:lstStyle/>
          <a:p>
            <a:pPr>
              <a:lnSpc>
                <a:spcPct val="113000"/>
              </a:lnSpc>
              <a:spcAft>
                <a:spcPts val="0"/>
              </a:spcAft>
              <a:defRPr sz="1150" b="0">
                <a:solidFill>
                  <a:srgbClr val="1E191C"/>
                </a:solidFill>
                <a:latin typeface="Noto Sans"/>
              </a:defRPr>
            </a:pPr>
            <a:r>
              <a:rPr>
                <a:ea typeface="Noto Sans CJK SC"/>
              </a:rPr>
              <a:t>(a) Recovery requires a proven breach and strict compliance with contractual and statutory forfeiture requirements.</a:t>
            </a:r>
          </a:p>
        </p:txBody>
      </p:sp>
      <p:sp>
        <p:nvSpPr>
          <p:cNvPr id="56" name="TextBox 55"/>
          <p:cNvSpPr txBox="1"/>
          <p:nvPr/>
        </p:nvSpPr>
        <p:spPr>
          <a:xfrm>
            <a:off x="7104888" y="5650992"/>
            <a:ext cx="4206240" cy="521207"/>
          </a:xfrm>
          <a:prstGeom prst="rect">
            <a:avLst/>
          </a:prstGeom>
          <a:noFill/>
          <a:effectLst/>
        </p:spPr>
        <p:txBody>
          <a:bodyPr wrap="square" lIns="0" rIns="0" tIns="0" bIns="0">
            <a:spAutoFit/>
          </a:bodyPr>
          <a:lstStyle/>
          <a:p>
            <a:pPr>
              <a:lnSpc>
                <a:spcPct val="113000"/>
              </a:lnSpc>
              <a:spcAft>
                <a:spcPts val="0"/>
              </a:spcAft>
              <a:defRPr sz="1150" b="0">
                <a:solidFill>
                  <a:srgbClr val="1E191C"/>
                </a:solidFill>
                <a:latin typeface="Noto Sans"/>
              </a:defRPr>
            </a:pPr>
            <a:r>
              <a:rPr>
                <a:ea typeface="Noto Sans CJK SC"/>
              </a:rPr>
              <a:t>(b) Renewal turns on whether new rent can be validly determined; the noise complaint is not decisive.</a:t>
            </a:r>
          </a:p>
        </p:txBody>
      </p:sp>
      <p:cxnSp>
        <p:nvCxnSpPr>
          <p:cNvPr id="57" name="Connector 56"/>
          <p:cNvCxnSpPr/>
          <p:nvPr/>
        </p:nvCxnSpPr>
        <p:spPr>
          <a:xfrm>
            <a:off x="612648" y="6473952"/>
            <a:ext cx="10972800" cy="0"/>
          </a:xfrm>
          <a:prstGeom prst="line">
            <a:avLst/>
          </a:prstGeom>
          <a:ln w="7620">
            <a:solidFill>
              <a:srgbClr val="E6CDD0"/>
            </a:solidFill>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612648" y="6574536"/>
            <a:ext cx="9601200" cy="182880"/>
          </a:xfrm>
          <a:prstGeom prst="rect">
            <a:avLst/>
          </a:prstGeom>
          <a:noFill/>
          <a:effectLst/>
        </p:spPr>
        <p:txBody>
          <a:bodyPr wrap="square" lIns="0" rIns="0" tIns="0" bIns="0">
            <a:spAutoFit/>
          </a:bodyPr>
          <a:lstStyle/>
          <a:p>
            <a:pPr>
              <a:lnSpc>
                <a:spcPct val="113000"/>
              </a:lnSpc>
              <a:spcAft>
                <a:spcPts val="0"/>
              </a:spcAft>
              <a:defRPr sz="800" b="0">
                <a:solidFill>
                  <a:srgbClr val="5A5A5A"/>
                </a:solidFill>
                <a:latin typeface="Noto Sans"/>
              </a:defRPr>
            </a:pPr>
            <a:r>
              <a:rPr>
                <a:ea typeface="Noto Sans CJK SC"/>
              </a:rPr>
              <a:t>Member 1 — Arguments &amp; Conditional Conclusions  |  Final analysis by Member 10</a:t>
            </a:r>
          </a:p>
        </p:txBody>
      </p:sp>
      <p:sp>
        <p:nvSpPr>
          <p:cNvPr id="59" name="TextBox 58"/>
          <p:cNvSpPr txBox="1"/>
          <p:nvPr/>
        </p:nvSpPr>
        <p:spPr>
          <a:xfrm>
            <a:off x="10972800" y="6547104"/>
            <a:ext cx="594360" cy="228600"/>
          </a:xfrm>
          <a:prstGeom prst="rect">
            <a:avLst/>
          </a:prstGeom>
          <a:noFill/>
          <a:effectLst/>
        </p:spPr>
        <p:txBody>
          <a:bodyPr wrap="square" lIns="0" rIns="0" tIns="0" bIns="0">
            <a:spAutoFit/>
          </a:bodyPr>
          <a:lstStyle/>
          <a:p>
            <a:pPr algn="r">
              <a:lnSpc>
                <a:spcPct val="113000"/>
              </a:lnSpc>
              <a:spcAft>
                <a:spcPts val="0"/>
              </a:spcAft>
              <a:defRPr sz="1000" b="0">
                <a:solidFill>
                  <a:srgbClr val="7A202C"/>
                </a:solidFill>
                <a:latin typeface="Noto Sans"/>
              </a:defRPr>
            </a:pPr>
            <a:r>
              <a:rPr>
                <a:ea typeface="Noto Sans CJK SC"/>
              </a:rPr>
              <a:t>02</a:t>
            </a:r>
          </a:p>
        </p:txBody>
      </p:sp>
    </p:spTree>
  </p:cSld>
  <p:clrMapOvr>
    <a:masterClrMapping/>
  </p:clrMapOvr>
</p:sld>
</file>

<file path=ppt/theme/theme1.xml><?xml version="1.0" encoding="utf-8"?>
<a:theme xmlns:a="http://schemas.openxmlformats.org/drawingml/2006/main" name="Office Theme">
  <a:themeElements>
    <a:clrScheme name="Office">
      <a:dk1>
        <a:srgbClr val="1E191C"/>
      </a:dk1>
      <a:lt1>
        <a:srgbClr val="FFFFFF"/>
      </a:lt1>
      <a:dk2>
        <a:srgbClr val="7A202C"/>
      </a:dk2>
      <a:lt2>
        <a:srgbClr val="F8F0EE"/>
      </a:lt2>
      <a:accent1>
        <a:srgbClr val="7A202C"/>
      </a:accent1>
      <a:accent2>
        <a:srgbClr val="A34450"/>
      </a:accent2>
      <a:accent3>
        <a:srgbClr val="D4A59A"/>
      </a:accent3>
      <a:accent4>
        <a:srgbClr val="B97A84"/>
      </a:accent4>
      <a:accent5>
        <a:srgbClr val="D9B8BC"/>
      </a:accent5>
      <a:accent6>
        <a:srgbClr val="6F5960"/>
      </a:accent6>
      <a:hlink>
        <a:srgbClr val="0000FF"/>
      </a:hlink>
      <a:folHlink>
        <a:srgbClr val="800080"/>
      </a:folHlink>
    </a:clrScheme>
    <a:fontScheme name="Office">
      <a:majorFont>
        <a:latin typeface="Noto Serif"/>
        <a:ea typeface="Noto Sans CJK SC"/>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SC"/>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Facts, Relationships &amp; Issues | Refined Burgundy Template</dc:title>
  <dc:subject>Redesigned from 5957汇报.pptx</dc:subject>
  <dc:creator/>
  <cp:keywords>tenancy, legal briefing, editable template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