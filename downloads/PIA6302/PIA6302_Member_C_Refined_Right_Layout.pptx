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74" r:id="rId23"/>
    <p:sldId id="275" r:id="rId24"/>
    <p:sldId id="277"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23" Type="http://schemas.openxmlformats.org/officeDocument/2006/relationships/slide" Target="slides/slide1.xml"/><Relationship Id="rId24" Type="http://schemas.openxmlformats.org/officeDocument/2006/relationships/slide" Target="slides/slide2.xml"/><Relationship Id="rId26"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Pence retained</c:v>
                </c:pt>
              </c:strCache>
            </c:strRef>
          </c:tx>
          <c:dPt>
            <c:idx val="0"/>
            <c:spPr>
              <a:solidFill>
                <a:srgbClr val="A5A5A5"/>
              </a:solidFill>
              <a:ln>
                <a:noFill/>
              </a:ln>
            </c:spPr>
          </c:dPt>
          <c:dPt>
            <c:idx val="1"/>
            <c:spPr>
              <a:solidFill>
                <a:srgbClr val="E06E33"/>
              </a:solidFill>
              <a:ln>
                <a:noFill/>
              </a:ln>
            </c:spPr>
          </c:dPt>
          <c:dPt>
            <c:idx val="2"/>
            <c:spPr>
              <a:solidFill>
                <a:srgbClr val="BA1B4D"/>
              </a:solidFill>
              <a:ln>
                <a:noFill/>
              </a:ln>
            </c:spPr>
          </c:dPt>
          <c:cat>
            <c:strRef>
              <c:f>Sheet1!$A$2:$A$4</c:f>
              <c:strCache>
                <c:ptCount val="3"/>
                <c:pt idx="0">
                  <c:v>Before 6 Jan 2024</c:v>
                </c:pt>
                <c:pt idx="1">
                  <c:v>6 Jan–5 Apr 2024</c:v>
                </c:pt>
                <c:pt idx="2">
                  <c:v>From 6 Apr 2024</c:v>
                </c:pt>
              </c:strCache>
            </c:strRef>
          </c:cat>
          <c:val>
            <c:numRef>
              <c:f>Sheet1!$B$2:$B$4</c:f>
              <c:numCache>
                <c:formatCode>General</c:formatCode>
                <c:ptCount val="3"/>
                <c:pt idx="0">
                  <c:v>68</c:v>
                </c:pt>
                <c:pt idx="1">
                  <c:v>70</c:v>
                </c:pt>
                <c:pt idx="2">
                  <c:v>72</c:v>
                </c:pt>
              </c:numCache>
            </c:numRef>
          </c:val>
        </c:ser>
        <c:dLbls>
          <c:numFmt formatCode="0&quot;p&quot;" sourceLinked="0"/>
          <c:txPr>
            <a:bodyPr/>
            <a:lstStyle/>
            <a:p>
              <a:pPr>
                <a:defRPr sz="2600" b="1"/>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80.0"/>
          <c:min val="0.0"/>
        </c:scaling>
        <c:delete val="0"/>
        <c:axPos val="l"/>
        <c:majorGridlines/>
        <c:majorTickMark val="out"/>
        <c:minorTickMark val="none"/>
        <c:tickLblPos val="nextTo"/>
        <c:txPr>
          <a:bodyPr/>
          <a:lstStyle/>
          <a:p>
            <a:pPr>
              <a:defRPr sz="1200"/>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MEMBER C — SLIDE 1</a:t>
            </a:r>
          </a:p>
          <a:p>
            <a:r>
              <a:t>Target: 35 seconds.</a:t>
            </a:r>
          </a:p>
          <a:p/>
          <a:p>
            <a:r>
              <a:t>My part explains how the National Insurance cuts affect economic efficiency. First, they increase the reward from additional work. With income tax fixed at twenty per cent, employees retain sixty-eight, seventy and then seventy-two pence from each extra pound earned. The combined increase is about five point nine per cent. This calculation applies to earnings within the main National Insurance band. It shows how the policy strengthens financial incentives.</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
        <p:nvSpPr>
          <p:cNvPr id="487" name="Google Shape;48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MEMBER C — SLIDE 2</a:t>
            </a:r>
          </a:p>
          <a:p>
            <a:r>
              <a:t>Target: 35 seconds.</a:t>
            </a:r>
          </a:p>
          <a:p/>
          <a:p>
            <a:r>
              <a:t>However, two effects influence working hours. The substitution effect makes leisure more expensive because an hour away from work now sacrifices more income. This encourages additional work. The income effect operates in the opposite direction: higher disposable income allows people to enjoy more leisure. The final response depends on their relative strength. We should also distinguish entering employment from changing hours among existing workers.</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
        <p:nvSpPr>
          <p:cNvPr id="512" name="Google Shape;51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MEMBER C — SLIDE 3</a:t>
            </a:r>
          </a:p>
          <a:p>
            <a:r>
              <a:t>Target: 35 seconds.</a:t>
            </a:r>
          </a:p>
          <a:p/>
          <a:p>
            <a:r>
              <a:t>Finally, the Laffer curve links tax rates with the taxable base. Stronger work incentives can expand that base and recover some lost revenue. The OBR projected a labour-supply increase equivalent to ninety-eight thousand full-time workers and approximately twenty per cent recovery of the March measures’ static fiscal cost. My conclusion is that the cuts have a credible incentive rationale, while their overall value also depends on sustainable financing.</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
        <p:nvSpPr>
          <p:cNvPr id="563" name="Google Shape;56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1"/>
          <p:cNvSpPr/>
          <p:nvPr/>
        </p:nvSpPr>
        <p:spPr>
          <a:xfrm>
            <a:off x="0" y="0"/>
            <a:ext cx="12192000" cy="67151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0" name="Google Shape;490;p31"/>
          <p:cNvSpPr/>
          <p:nvPr/>
        </p:nvSpPr>
        <p:spPr>
          <a:xfrm>
            <a:off x="5596237" y="0"/>
            <a:ext cx="1727427" cy="67151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1" name="Google Shape;491;p31"/>
          <p:cNvSpPr txBox="1"/>
          <p:nvPr/>
        </p:nvSpPr>
        <p:spPr>
          <a:xfrm>
            <a:off x="2775026" y="90318"/>
            <a:ext cx="21515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Policy background</a:t>
            </a:r>
            <a:endParaRPr sz="1400">
              <a:solidFill>
                <a:schemeClr val="lt1"/>
              </a:solidFill>
              <a:latin typeface="Arial"/>
              <a:ea typeface="Arial"/>
              <a:cs typeface="Arial"/>
              <a:sym typeface="Arial"/>
            </a:endParaRPr>
          </a:p>
        </p:txBody>
      </p:sp>
      <p:sp>
        <p:nvSpPr>
          <p:cNvPr id="492" name="Google Shape;492;p31"/>
          <p:cNvSpPr txBox="1"/>
          <p:nvPr/>
        </p:nvSpPr>
        <p:spPr>
          <a:xfrm>
            <a:off x="5705965" y="90318"/>
            <a:ext cx="150797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Economic efficiency</a:t>
            </a:r>
            <a:endParaRPr sz="1400">
              <a:solidFill>
                <a:schemeClr val="lt1"/>
              </a:solidFill>
              <a:latin typeface="Arial"/>
              <a:ea typeface="Arial"/>
              <a:cs typeface="Arial"/>
              <a:sym typeface="Arial"/>
            </a:endParaRPr>
          </a:p>
        </p:txBody>
      </p:sp>
      <p:sp>
        <p:nvSpPr>
          <p:cNvPr id="493" name="Google Shape;493;p31"/>
          <p:cNvSpPr txBox="1"/>
          <p:nvPr/>
        </p:nvSpPr>
        <p:spPr>
          <a:xfrm>
            <a:off x="7993346"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Distributional equity</a:t>
            </a:r>
            <a:endParaRPr sz="1400">
              <a:solidFill>
                <a:schemeClr val="lt1"/>
              </a:solidFill>
              <a:latin typeface="Arial"/>
              <a:ea typeface="Arial"/>
              <a:cs typeface="Arial"/>
              <a:sym typeface="Arial"/>
            </a:endParaRPr>
          </a:p>
        </p:txBody>
      </p:sp>
      <p:sp>
        <p:nvSpPr>
          <p:cNvPr id="494" name="Google Shape;494;p31"/>
          <p:cNvSpPr txBox="1"/>
          <p:nvPr/>
        </p:nvSpPr>
        <p:spPr>
          <a:xfrm>
            <a:off x="10253501"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Fiscal sustainability</a:t>
            </a:r>
            <a:endParaRPr sz="1400">
              <a:solidFill>
                <a:schemeClr val="lt1"/>
              </a:solidFill>
              <a:latin typeface="Arial"/>
              <a:ea typeface="Arial"/>
              <a:cs typeface="Arial"/>
              <a:sym typeface="Arial"/>
            </a:endParaRPr>
          </a:p>
        </p:txBody>
      </p:sp>
      <p:cxnSp>
        <p:nvCxnSpPr>
          <p:cNvPr id="495" name="Google Shape;495;p31"/>
          <p:cNvCxnSpPr/>
          <p:nvPr/>
        </p:nvCxnSpPr>
        <p:spPr>
          <a:xfrm>
            <a:off x="618938" y="1444007"/>
            <a:ext cx="11573062" cy="0"/>
          </a:xfrm>
          <a:prstGeom prst="straightConnector1">
            <a:avLst/>
          </a:prstGeom>
          <a:noFill/>
          <a:ln cap="flat" cmpd="sng" w="9525">
            <a:solidFill>
              <a:schemeClr val="accent1"/>
            </a:solidFill>
            <a:prstDash val="solid"/>
            <a:miter lim="800000"/>
            <a:headEnd len="sm" w="sm" type="none"/>
            <a:tailEnd len="sm" w="sm" type="none"/>
          </a:ln>
        </p:spPr>
      </p:cxnSp>
      <p:sp>
        <p:nvSpPr>
          <p:cNvPr id="496" name="Google Shape;496;p31"/>
          <p:cNvSpPr txBox="1"/>
          <p:nvPr/>
        </p:nvSpPr>
        <p:spPr>
          <a:xfrm>
            <a:off x="577440" y="947427"/>
            <a:ext cx="10728449"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1"/>
              </a:buClr>
              <a:buSzPts val="1920"/>
              <a:buFont typeface="Noto Sans Symbols"/>
              <a:buChar char="■"/>
            </a:pPr>
            <a:r>
              <a:rPr b="1" lang="en" sz="2400">
                <a:solidFill>
                  <a:schemeClr val="accent1"/>
                </a:solidFill>
                <a:latin typeface="Arial"/>
                <a:ea typeface="Arial"/>
                <a:cs typeface="Arial"/>
                <a:sym typeface="Arial"/>
              </a:rPr>
              <a:t>Tax incentives: a higher return from additional work</a:t>
            </a:r>
            <a:endParaRPr b="1" sz="2400">
              <a:solidFill>
                <a:schemeClr val="accent1"/>
              </a:solidFill>
              <a:latin typeface="Arial"/>
              <a:ea typeface="Arial"/>
              <a:cs typeface="Arial"/>
              <a:sym typeface="Arial"/>
            </a:endParaRPr>
          </a:p>
        </p:txBody>
      </p:sp>
      <p:sp>
        <p:nvSpPr>
          <p:cNvPr id="497" name="Google Shape;497;p31"/>
          <p:cNvSpPr/>
          <p:nvPr/>
        </p:nvSpPr>
        <p:spPr>
          <a:xfrm>
            <a:off x="11566098" y="6300679"/>
            <a:ext cx="333982" cy="333980"/>
          </a:xfrm>
          <a:prstGeom prst="ellipse">
            <a:avLst/>
          </a:prstGeom>
          <a:noFill/>
          <a:ln cap="flat" cmpd="sng" w="9525">
            <a:solidFill>
              <a:schemeClr val="accent1">
                <a:alpha val="66666"/>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8" name="Google Shape;498;p31"/>
          <p:cNvSpPr txBox="1"/>
          <p:nvPr>
            <p:ph idx="12" type="sldNum"/>
          </p:nvPr>
        </p:nvSpPr>
        <p:spPr>
          <a:xfrm>
            <a:off x="11425352" y="6290983"/>
            <a:ext cx="615471"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1</a:t>
            </a:r>
            <a:endParaRPr b="1">
              <a:solidFill>
                <a:schemeClr val="accent1"/>
              </a:solidFill>
              <a:latin typeface="Arial"/>
              <a:ea typeface="Arial"/>
              <a:cs typeface="Arial"/>
              <a:sym typeface="Arial"/>
            </a:endParaRPr>
          </a:p>
        </p:txBody>
      </p:sp>
      <p:pic>
        <p:nvPicPr>
          <p:cNvPr id="509" name="Google Shape;509;p31"/>
          <p:cNvPicPr preferRelativeResize="0"/>
          <p:nvPr/>
        </p:nvPicPr>
        <p:blipFill rotWithShape="1">
          <a:blip r:embed="rId3">
            <a:alphaModFix/>
          </a:blip>
          <a:srcRect b="0" l="0" r="0" t="0"/>
          <a:stretch/>
        </p:blipFill>
        <p:spPr>
          <a:xfrm>
            <a:off x="657492" y="93765"/>
            <a:ext cx="797795" cy="448456"/>
          </a:xfrm>
          <a:prstGeom prst="rect">
            <a:avLst/>
          </a:prstGeom>
          <a:noFill/>
          <a:ln>
            <a:noFill/>
          </a:ln>
        </p:spPr>
      </p:pic>
      <p:sp>
        <p:nvSpPr>
          <p:cNvPr id="510" name="TextBox 509"/>
          <p:cNvSpPr txBox="1"/>
          <p:nvPr/>
        </p:nvSpPr>
        <p:spPr>
          <a:xfrm>
            <a:off x="713232" y="6016752"/>
            <a:ext cx="10607040" cy="228600"/>
          </a:xfrm>
          <a:prstGeom prst="rect">
            <a:avLst/>
          </a:prstGeom>
          <a:noFill/>
        </p:spPr>
        <p:txBody>
          <a:bodyPr wrap="square" lIns="0" rIns="0" tIns="0" bIns="0">
            <a:spAutoFit/>
          </a:bodyPr>
          <a:lstStyle/>
          <a:p>
            <a:pPr>
              <a:spcAft>
                <a:spcPts val="0"/>
              </a:spcAft>
              <a:defRPr sz="1000" b="0">
                <a:solidFill>
                  <a:srgbClr val="666666"/>
                </a:solidFill>
                <a:latin typeface="Arial"/>
              </a:defRPr>
            </a:pPr>
            <a:r>
              <a:t>Source: Author’s calculations using HMRC (2024) rates. Assumes 20% income tax, main NICs band and no other deductions.</a:t>
            </a:r>
          </a:p>
        </p:txBody>
      </p:sp>
      <p:sp>
        <p:nvSpPr>
          <p:cNvPr id="511" name="TextBox 510"/>
          <p:cNvSpPr txBox="1"/>
          <p:nvPr/>
        </p:nvSpPr>
        <p:spPr>
          <a:xfrm>
            <a:off x="777240" y="1700784"/>
            <a:ext cx="6858000" cy="320040"/>
          </a:xfrm>
          <a:prstGeom prst="rect">
            <a:avLst/>
          </a:prstGeom>
          <a:noFill/>
        </p:spPr>
        <p:txBody>
          <a:bodyPr wrap="square" lIns="0" rIns="0" tIns="0" bIns="0">
            <a:spAutoFit/>
          </a:bodyPr>
          <a:lstStyle/>
          <a:p>
            <a:pPr>
              <a:spcAft>
                <a:spcPts val="0"/>
              </a:spcAft>
              <a:defRPr sz="1700" b="0">
                <a:solidFill>
                  <a:srgbClr val="666666"/>
                </a:solidFill>
                <a:latin typeface="Arial"/>
              </a:defRPr>
            </a:pPr>
            <a:r>
              <a:t>Marginal take-home pay per additional £1 earned</a:t>
            </a:r>
          </a:p>
        </p:txBody>
      </p:sp>
      <p:graphicFrame>
        <p:nvGraphicFramePr>
          <p:cNvPr id="512" name="Chart 511"/>
          <p:cNvGraphicFramePr>
            <a:graphicFrameLocks noGrp="1"/>
          </p:cNvGraphicFramePr>
          <p:nvPr/>
        </p:nvGraphicFramePr>
        <p:xfrm>
          <a:off x="868680" y="2194560"/>
          <a:ext cx="6949440" cy="3246120"/>
        </p:xfrm>
        <a:graphic>
          <a:graphicData uri="http://schemas.openxmlformats.org/drawingml/2006/chart">
            <c:chart r:id="rId4"/>
          </a:graphicData>
        </a:graphic>
      </p:graphicFrame>
      <p:sp>
        <p:nvSpPr>
          <p:cNvPr id="519" name="TextBox 518"/>
          <p:cNvSpPr txBox="1"/>
          <p:nvPr/>
        </p:nvSpPr>
        <p:spPr>
          <a:xfrm>
            <a:off x="1024128" y="5614416"/>
            <a:ext cx="6675120" cy="301752"/>
          </a:xfrm>
          <a:prstGeom prst="rect">
            <a:avLst/>
          </a:prstGeom>
          <a:noFill/>
        </p:spPr>
        <p:txBody>
          <a:bodyPr wrap="square" lIns="0" rIns="0" tIns="0" bIns="0">
            <a:spAutoFit/>
          </a:bodyPr>
          <a:lstStyle/>
          <a:p>
            <a:pPr>
              <a:spcAft>
                <a:spcPts val="0"/>
              </a:spcAft>
              <a:defRPr sz="2100" b="1">
                <a:solidFill>
                  <a:srgbClr val="BA1B4D"/>
                </a:solidFill>
                <a:latin typeface="Arial"/>
              </a:defRPr>
            </a:pPr>
            <a:r>
              <a:t>NICs main rate: 12% → 10% → 8%</a:t>
            </a:r>
          </a:p>
        </p:txBody>
      </p:sp>
      <p:cxnSp>
        <p:nvCxnSpPr>
          <p:cNvPr id="520" name="Connector 519"/>
          <p:cNvCxnSpPr/>
          <p:nvPr/>
        </p:nvCxnSpPr>
        <p:spPr>
          <a:xfrm>
            <a:off x="8028431" y="2139696"/>
            <a:ext cx="0" cy="3419856"/>
          </a:xfrm>
          <a:prstGeom prst="line">
            <a:avLst/>
          </a:prstGeom>
          <a:ln w="8890">
            <a:solidFill>
              <a:srgbClr val="DFD5DA"/>
            </a:solidFill>
          </a:ln>
          <a:effectLst/>
        </p:spPr>
        <p:style>
          <a:lnRef idx="2">
            <a:schemeClr val="accent1"/>
          </a:lnRef>
          <a:fillRef idx="0">
            <a:schemeClr val="accent1"/>
          </a:fillRef>
          <a:effectRef idx="1">
            <a:schemeClr val="accent1"/>
          </a:effectRef>
          <a:fontRef idx="minor">
            <a:schemeClr val="tx1"/>
          </a:fontRef>
        </p:style>
      </p:cxnSp>
      <p:sp>
        <p:nvSpPr>
          <p:cNvPr id="521" name="TextBox 520"/>
          <p:cNvSpPr txBox="1"/>
          <p:nvPr/>
        </p:nvSpPr>
        <p:spPr>
          <a:xfrm>
            <a:off x="8375904" y="2221992"/>
            <a:ext cx="2971800" cy="256032"/>
          </a:xfrm>
          <a:prstGeom prst="rect">
            <a:avLst/>
          </a:prstGeom>
          <a:noFill/>
        </p:spPr>
        <p:txBody>
          <a:bodyPr wrap="square" lIns="0" rIns="0" tIns="0" bIns="0">
            <a:spAutoFit/>
          </a:bodyPr>
          <a:lstStyle/>
          <a:p>
            <a:pPr>
              <a:spcAft>
                <a:spcPts val="0"/>
              </a:spcAft>
              <a:defRPr sz="1200" b="1">
                <a:solidFill>
                  <a:srgbClr val="BA1B4D"/>
                </a:solidFill>
                <a:latin typeface="Arial"/>
              </a:defRPr>
            </a:pPr>
            <a:r>
              <a:t>COMBINED NICs CUTS</a:t>
            </a:r>
          </a:p>
        </p:txBody>
      </p:sp>
      <p:sp>
        <p:nvSpPr>
          <p:cNvPr id="522" name="TextBox 521"/>
          <p:cNvSpPr txBox="1"/>
          <p:nvPr/>
        </p:nvSpPr>
        <p:spPr>
          <a:xfrm>
            <a:off x="8321040" y="2743200"/>
            <a:ext cx="3108960" cy="868680"/>
          </a:xfrm>
          <a:prstGeom prst="rect">
            <a:avLst/>
          </a:prstGeom>
          <a:noFill/>
        </p:spPr>
        <p:txBody>
          <a:bodyPr wrap="square" lIns="0" rIns="0" tIns="0" bIns="0">
            <a:spAutoFit/>
          </a:bodyPr>
          <a:lstStyle/>
          <a:p>
            <a:pPr>
              <a:spcAft>
                <a:spcPts val="0"/>
              </a:spcAft>
              <a:defRPr sz="4900" b="1">
                <a:solidFill>
                  <a:srgbClr val="BA1B4D"/>
                </a:solidFill>
                <a:latin typeface="Arial"/>
              </a:defRPr>
            </a:pPr>
            <a:r>
              <a:t>+5.9%</a:t>
            </a:r>
          </a:p>
        </p:txBody>
      </p:sp>
      <p:sp>
        <p:nvSpPr>
          <p:cNvPr id="523" name="TextBox 522"/>
          <p:cNvSpPr txBox="1"/>
          <p:nvPr/>
        </p:nvSpPr>
        <p:spPr>
          <a:xfrm>
            <a:off x="8375904" y="3767328"/>
            <a:ext cx="2999232" cy="868680"/>
          </a:xfrm>
          <a:prstGeom prst="rect">
            <a:avLst/>
          </a:prstGeom>
          <a:noFill/>
        </p:spPr>
        <p:txBody>
          <a:bodyPr wrap="square" lIns="0" rIns="0" tIns="0" bIns="0">
            <a:spAutoFit/>
          </a:bodyPr>
          <a:lstStyle/>
          <a:p>
            <a:pPr>
              <a:spcAft>
                <a:spcPts val="0"/>
              </a:spcAft>
              <a:defRPr sz="2300" b="1">
                <a:solidFill>
                  <a:srgbClr val="38343A"/>
                </a:solidFill>
                <a:latin typeface="Arial"/>
              </a:defRPr>
            </a:pPr>
            <a:r>
              <a:t>Higher marginal</a:t>
            </a:r>
          </a:p>
          <a:p>
            <a:pPr>
              <a:spcAft>
                <a:spcPts val="0"/>
              </a:spcAft>
              <a:defRPr sz="2300" b="1">
                <a:solidFill>
                  <a:srgbClr val="38343A"/>
                </a:solidFill>
                <a:latin typeface="Arial"/>
              </a:defRPr>
            </a:pPr>
            <a:r>
              <a:t>take-home pay</a:t>
            </a:r>
          </a:p>
        </p:txBody>
      </p:sp>
      <p:cxnSp>
        <p:nvCxnSpPr>
          <p:cNvPr id="524" name="Connector 523"/>
          <p:cNvCxnSpPr/>
          <p:nvPr/>
        </p:nvCxnSpPr>
        <p:spPr>
          <a:xfrm>
            <a:off x="8375904" y="4901184"/>
            <a:ext cx="2962656" cy="0"/>
          </a:xfrm>
          <a:prstGeom prst="line">
            <a:avLst/>
          </a:prstGeom>
          <a:ln w="8890">
            <a:solidFill>
              <a:srgbClr val="DFD5DA"/>
            </a:solidFill>
          </a:ln>
          <a:effectLst/>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8375904" y="5129784"/>
            <a:ext cx="2971800" cy="292608"/>
          </a:xfrm>
          <a:prstGeom prst="rect">
            <a:avLst/>
          </a:prstGeom>
          <a:noFill/>
        </p:spPr>
        <p:txBody>
          <a:bodyPr wrap="square" lIns="0" rIns="0" tIns="0" bIns="0">
            <a:spAutoFit/>
          </a:bodyPr>
          <a:lstStyle/>
          <a:p>
            <a:pPr>
              <a:spcAft>
                <a:spcPts val="0"/>
              </a:spcAft>
              <a:defRPr sz="1600" b="0">
                <a:solidFill>
                  <a:srgbClr val="777179"/>
                </a:solidFill>
                <a:latin typeface="Arial"/>
              </a:defRPr>
            </a:pPr>
            <a:r>
              <a:t>(72 − 68) ÷ 68 × 100</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32"/>
          <p:cNvSpPr/>
          <p:nvPr/>
        </p:nvSpPr>
        <p:spPr>
          <a:xfrm>
            <a:off x="0" y="0"/>
            <a:ext cx="12192000" cy="67151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5" name="Google Shape;515;p32"/>
          <p:cNvSpPr/>
          <p:nvPr/>
        </p:nvSpPr>
        <p:spPr>
          <a:xfrm>
            <a:off x="5596237" y="0"/>
            <a:ext cx="1727427" cy="67151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6" name="Google Shape;516;p32"/>
          <p:cNvSpPr txBox="1"/>
          <p:nvPr/>
        </p:nvSpPr>
        <p:spPr>
          <a:xfrm>
            <a:off x="2775026" y="90318"/>
            <a:ext cx="21515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Policy background</a:t>
            </a:r>
            <a:endParaRPr sz="1400">
              <a:solidFill>
                <a:schemeClr val="lt1"/>
              </a:solidFill>
              <a:latin typeface="Arial"/>
              <a:ea typeface="Arial"/>
              <a:cs typeface="Arial"/>
              <a:sym typeface="Arial"/>
            </a:endParaRPr>
          </a:p>
        </p:txBody>
      </p:sp>
      <p:sp>
        <p:nvSpPr>
          <p:cNvPr id="517" name="Google Shape;517;p32"/>
          <p:cNvSpPr txBox="1"/>
          <p:nvPr/>
        </p:nvSpPr>
        <p:spPr>
          <a:xfrm>
            <a:off x="5705965" y="90318"/>
            <a:ext cx="150797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Economic efficiency</a:t>
            </a:r>
            <a:endParaRPr sz="1400">
              <a:solidFill>
                <a:schemeClr val="lt1"/>
              </a:solidFill>
              <a:latin typeface="Arial"/>
              <a:ea typeface="Arial"/>
              <a:cs typeface="Arial"/>
              <a:sym typeface="Arial"/>
            </a:endParaRPr>
          </a:p>
        </p:txBody>
      </p:sp>
      <p:sp>
        <p:nvSpPr>
          <p:cNvPr id="518" name="Google Shape;518;p32"/>
          <p:cNvSpPr txBox="1"/>
          <p:nvPr/>
        </p:nvSpPr>
        <p:spPr>
          <a:xfrm>
            <a:off x="7993346"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Distributional equity</a:t>
            </a:r>
            <a:endParaRPr sz="1400">
              <a:solidFill>
                <a:schemeClr val="lt1"/>
              </a:solidFill>
              <a:latin typeface="Arial"/>
              <a:ea typeface="Arial"/>
              <a:cs typeface="Arial"/>
              <a:sym typeface="Arial"/>
            </a:endParaRPr>
          </a:p>
        </p:txBody>
      </p:sp>
      <p:sp>
        <p:nvSpPr>
          <p:cNvPr id="519" name="Google Shape;519;p32"/>
          <p:cNvSpPr txBox="1"/>
          <p:nvPr/>
        </p:nvSpPr>
        <p:spPr>
          <a:xfrm>
            <a:off x="10253501"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Fiscal sustainability</a:t>
            </a:r>
            <a:endParaRPr sz="1400">
              <a:solidFill>
                <a:schemeClr val="lt1"/>
              </a:solidFill>
              <a:latin typeface="Arial"/>
              <a:ea typeface="Arial"/>
              <a:cs typeface="Arial"/>
              <a:sym typeface="Arial"/>
            </a:endParaRPr>
          </a:p>
        </p:txBody>
      </p:sp>
      <p:cxnSp>
        <p:nvCxnSpPr>
          <p:cNvPr id="520" name="Google Shape;520;p32"/>
          <p:cNvCxnSpPr/>
          <p:nvPr/>
        </p:nvCxnSpPr>
        <p:spPr>
          <a:xfrm>
            <a:off x="618938" y="1444007"/>
            <a:ext cx="11573062" cy="0"/>
          </a:xfrm>
          <a:prstGeom prst="straightConnector1">
            <a:avLst/>
          </a:prstGeom>
          <a:noFill/>
          <a:ln cap="flat" cmpd="sng" w="9525">
            <a:solidFill>
              <a:schemeClr val="accent1"/>
            </a:solidFill>
            <a:prstDash val="solid"/>
            <a:miter lim="800000"/>
            <a:headEnd len="sm" w="sm" type="none"/>
            <a:tailEnd len="sm" w="sm" type="none"/>
          </a:ln>
        </p:spPr>
      </p:cxnSp>
      <p:sp>
        <p:nvSpPr>
          <p:cNvPr id="521" name="Google Shape;521;p32"/>
          <p:cNvSpPr txBox="1"/>
          <p:nvPr/>
        </p:nvSpPr>
        <p:spPr>
          <a:xfrm>
            <a:off x="577440" y="947427"/>
            <a:ext cx="10728449"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1"/>
              </a:buClr>
              <a:buSzPts val="1920"/>
              <a:buFont typeface="Noto Sans Symbols"/>
              <a:buChar char="■"/>
            </a:pPr>
            <a:r>
              <a:rPr b="1" lang="en" sz="2400">
                <a:solidFill>
                  <a:schemeClr val="accent1"/>
                </a:solidFill>
                <a:latin typeface="Arial"/>
                <a:ea typeface="Arial"/>
                <a:cs typeface="Arial"/>
                <a:sym typeface="Arial"/>
              </a:rPr>
              <a:t>Labour supply: substitution and income effects</a:t>
            </a:r>
            <a:endParaRPr b="1" sz="2400">
              <a:solidFill>
                <a:schemeClr val="accent1"/>
              </a:solidFill>
              <a:latin typeface="Arial"/>
              <a:ea typeface="Arial"/>
              <a:cs typeface="Arial"/>
              <a:sym typeface="Arial"/>
            </a:endParaRPr>
          </a:p>
        </p:txBody>
      </p:sp>
      <p:sp>
        <p:nvSpPr>
          <p:cNvPr id="522" name="Google Shape;522;p32"/>
          <p:cNvSpPr/>
          <p:nvPr/>
        </p:nvSpPr>
        <p:spPr>
          <a:xfrm>
            <a:off x="11566098" y="6300679"/>
            <a:ext cx="333982" cy="333980"/>
          </a:xfrm>
          <a:prstGeom prst="ellipse">
            <a:avLst/>
          </a:prstGeom>
          <a:noFill/>
          <a:ln cap="flat" cmpd="sng" w="9525">
            <a:solidFill>
              <a:schemeClr val="accent1">
                <a:alpha val="66666"/>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3" name="Google Shape;523;p32"/>
          <p:cNvSpPr txBox="1"/>
          <p:nvPr>
            <p:ph idx="12" type="sldNum"/>
          </p:nvPr>
        </p:nvSpPr>
        <p:spPr>
          <a:xfrm>
            <a:off x="11425352" y="6290983"/>
            <a:ext cx="615471"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2</a:t>
            </a:r>
            <a:endParaRPr b="1">
              <a:solidFill>
                <a:schemeClr val="accent1"/>
              </a:solidFill>
              <a:latin typeface="Arial"/>
              <a:ea typeface="Arial"/>
              <a:cs typeface="Arial"/>
              <a:sym typeface="Arial"/>
            </a:endParaRPr>
          </a:p>
        </p:txBody>
      </p:sp>
      <p:pic>
        <p:nvPicPr>
          <p:cNvPr id="537" name="Google Shape;537;p32"/>
          <p:cNvPicPr preferRelativeResize="0"/>
          <p:nvPr/>
        </p:nvPicPr>
        <p:blipFill rotWithShape="1">
          <a:blip r:embed="rId3">
            <a:alphaModFix/>
          </a:blip>
          <a:srcRect b="0" l="0" r="0" t="0"/>
          <a:stretch/>
        </p:blipFill>
        <p:spPr>
          <a:xfrm>
            <a:off x="657492" y="93765"/>
            <a:ext cx="797795" cy="448456"/>
          </a:xfrm>
          <a:prstGeom prst="rect">
            <a:avLst/>
          </a:prstGeom>
          <a:noFill/>
          <a:ln>
            <a:noFill/>
          </a:ln>
        </p:spPr>
      </p:pic>
      <p:sp>
        <p:nvSpPr>
          <p:cNvPr id="538" name="TextBox 537"/>
          <p:cNvSpPr txBox="1"/>
          <p:nvPr/>
        </p:nvSpPr>
        <p:spPr>
          <a:xfrm>
            <a:off x="713232" y="6016752"/>
            <a:ext cx="10607040" cy="228600"/>
          </a:xfrm>
          <a:prstGeom prst="rect">
            <a:avLst/>
          </a:prstGeom>
          <a:noFill/>
        </p:spPr>
        <p:txBody>
          <a:bodyPr wrap="square" lIns="0" rIns="0" tIns="0" bIns="0">
            <a:spAutoFit/>
          </a:bodyPr>
          <a:lstStyle/>
          <a:p>
            <a:pPr>
              <a:spcAft>
                <a:spcPts val="0"/>
              </a:spcAft>
              <a:defRPr sz="1000" b="0">
                <a:solidFill>
                  <a:srgbClr val="666666"/>
                </a:solidFill>
                <a:latin typeface="Arial"/>
              </a:defRPr>
            </a:pPr>
            <a:r>
              <a:t>Source: Author’s theoretical illustration based on Meghir and Phillips (2010).</a:t>
            </a:r>
          </a:p>
        </p:txBody>
      </p:sp>
      <p:sp>
        <p:nvSpPr>
          <p:cNvPr id="539" name="TextBox 538"/>
          <p:cNvSpPr txBox="1"/>
          <p:nvPr/>
        </p:nvSpPr>
        <p:spPr>
          <a:xfrm>
            <a:off x="777240" y="1700784"/>
            <a:ext cx="6858000" cy="320040"/>
          </a:xfrm>
          <a:prstGeom prst="rect">
            <a:avLst/>
          </a:prstGeom>
          <a:noFill/>
        </p:spPr>
        <p:txBody>
          <a:bodyPr wrap="square" lIns="0" rIns="0" tIns="0" bIns="0">
            <a:spAutoFit/>
          </a:bodyPr>
          <a:lstStyle/>
          <a:p>
            <a:pPr>
              <a:spcAft>
                <a:spcPts val="0"/>
              </a:spcAft>
              <a:defRPr sz="1700" b="0">
                <a:solidFill>
                  <a:srgbClr val="666666"/>
                </a:solidFill>
                <a:latin typeface="Arial"/>
              </a:defRPr>
            </a:pPr>
            <a:r>
              <a:t>How a higher net wage changes work–leisure choices</a:t>
            </a:r>
          </a:p>
        </p:txBody>
      </p:sp>
      <p:pic>
        <p:nvPicPr>
          <p:cNvPr id="540" name="Picture 539" descr="template_chart2.png"/>
          <p:cNvPicPr>
            <a:picLocks noChangeAspect="1"/>
          </p:cNvPicPr>
          <p:nvPr/>
        </p:nvPicPr>
        <p:blipFill>
          <a:blip r:embed="rId4"/>
          <a:stretch>
            <a:fillRect/>
          </a:stretch>
        </p:blipFill>
        <p:spPr>
          <a:xfrm>
            <a:off x="731520" y="2103120"/>
            <a:ext cx="7223760" cy="3555473"/>
          </a:xfrm>
          <a:prstGeom prst="rect">
            <a:avLst/>
          </a:prstGeom>
        </p:spPr>
      </p:pic>
      <p:sp>
        <p:nvSpPr>
          <p:cNvPr id="549" name="TextBox 548"/>
          <p:cNvSpPr txBox="1"/>
          <p:nvPr/>
        </p:nvSpPr>
        <p:spPr>
          <a:xfrm>
            <a:off x="932688" y="5669280"/>
            <a:ext cx="10424160" cy="274320"/>
          </a:xfrm>
          <a:prstGeom prst="rect">
            <a:avLst/>
          </a:prstGeom>
          <a:noFill/>
        </p:spPr>
        <p:txBody>
          <a:bodyPr wrap="square" lIns="0" rIns="0" tIns="0" bIns="0">
            <a:spAutoFit/>
          </a:bodyPr>
          <a:lstStyle/>
          <a:p>
            <a:pPr>
              <a:spcAft>
                <a:spcPts val="0"/>
              </a:spcAft>
              <a:defRPr sz="1900" b="1">
                <a:solidFill>
                  <a:srgbClr val="BA1B4D"/>
                </a:solidFill>
                <a:latin typeface="Arial"/>
              </a:defRPr>
            </a:pPr>
            <a:r>
              <a:t>Participation in employment ≠ hours worked by existing employees</a:t>
            </a:r>
          </a:p>
        </p:txBody>
      </p:sp>
      <p:cxnSp>
        <p:nvCxnSpPr>
          <p:cNvPr id="550" name="Connector 549"/>
          <p:cNvCxnSpPr/>
          <p:nvPr/>
        </p:nvCxnSpPr>
        <p:spPr>
          <a:xfrm>
            <a:off x="8028431" y="2139696"/>
            <a:ext cx="0" cy="3419856"/>
          </a:xfrm>
          <a:prstGeom prst="line">
            <a:avLst/>
          </a:prstGeom>
          <a:ln w="8890">
            <a:solidFill>
              <a:srgbClr val="DFD5DA"/>
            </a:solidFill>
          </a:ln>
          <a:effectLst/>
        </p:spPr>
        <p:style>
          <a:lnRef idx="2">
            <a:schemeClr val="accent1"/>
          </a:lnRef>
          <a:fillRef idx="0">
            <a:schemeClr val="accent1"/>
          </a:fillRef>
          <a:effectRef idx="1">
            <a:schemeClr val="accent1"/>
          </a:effectRef>
          <a:fontRef idx="minor">
            <a:schemeClr val="tx1"/>
          </a:fontRef>
        </p:style>
      </p:cxnSp>
      <p:sp>
        <p:nvSpPr>
          <p:cNvPr id="551" name="TextBox 550"/>
          <p:cNvSpPr txBox="1"/>
          <p:nvPr/>
        </p:nvSpPr>
        <p:spPr>
          <a:xfrm>
            <a:off x="8375904" y="2194560"/>
            <a:ext cx="2962656" cy="228600"/>
          </a:xfrm>
          <a:prstGeom prst="rect">
            <a:avLst/>
          </a:prstGeom>
          <a:noFill/>
        </p:spPr>
        <p:txBody>
          <a:bodyPr wrap="square" lIns="0" rIns="0" tIns="0" bIns="0">
            <a:spAutoFit/>
          </a:bodyPr>
          <a:lstStyle/>
          <a:p>
            <a:pPr>
              <a:spcAft>
                <a:spcPts val="0"/>
              </a:spcAft>
              <a:defRPr sz="1200" b="1">
                <a:solidFill>
                  <a:srgbClr val="BA1B4D"/>
                </a:solidFill>
                <a:latin typeface="Arial"/>
              </a:defRPr>
            </a:pPr>
            <a:r>
              <a:t>01   /   SUBSTITUTION</a:t>
            </a:r>
          </a:p>
        </p:txBody>
      </p:sp>
      <p:sp>
        <p:nvSpPr>
          <p:cNvPr id="552" name="TextBox 551"/>
          <p:cNvSpPr txBox="1"/>
          <p:nvPr/>
        </p:nvSpPr>
        <p:spPr>
          <a:xfrm>
            <a:off x="8375904" y="2651760"/>
            <a:ext cx="3017520" cy="777240"/>
          </a:xfrm>
          <a:prstGeom prst="rect">
            <a:avLst/>
          </a:prstGeom>
          <a:noFill/>
        </p:spPr>
        <p:txBody>
          <a:bodyPr wrap="square" lIns="0" rIns="0" tIns="0" bIns="0">
            <a:spAutoFit/>
          </a:bodyPr>
          <a:lstStyle/>
          <a:p>
            <a:pPr>
              <a:spcAft>
                <a:spcPts val="0"/>
              </a:spcAft>
              <a:defRPr sz="2300" b="1">
                <a:solidFill>
                  <a:srgbClr val="38343A"/>
                </a:solidFill>
                <a:latin typeface="Arial"/>
              </a:defRPr>
            </a:pPr>
            <a:r>
              <a:t>Higher reward</a:t>
            </a:r>
          </a:p>
          <a:p>
            <a:pPr>
              <a:spcAft>
                <a:spcPts val="0"/>
              </a:spcAft>
              <a:defRPr sz="2300" b="1">
                <a:solidFill>
                  <a:srgbClr val="38343A"/>
                </a:solidFill>
                <a:latin typeface="Arial"/>
              </a:defRPr>
            </a:pPr>
            <a:r>
              <a:t>from extra work</a:t>
            </a:r>
          </a:p>
        </p:txBody>
      </p:sp>
      <p:sp>
        <p:nvSpPr>
          <p:cNvPr id="553" name="TextBox 552"/>
          <p:cNvSpPr txBox="1"/>
          <p:nvPr/>
        </p:nvSpPr>
        <p:spPr>
          <a:xfrm>
            <a:off x="8375904" y="3538728"/>
            <a:ext cx="2971800" cy="365760"/>
          </a:xfrm>
          <a:prstGeom prst="rect">
            <a:avLst/>
          </a:prstGeom>
          <a:noFill/>
        </p:spPr>
        <p:txBody>
          <a:bodyPr wrap="square" lIns="0" rIns="0" tIns="0" bIns="0">
            <a:spAutoFit/>
          </a:bodyPr>
          <a:lstStyle/>
          <a:p>
            <a:pPr>
              <a:spcAft>
                <a:spcPts val="0"/>
              </a:spcAft>
              <a:defRPr sz="1500" b="0">
                <a:solidFill>
                  <a:srgbClr val="777179"/>
                </a:solidFill>
                <a:latin typeface="Arial"/>
              </a:defRPr>
            </a:pPr>
            <a:r>
              <a:t>Less leisure → more work</a:t>
            </a:r>
          </a:p>
        </p:txBody>
      </p:sp>
      <p:cxnSp>
        <p:nvCxnSpPr>
          <p:cNvPr id="554" name="Connector 553"/>
          <p:cNvCxnSpPr/>
          <p:nvPr/>
        </p:nvCxnSpPr>
        <p:spPr>
          <a:xfrm>
            <a:off x="8375904" y="4041648"/>
            <a:ext cx="2962656" cy="0"/>
          </a:xfrm>
          <a:prstGeom prst="line">
            <a:avLst/>
          </a:prstGeom>
          <a:ln w="8890">
            <a:solidFill>
              <a:srgbClr val="DFD5DA"/>
            </a:solidFill>
          </a:ln>
          <a:effectLst/>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8375904" y="4297680"/>
            <a:ext cx="2962656" cy="228600"/>
          </a:xfrm>
          <a:prstGeom prst="rect">
            <a:avLst/>
          </a:prstGeom>
          <a:noFill/>
        </p:spPr>
        <p:txBody>
          <a:bodyPr wrap="square" lIns="0" rIns="0" tIns="0" bIns="0">
            <a:spAutoFit/>
          </a:bodyPr>
          <a:lstStyle/>
          <a:p>
            <a:pPr>
              <a:spcAft>
                <a:spcPts val="0"/>
              </a:spcAft>
              <a:defRPr sz="1200" b="1">
                <a:solidFill>
                  <a:srgbClr val="E06E33"/>
                </a:solidFill>
                <a:latin typeface="Arial"/>
              </a:defRPr>
            </a:pPr>
            <a:r>
              <a:t>02   /   INCOME</a:t>
            </a:r>
          </a:p>
        </p:txBody>
      </p:sp>
      <p:sp>
        <p:nvSpPr>
          <p:cNvPr id="556" name="TextBox 555"/>
          <p:cNvSpPr txBox="1"/>
          <p:nvPr/>
        </p:nvSpPr>
        <p:spPr>
          <a:xfrm>
            <a:off x="8375904" y="4690872"/>
            <a:ext cx="3017520" cy="475488"/>
          </a:xfrm>
          <a:prstGeom prst="rect">
            <a:avLst/>
          </a:prstGeom>
          <a:noFill/>
        </p:spPr>
        <p:txBody>
          <a:bodyPr wrap="square" lIns="0" rIns="0" tIns="0" bIns="0">
            <a:spAutoFit/>
          </a:bodyPr>
          <a:lstStyle/>
          <a:p>
            <a:pPr>
              <a:spcAft>
                <a:spcPts val="0"/>
              </a:spcAft>
              <a:defRPr sz="2300" b="1">
                <a:solidFill>
                  <a:srgbClr val="38343A"/>
                </a:solidFill>
                <a:latin typeface="Arial"/>
              </a:defRPr>
            </a:pPr>
            <a:r>
              <a:t>More leisure</a:t>
            </a:r>
          </a:p>
        </p:txBody>
      </p:sp>
      <p:sp>
        <p:nvSpPr>
          <p:cNvPr id="557" name="TextBox 556"/>
          <p:cNvSpPr txBox="1"/>
          <p:nvPr/>
        </p:nvSpPr>
        <p:spPr>
          <a:xfrm>
            <a:off x="8375904" y="5294376"/>
            <a:ext cx="2971800" cy="329184"/>
          </a:xfrm>
          <a:prstGeom prst="rect">
            <a:avLst/>
          </a:prstGeom>
          <a:noFill/>
        </p:spPr>
        <p:txBody>
          <a:bodyPr wrap="square" lIns="0" rIns="0" tIns="0" bIns="0">
            <a:spAutoFit/>
          </a:bodyPr>
          <a:lstStyle/>
          <a:p>
            <a:pPr>
              <a:spcAft>
                <a:spcPts val="0"/>
              </a:spcAft>
              <a:defRPr sz="1500" b="0">
                <a:solidFill>
                  <a:srgbClr val="777179"/>
                </a:solidFill>
                <a:latin typeface="Arial"/>
              </a:defRPr>
            </a:pPr>
            <a:r>
              <a:t>Higher income → less work</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4"/>
          <p:cNvSpPr/>
          <p:nvPr/>
        </p:nvSpPr>
        <p:spPr>
          <a:xfrm>
            <a:off x="0" y="0"/>
            <a:ext cx="12192000" cy="67151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6" name="Google Shape;566;p34"/>
          <p:cNvSpPr/>
          <p:nvPr/>
        </p:nvSpPr>
        <p:spPr>
          <a:xfrm>
            <a:off x="5596237" y="0"/>
            <a:ext cx="1727427" cy="67151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7" name="Google Shape;567;p34"/>
          <p:cNvSpPr txBox="1"/>
          <p:nvPr/>
        </p:nvSpPr>
        <p:spPr>
          <a:xfrm>
            <a:off x="2775026" y="90318"/>
            <a:ext cx="21515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Policy background</a:t>
            </a:r>
            <a:endParaRPr sz="1400">
              <a:solidFill>
                <a:schemeClr val="lt1"/>
              </a:solidFill>
              <a:latin typeface="Arial"/>
              <a:ea typeface="Arial"/>
              <a:cs typeface="Arial"/>
              <a:sym typeface="Arial"/>
            </a:endParaRPr>
          </a:p>
        </p:txBody>
      </p:sp>
      <p:sp>
        <p:nvSpPr>
          <p:cNvPr id="568" name="Google Shape;568;p34"/>
          <p:cNvSpPr txBox="1"/>
          <p:nvPr/>
        </p:nvSpPr>
        <p:spPr>
          <a:xfrm>
            <a:off x="5705965" y="90318"/>
            <a:ext cx="150797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Economic efficiency</a:t>
            </a:r>
            <a:endParaRPr sz="1400">
              <a:solidFill>
                <a:schemeClr val="lt1"/>
              </a:solidFill>
              <a:latin typeface="Arial"/>
              <a:ea typeface="Arial"/>
              <a:cs typeface="Arial"/>
              <a:sym typeface="Arial"/>
            </a:endParaRPr>
          </a:p>
        </p:txBody>
      </p:sp>
      <p:sp>
        <p:nvSpPr>
          <p:cNvPr id="569" name="Google Shape;569;p34"/>
          <p:cNvSpPr txBox="1"/>
          <p:nvPr/>
        </p:nvSpPr>
        <p:spPr>
          <a:xfrm>
            <a:off x="7993346"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Distributional equity</a:t>
            </a:r>
            <a:endParaRPr sz="1400">
              <a:solidFill>
                <a:schemeClr val="lt1"/>
              </a:solidFill>
              <a:latin typeface="Arial"/>
              <a:ea typeface="Arial"/>
              <a:cs typeface="Arial"/>
              <a:sym typeface="Arial"/>
            </a:endParaRPr>
          </a:p>
        </p:txBody>
      </p:sp>
      <p:sp>
        <p:nvSpPr>
          <p:cNvPr id="570" name="Google Shape;570;p34"/>
          <p:cNvSpPr txBox="1"/>
          <p:nvPr/>
        </p:nvSpPr>
        <p:spPr>
          <a:xfrm>
            <a:off x="10253501"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Fiscal sustainability</a:t>
            </a:r>
            <a:endParaRPr sz="1400">
              <a:solidFill>
                <a:schemeClr val="lt1"/>
              </a:solidFill>
              <a:latin typeface="Arial"/>
              <a:ea typeface="Arial"/>
              <a:cs typeface="Arial"/>
              <a:sym typeface="Arial"/>
            </a:endParaRPr>
          </a:p>
        </p:txBody>
      </p:sp>
      <p:cxnSp>
        <p:nvCxnSpPr>
          <p:cNvPr id="571" name="Google Shape;571;p34"/>
          <p:cNvCxnSpPr/>
          <p:nvPr/>
        </p:nvCxnSpPr>
        <p:spPr>
          <a:xfrm>
            <a:off x="618938" y="1444007"/>
            <a:ext cx="11573062" cy="0"/>
          </a:xfrm>
          <a:prstGeom prst="straightConnector1">
            <a:avLst/>
          </a:prstGeom>
          <a:noFill/>
          <a:ln cap="flat" cmpd="sng" w="9525">
            <a:solidFill>
              <a:schemeClr val="accent1"/>
            </a:solidFill>
            <a:prstDash val="solid"/>
            <a:miter lim="800000"/>
            <a:headEnd len="sm" w="sm" type="none"/>
            <a:tailEnd len="sm" w="sm" type="none"/>
          </a:ln>
        </p:spPr>
      </p:cxnSp>
      <p:sp>
        <p:nvSpPr>
          <p:cNvPr id="572" name="Google Shape;572;p34"/>
          <p:cNvSpPr txBox="1"/>
          <p:nvPr/>
        </p:nvSpPr>
        <p:spPr>
          <a:xfrm>
            <a:off x="577440" y="947427"/>
            <a:ext cx="10728449"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1"/>
              </a:buClr>
              <a:buSzPts val="1920"/>
              <a:buFont typeface="Noto Sans Symbols"/>
              <a:buChar char="■"/>
            </a:pPr>
            <a:r>
              <a:rPr b="1" lang="en" sz="2400">
                <a:solidFill>
                  <a:schemeClr val="accent1"/>
                </a:solidFill>
                <a:latin typeface="Arial"/>
                <a:ea typeface="Arial"/>
                <a:cs typeface="Arial"/>
                <a:sym typeface="Arial"/>
              </a:rPr>
              <a:t>Laffer curve: behavioural gains and fiscal effects</a:t>
            </a:r>
            <a:endParaRPr b="1" sz="2400">
              <a:solidFill>
                <a:schemeClr val="accent1"/>
              </a:solidFill>
              <a:latin typeface="Arial"/>
              <a:ea typeface="Arial"/>
              <a:cs typeface="Arial"/>
              <a:sym typeface="Arial"/>
            </a:endParaRPr>
          </a:p>
        </p:txBody>
      </p:sp>
      <p:sp>
        <p:nvSpPr>
          <p:cNvPr id="573" name="Google Shape;573;p34"/>
          <p:cNvSpPr/>
          <p:nvPr/>
        </p:nvSpPr>
        <p:spPr>
          <a:xfrm>
            <a:off x="11566098" y="6300679"/>
            <a:ext cx="333982" cy="333980"/>
          </a:xfrm>
          <a:prstGeom prst="ellipse">
            <a:avLst/>
          </a:prstGeom>
          <a:noFill/>
          <a:ln cap="flat" cmpd="sng" w="9525">
            <a:solidFill>
              <a:schemeClr val="accent1">
                <a:alpha val="66666"/>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4" name="Google Shape;574;p34"/>
          <p:cNvSpPr txBox="1"/>
          <p:nvPr>
            <p:ph idx="12" type="sldNum"/>
          </p:nvPr>
        </p:nvSpPr>
        <p:spPr>
          <a:xfrm>
            <a:off x="11425352" y="6290983"/>
            <a:ext cx="615471"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3</a:t>
            </a:r>
            <a:endParaRPr b="1">
              <a:solidFill>
                <a:schemeClr val="accent1"/>
              </a:solidFill>
              <a:latin typeface="Arial"/>
              <a:ea typeface="Arial"/>
              <a:cs typeface="Arial"/>
              <a:sym typeface="Arial"/>
            </a:endParaRPr>
          </a:p>
        </p:txBody>
      </p:sp>
      <p:pic>
        <p:nvPicPr>
          <p:cNvPr id="583" name="Google Shape;583;p34"/>
          <p:cNvPicPr preferRelativeResize="0"/>
          <p:nvPr/>
        </p:nvPicPr>
        <p:blipFill rotWithShape="1">
          <a:blip r:embed="rId3">
            <a:alphaModFix/>
          </a:blip>
          <a:srcRect b="0" l="0" r="0" t="0"/>
          <a:stretch/>
        </p:blipFill>
        <p:spPr>
          <a:xfrm>
            <a:off x="657492" y="93765"/>
            <a:ext cx="797795" cy="448456"/>
          </a:xfrm>
          <a:prstGeom prst="rect">
            <a:avLst/>
          </a:prstGeom>
          <a:noFill/>
          <a:ln>
            <a:noFill/>
          </a:ln>
        </p:spPr>
      </p:pic>
      <p:sp>
        <p:nvSpPr>
          <p:cNvPr id="584" name="TextBox 583"/>
          <p:cNvSpPr txBox="1"/>
          <p:nvPr/>
        </p:nvSpPr>
        <p:spPr>
          <a:xfrm>
            <a:off x="713232" y="6016752"/>
            <a:ext cx="10607040" cy="228600"/>
          </a:xfrm>
          <a:prstGeom prst="rect">
            <a:avLst/>
          </a:prstGeom>
          <a:noFill/>
        </p:spPr>
        <p:txBody>
          <a:bodyPr wrap="square" lIns="0" rIns="0" tIns="0" bIns="0">
            <a:spAutoFit/>
          </a:bodyPr>
          <a:lstStyle/>
          <a:p>
            <a:pPr>
              <a:spcAft>
                <a:spcPts val="0"/>
              </a:spcAft>
              <a:defRPr sz="1000" b="0">
                <a:solidFill>
                  <a:srgbClr val="666666"/>
                </a:solidFill>
                <a:latin typeface="Arial"/>
              </a:defRPr>
            </a:pPr>
            <a:r>
              <a:t>Sources: Hemming and Kay (1980); OBR (2024), paras. 3.9–3.10. Diagram: theoretical illustration; OBR figures: forecasts.</a:t>
            </a:r>
          </a:p>
        </p:txBody>
      </p:sp>
      <p:sp>
        <p:nvSpPr>
          <p:cNvPr id="585" name="TextBox 584"/>
          <p:cNvSpPr txBox="1"/>
          <p:nvPr/>
        </p:nvSpPr>
        <p:spPr>
          <a:xfrm>
            <a:off x="777240" y="1700784"/>
            <a:ext cx="6858000" cy="320040"/>
          </a:xfrm>
          <a:prstGeom prst="rect">
            <a:avLst/>
          </a:prstGeom>
          <a:noFill/>
        </p:spPr>
        <p:txBody>
          <a:bodyPr wrap="square" lIns="0" rIns="0" tIns="0" bIns="0">
            <a:spAutoFit/>
          </a:bodyPr>
          <a:lstStyle/>
          <a:p>
            <a:pPr>
              <a:spcAft>
                <a:spcPts val="0"/>
              </a:spcAft>
              <a:defRPr sz="1700" b="0">
                <a:solidFill>
                  <a:srgbClr val="666666"/>
                </a:solidFill>
                <a:latin typeface="Arial"/>
              </a:defRPr>
            </a:pPr>
            <a:r>
              <a:t>Tax revenue = tax rate × taxable base</a:t>
            </a:r>
          </a:p>
        </p:txBody>
      </p:sp>
      <p:pic>
        <p:nvPicPr>
          <p:cNvPr id="586" name="Picture 585" descr="template_chart3.png"/>
          <p:cNvPicPr>
            <a:picLocks noChangeAspect="1"/>
          </p:cNvPicPr>
          <p:nvPr/>
        </p:nvPicPr>
        <p:blipFill>
          <a:blip r:embed="rId5"/>
          <a:stretch>
            <a:fillRect/>
          </a:stretch>
        </p:blipFill>
        <p:spPr>
          <a:xfrm>
            <a:off x="731520" y="2103120"/>
            <a:ext cx="7223760" cy="3559112"/>
          </a:xfrm>
          <a:prstGeom prst="rect">
            <a:avLst/>
          </a:prstGeom>
        </p:spPr>
      </p:pic>
      <p:sp>
        <p:nvSpPr>
          <p:cNvPr id="594" name="TextBox 593"/>
          <p:cNvSpPr txBox="1"/>
          <p:nvPr/>
        </p:nvSpPr>
        <p:spPr>
          <a:xfrm>
            <a:off x="932688" y="5669280"/>
            <a:ext cx="10424160" cy="274320"/>
          </a:xfrm>
          <a:prstGeom prst="rect">
            <a:avLst/>
          </a:prstGeom>
          <a:noFill/>
        </p:spPr>
        <p:txBody>
          <a:bodyPr wrap="square" lIns="0" rIns="0" tIns="0" bIns="0">
            <a:spAutoFit/>
          </a:bodyPr>
          <a:lstStyle/>
          <a:p>
            <a:pPr>
              <a:spcAft>
                <a:spcPts val="0"/>
              </a:spcAft>
              <a:defRPr sz="2000" b="1">
                <a:solidFill>
                  <a:srgbClr val="BA1B4D"/>
                </a:solidFill>
                <a:latin typeface="Arial"/>
              </a:defRPr>
            </a:pPr>
            <a:r>
              <a:t>Stronger work incentives, supported by sustainable financing</a:t>
            </a:r>
          </a:p>
        </p:txBody>
      </p:sp>
      <p:cxnSp>
        <p:nvCxnSpPr>
          <p:cNvPr id="595" name="Connector 594"/>
          <p:cNvCxnSpPr/>
          <p:nvPr/>
        </p:nvCxnSpPr>
        <p:spPr>
          <a:xfrm>
            <a:off x="8028431" y="2139696"/>
            <a:ext cx="0" cy="3419856"/>
          </a:xfrm>
          <a:prstGeom prst="line">
            <a:avLst/>
          </a:prstGeom>
          <a:ln w="8890">
            <a:solidFill>
              <a:srgbClr val="DFD5DA"/>
            </a:solidFill>
          </a:ln>
          <a:effectLst/>
        </p:spPr>
        <p:style>
          <a:lnRef idx="2">
            <a:schemeClr val="accent1"/>
          </a:lnRef>
          <a:fillRef idx="0">
            <a:schemeClr val="accent1"/>
          </a:fillRef>
          <a:effectRef idx="1">
            <a:schemeClr val="accent1"/>
          </a:effectRef>
          <a:fontRef idx="minor">
            <a:schemeClr val="tx1"/>
          </a:fontRef>
        </p:style>
      </p:cxnSp>
      <p:sp>
        <p:nvSpPr>
          <p:cNvPr id="596" name="TextBox 595"/>
          <p:cNvSpPr txBox="1"/>
          <p:nvPr/>
        </p:nvSpPr>
        <p:spPr>
          <a:xfrm>
            <a:off x="8375904" y="2212848"/>
            <a:ext cx="2971800" cy="256032"/>
          </a:xfrm>
          <a:prstGeom prst="rect">
            <a:avLst/>
          </a:prstGeom>
          <a:noFill/>
        </p:spPr>
        <p:txBody>
          <a:bodyPr wrap="square" lIns="0" rIns="0" tIns="0" bIns="0">
            <a:spAutoFit/>
          </a:bodyPr>
          <a:lstStyle/>
          <a:p>
            <a:pPr>
              <a:spcAft>
                <a:spcPts val="0"/>
              </a:spcAft>
              <a:defRPr sz="1200" b="1">
                <a:solidFill>
                  <a:srgbClr val="BA1B4D"/>
                </a:solidFill>
                <a:latin typeface="Arial"/>
              </a:defRPr>
            </a:pPr>
            <a:r>
              <a:t>OBR  /  MARCH 2024</a:t>
            </a:r>
          </a:p>
        </p:txBody>
      </p:sp>
      <p:sp>
        <p:nvSpPr>
          <p:cNvPr id="597" name="TextBox 596"/>
          <p:cNvSpPr txBox="1"/>
          <p:nvPr/>
        </p:nvSpPr>
        <p:spPr>
          <a:xfrm>
            <a:off x="8321040" y="2724912"/>
            <a:ext cx="3108960" cy="731520"/>
          </a:xfrm>
          <a:prstGeom prst="rect">
            <a:avLst/>
          </a:prstGeom>
          <a:noFill/>
        </p:spPr>
        <p:txBody>
          <a:bodyPr wrap="square" lIns="0" rIns="0" tIns="0" bIns="0">
            <a:spAutoFit/>
          </a:bodyPr>
          <a:lstStyle/>
          <a:p>
            <a:pPr>
              <a:spcAft>
                <a:spcPts val="0"/>
              </a:spcAft>
              <a:defRPr sz="4200" b="1">
                <a:solidFill>
                  <a:srgbClr val="BA1B4D"/>
                </a:solidFill>
                <a:latin typeface="Arial"/>
              </a:defRPr>
            </a:pPr>
            <a:r>
              <a:t>98,000</a:t>
            </a:r>
          </a:p>
        </p:txBody>
      </p:sp>
      <p:sp>
        <p:nvSpPr>
          <p:cNvPr id="598" name="TextBox 597"/>
          <p:cNvSpPr txBox="1"/>
          <p:nvPr/>
        </p:nvSpPr>
        <p:spPr>
          <a:xfrm>
            <a:off x="8375904" y="3483864"/>
            <a:ext cx="2971800" cy="246888"/>
          </a:xfrm>
          <a:prstGeom prst="rect">
            <a:avLst/>
          </a:prstGeom>
          <a:noFill/>
        </p:spPr>
        <p:txBody>
          <a:bodyPr wrap="square" lIns="0" rIns="0" tIns="0" bIns="0">
            <a:spAutoFit/>
          </a:bodyPr>
          <a:lstStyle/>
          <a:p>
            <a:pPr>
              <a:spcAft>
                <a:spcPts val="0"/>
              </a:spcAft>
              <a:defRPr sz="1400" b="0">
                <a:solidFill>
                  <a:srgbClr val="777179"/>
                </a:solidFill>
                <a:latin typeface="Arial"/>
              </a:defRPr>
            </a:pPr>
            <a:r>
              <a:t>full-time equivalents</a:t>
            </a:r>
          </a:p>
        </p:txBody>
      </p:sp>
      <p:sp>
        <p:nvSpPr>
          <p:cNvPr id="599" name="TextBox 598"/>
          <p:cNvSpPr txBox="1"/>
          <p:nvPr/>
        </p:nvSpPr>
        <p:spPr>
          <a:xfrm>
            <a:off x="8375904" y="3785615"/>
            <a:ext cx="2971800" cy="274320"/>
          </a:xfrm>
          <a:prstGeom prst="rect">
            <a:avLst/>
          </a:prstGeom>
          <a:noFill/>
        </p:spPr>
        <p:txBody>
          <a:bodyPr wrap="square" lIns="0" rIns="0" tIns="0" bIns="0">
            <a:spAutoFit/>
          </a:bodyPr>
          <a:lstStyle/>
          <a:p>
            <a:pPr>
              <a:spcAft>
                <a:spcPts val="0"/>
              </a:spcAft>
              <a:defRPr sz="1600" b="0">
                <a:solidFill>
                  <a:srgbClr val="38343A"/>
                </a:solidFill>
                <a:latin typeface="Arial"/>
              </a:defRPr>
            </a:pPr>
            <a:r>
              <a:t>Additional labour supply</a:t>
            </a:r>
          </a:p>
        </p:txBody>
      </p:sp>
      <p:cxnSp>
        <p:nvCxnSpPr>
          <p:cNvPr id="600" name="Connector 599"/>
          <p:cNvCxnSpPr/>
          <p:nvPr/>
        </p:nvCxnSpPr>
        <p:spPr>
          <a:xfrm>
            <a:off x="8375904" y="4297680"/>
            <a:ext cx="2962656" cy="0"/>
          </a:xfrm>
          <a:prstGeom prst="line">
            <a:avLst/>
          </a:prstGeom>
          <a:ln w="8890">
            <a:solidFill>
              <a:srgbClr val="DFD5DA"/>
            </a:solidFill>
          </a:ln>
          <a:effectLst/>
        </p:spPr>
        <p:style>
          <a:lnRef idx="2">
            <a:schemeClr val="accent1"/>
          </a:lnRef>
          <a:fillRef idx="0">
            <a:schemeClr val="accent1"/>
          </a:fillRef>
          <a:effectRef idx="1">
            <a:schemeClr val="accent1"/>
          </a:effectRef>
          <a:fontRef idx="minor">
            <a:schemeClr val="tx1"/>
          </a:fontRef>
        </p:style>
      </p:cxnSp>
      <p:sp>
        <p:nvSpPr>
          <p:cNvPr id="601" name="TextBox 600"/>
          <p:cNvSpPr txBox="1"/>
          <p:nvPr/>
        </p:nvSpPr>
        <p:spPr>
          <a:xfrm>
            <a:off x="8321040" y="4553712"/>
            <a:ext cx="3108960" cy="676656"/>
          </a:xfrm>
          <a:prstGeom prst="rect">
            <a:avLst/>
          </a:prstGeom>
          <a:noFill/>
        </p:spPr>
        <p:txBody>
          <a:bodyPr wrap="square" lIns="0" rIns="0" tIns="0" bIns="0">
            <a:spAutoFit/>
          </a:bodyPr>
          <a:lstStyle/>
          <a:p>
            <a:pPr>
              <a:spcAft>
                <a:spcPts val="0"/>
              </a:spcAft>
              <a:defRPr sz="3800" b="1">
                <a:solidFill>
                  <a:srgbClr val="BA1B4D"/>
                </a:solidFill>
                <a:latin typeface="Arial"/>
              </a:defRPr>
            </a:pPr>
            <a:r>
              <a:t>≈20%</a:t>
            </a:r>
          </a:p>
        </p:txBody>
      </p:sp>
      <p:sp>
        <p:nvSpPr>
          <p:cNvPr id="602" name="TextBox 601"/>
          <p:cNvSpPr txBox="1"/>
          <p:nvPr/>
        </p:nvSpPr>
        <p:spPr>
          <a:xfrm>
            <a:off x="8375904" y="5294376"/>
            <a:ext cx="2971800" cy="502920"/>
          </a:xfrm>
          <a:prstGeom prst="rect">
            <a:avLst/>
          </a:prstGeom>
          <a:noFill/>
        </p:spPr>
        <p:txBody>
          <a:bodyPr wrap="square" lIns="0" rIns="0" tIns="0" bIns="0">
            <a:spAutoFit/>
          </a:bodyPr>
          <a:lstStyle/>
          <a:p>
            <a:pPr>
              <a:spcAft>
                <a:spcPts val="0"/>
              </a:spcAft>
              <a:defRPr sz="1600" b="0">
                <a:solidFill>
                  <a:srgbClr val="777179"/>
                </a:solidFill>
                <a:latin typeface="Arial"/>
              </a:defRPr>
            </a:pPr>
            <a:r>
              <a:t>of static fiscal cost recovered</a:t>
            </a:r>
          </a:p>
        </p:txBody>
      </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自定义 2853">
      <a:dk1>
        <a:srgbClr val="000000"/>
      </a:dk1>
      <a:lt1>
        <a:srgbClr val="FFFFFF"/>
      </a:lt1>
      <a:dk2>
        <a:srgbClr val="44546A"/>
      </a:dk2>
      <a:lt2>
        <a:srgbClr val="E7E6E6"/>
      </a:lt2>
      <a:accent1>
        <a:srgbClr val="BA1B4D"/>
      </a:accent1>
      <a:accent2>
        <a:srgbClr val="E06E33"/>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