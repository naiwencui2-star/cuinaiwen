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1</a:t>
            </a:r>
          </a:p>
          <a:p>
            <a:r>
              <a:t>Target: 35 seconds.</a:t>
            </a:r>
          </a:p>
          <a:p/>
          <a:p>
            <a:r>
              <a:t>My part explains how the National Insurance cuts affect economic efficiency. First, they increase the reward from additional work. With income tax fixed at twenty per cent, employees retain sixty-eight, seventy and then seventy-two pence from each extra pound earned. The combined increase is about five point nine per cent. This calculation applies to earnings within the main National Insurance band. It shows how the policy strengthens financial incentives.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2</a:t>
            </a:r>
          </a:p>
          <a:p>
            <a:r>
              <a:t>Target: 35 seconds.</a:t>
            </a:r>
          </a:p>
          <a:p/>
          <a:p>
            <a:r>
              <a:t>However, two effects influence working hours. The substitution effect makes leisure more expensive because an hour away from work now sacrifices more income. This encourages additional work. The income effect operates in the opposite direction: higher disposable income allows people to enjoy more leisure. The final response depends on their relative strength. We should also distinguish entering employment from changing hours among existing workers.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MEMBER C — SLIDE 3</a:t>
            </a:r>
          </a:p>
          <a:p>
            <a:r>
              <a:t>Target: 35 seconds.</a:t>
            </a:r>
          </a:p>
          <a:p/>
          <a:p>
            <a:r>
              <a:t>Finally, the Laffer curve links tax rates with the taxable base. Stronger work incentives can expand that base and recover some lost revenue. The OBR projected a labour-supply increase equivalent to ninety-eight thousand full-time workers and approximately twenty per cent recovery of the March measures’ static fiscal cost. My conclusion is that the cuts have a credible incentive rationale, while their overall value also depends on sustainable financing.</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F0"/>
        </a:solidFill>
        <a:effectLst/>
      </p:bgPr>
    </p:bg>
    <p:spTree>
      <p:nvGrpSpPr>
        <p:cNvPr id="1" name=""/>
        <p:cNvGrpSpPr/>
        <p:nvPr/>
      </p:nvGrpSpPr>
      <p:grpSpPr/>
      <p:sp>
        <p:nvSpPr>
          <p:cNvPr id="2" name="TextBox 1"/>
          <p:cNvSpPr txBox="1"/>
          <p:nvPr/>
        </p:nvSpPr>
        <p:spPr>
          <a:xfrm>
            <a:off x="594360" y="320040"/>
            <a:ext cx="7315200" cy="274320"/>
          </a:xfrm>
          <a:prstGeom prst="rect">
            <a:avLst/>
          </a:prstGeom>
          <a:noFill/>
        </p:spPr>
        <p:txBody>
          <a:bodyPr wrap="square" lIns="0" rIns="0" tIns="0" bIns="0">
            <a:spAutoFit/>
          </a:bodyPr>
          <a:lstStyle/>
          <a:p>
            <a:pPr>
              <a:spcAft>
                <a:spcPts val="0"/>
              </a:spcAft>
              <a:defRPr sz="1100" b="1">
                <a:solidFill>
                  <a:srgbClr val="7A7077"/>
                </a:solidFill>
                <a:latin typeface="Arial"/>
              </a:defRPr>
            </a:pPr>
            <a:r>
              <a:t>PIA6302    /    THE POLITICS OF TAX CUTS</a:t>
            </a:r>
          </a:p>
        </p:txBody>
      </p:sp>
      <p:sp>
        <p:nvSpPr>
          <p:cNvPr id="3" name="TextBox 2"/>
          <p:cNvSpPr txBox="1"/>
          <p:nvPr/>
        </p:nvSpPr>
        <p:spPr>
          <a:xfrm>
            <a:off x="594360" y="868680"/>
            <a:ext cx="6400800" cy="274320"/>
          </a:xfrm>
          <a:prstGeom prst="rect">
            <a:avLst/>
          </a:prstGeom>
          <a:noFill/>
        </p:spPr>
        <p:txBody>
          <a:bodyPr wrap="square" lIns="0" rIns="0" tIns="0" bIns="0">
            <a:spAutoFit/>
          </a:bodyPr>
          <a:lstStyle/>
          <a:p>
            <a:pPr>
              <a:spcAft>
                <a:spcPts val="0"/>
              </a:spcAft>
              <a:defRPr sz="1200" b="1">
                <a:solidFill>
                  <a:srgbClr val="A71746"/>
                </a:solidFill>
                <a:latin typeface="Arial"/>
              </a:defRPr>
            </a:pPr>
            <a:r>
              <a:t>01   /   WORK INCENTIVES</a:t>
            </a:r>
          </a:p>
        </p:txBody>
      </p:sp>
      <p:sp>
        <p:nvSpPr>
          <p:cNvPr id="4" name="TextBox 3"/>
          <p:cNvSpPr txBox="1"/>
          <p:nvPr/>
        </p:nvSpPr>
        <p:spPr>
          <a:xfrm>
            <a:off x="10378440" y="274320"/>
            <a:ext cx="1188720" cy="320040"/>
          </a:xfrm>
          <a:prstGeom prst="rect">
            <a:avLst/>
          </a:prstGeom>
          <a:noFill/>
        </p:spPr>
        <p:txBody>
          <a:bodyPr wrap="square" lIns="0" rIns="0" tIns="0" bIns="0">
            <a:spAutoFit/>
          </a:bodyPr>
          <a:lstStyle/>
          <a:p>
            <a:pPr>
              <a:spcAft>
                <a:spcPts val="0"/>
              </a:spcAft>
              <a:defRPr sz="2200" b="1">
                <a:solidFill>
                  <a:srgbClr val="A71746"/>
                </a:solidFill>
                <a:latin typeface="Arial"/>
              </a:defRPr>
            </a:pPr>
            <a:r>
              <a:t>CityU</a:t>
            </a:r>
          </a:p>
        </p:txBody>
      </p:sp>
      <p:cxnSp>
        <p:nvCxnSpPr>
          <p:cNvPr id="5" name="Connector 4"/>
          <p:cNvCxnSpPr/>
          <p:nvPr/>
        </p:nvCxnSpPr>
        <p:spPr>
          <a:xfrm>
            <a:off x="594360" y="6291072"/>
            <a:ext cx="10972800" cy="0"/>
          </a:xfrm>
          <a:prstGeom prst="line">
            <a:avLst/>
          </a:prstGeom>
          <a:ln w="8890">
            <a:solidFill>
              <a:srgbClr val="D9D0D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37376"/>
            <a:ext cx="8229600" cy="182880"/>
          </a:xfrm>
          <a:prstGeom prst="rect">
            <a:avLst/>
          </a:prstGeom>
          <a:noFill/>
        </p:spPr>
        <p:txBody>
          <a:bodyPr wrap="square" lIns="0" rIns="0" tIns="0" bIns="0">
            <a:spAutoFit/>
          </a:bodyPr>
          <a:lstStyle/>
          <a:p>
            <a:pPr>
              <a:spcAft>
                <a:spcPts val="0"/>
              </a:spcAft>
              <a:defRPr sz="900" b="0">
                <a:solidFill>
                  <a:srgbClr val="7A7077"/>
                </a:solidFill>
                <a:latin typeface="Arial"/>
              </a:defRPr>
            </a:pPr>
            <a:r>
              <a:t>MEMBER C   /   ECONOMIC EFFICIENCY</a:t>
            </a:r>
          </a:p>
        </p:txBody>
      </p:sp>
      <p:sp>
        <p:nvSpPr>
          <p:cNvPr id="7" name="TextBox 6"/>
          <p:cNvSpPr txBox="1"/>
          <p:nvPr/>
        </p:nvSpPr>
        <p:spPr>
          <a:xfrm>
            <a:off x="10497312" y="6400800"/>
            <a:ext cx="1051560" cy="228600"/>
          </a:xfrm>
          <a:prstGeom prst="rect">
            <a:avLst/>
          </a:prstGeom>
          <a:noFill/>
        </p:spPr>
        <p:txBody>
          <a:bodyPr wrap="square" lIns="0" rIns="0" tIns="0" bIns="0">
            <a:spAutoFit/>
          </a:bodyPr>
          <a:lstStyle/>
          <a:p>
            <a:pPr>
              <a:spcAft>
                <a:spcPts val="0"/>
              </a:spcAft>
              <a:defRPr sz="1100" b="0">
                <a:solidFill>
                  <a:srgbClr val="7A7077"/>
                </a:solidFill>
                <a:latin typeface="Arial"/>
              </a:defRPr>
            </a:pPr>
            <a:r>
              <a:t>01 / 03</a:t>
            </a:r>
          </a:p>
        </p:txBody>
      </p:sp>
      <p:sp>
        <p:nvSpPr>
          <p:cNvPr id="8" name="TextBox 7"/>
          <p:cNvSpPr txBox="1"/>
          <p:nvPr/>
        </p:nvSpPr>
        <p:spPr>
          <a:xfrm>
            <a:off x="594360" y="1417320"/>
            <a:ext cx="5212080" cy="1645920"/>
          </a:xfrm>
          <a:prstGeom prst="rect">
            <a:avLst/>
          </a:prstGeom>
          <a:noFill/>
        </p:spPr>
        <p:txBody>
          <a:bodyPr wrap="square" lIns="0" rIns="0" tIns="0" bIns="0">
            <a:spAutoFit/>
          </a:bodyPr>
          <a:lstStyle/>
          <a:p>
            <a:pPr>
              <a:spcAft>
                <a:spcPts val="0"/>
              </a:spcAft>
              <a:defRPr sz="4200" b="0">
                <a:solidFill>
                  <a:srgbClr val="30242D"/>
                </a:solidFill>
                <a:latin typeface="Georgia"/>
              </a:defRPr>
            </a:pPr>
            <a:r>
              <a:t>A stronger</a:t>
            </a:r>
          </a:p>
          <a:p>
            <a:pPr>
              <a:spcAft>
                <a:spcPts val="0"/>
              </a:spcAft>
              <a:defRPr sz="4200" b="0">
                <a:solidFill>
                  <a:srgbClr val="30242D"/>
                </a:solidFill>
                <a:latin typeface="Georgia"/>
              </a:defRPr>
            </a:pPr>
            <a:r>
              <a:t>return to work.</a:t>
            </a:r>
          </a:p>
        </p:txBody>
      </p:sp>
      <p:sp>
        <p:nvSpPr>
          <p:cNvPr id="9" name="TextBox 8"/>
          <p:cNvSpPr txBox="1"/>
          <p:nvPr/>
        </p:nvSpPr>
        <p:spPr>
          <a:xfrm>
            <a:off x="640080" y="3310128"/>
            <a:ext cx="4389120" cy="822960"/>
          </a:xfrm>
          <a:prstGeom prst="rect">
            <a:avLst/>
          </a:prstGeom>
          <a:noFill/>
        </p:spPr>
        <p:txBody>
          <a:bodyPr wrap="square" lIns="0" rIns="0" tIns="0" bIns="0">
            <a:spAutoFit/>
          </a:bodyPr>
          <a:lstStyle/>
          <a:p>
            <a:pPr>
              <a:spcAft>
                <a:spcPts val="0"/>
              </a:spcAft>
              <a:defRPr sz="2100" b="0">
                <a:solidFill>
                  <a:srgbClr val="7A7077"/>
                </a:solidFill>
                <a:latin typeface="Arial"/>
              </a:defRPr>
            </a:pPr>
            <a:r>
              <a:t>Less tax on the next pound.</a:t>
            </a:r>
          </a:p>
          <a:p>
            <a:pPr>
              <a:spcAft>
                <a:spcPts val="0"/>
              </a:spcAft>
              <a:defRPr sz="2100" b="0">
                <a:solidFill>
                  <a:srgbClr val="7A7077"/>
                </a:solidFill>
                <a:latin typeface="Arial"/>
              </a:defRPr>
            </a:pPr>
            <a:r>
              <a:t>A higher reward for extra work.</a:t>
            </a:r>
          </a:p>
        </p:txBody>
      </p:sp>
      <p:sp>
        <p:nvSpPr>
          <p:cNvPr id="10" name="TextBox 9"/>
          <p:cNvSpPr txBox="1"/>
          <p:nvPr/>
        </p:nvSpPr>
        <p:spPr>
          <a:xfrm>
            <a:off x="594360" y="4416552"/>
            <a:ext cx="2926080" cy="804672"/>
          </a:xfrm>
          <a:prstGeom prst="rect">
            <a:avLst/>
          </a:prstGeom>
          <a:noFill/>
        </p:spPr>
        <p:txBody>
          <a:bodyPr wrap="square" lIns="0" rIns="0" tIns="0" bIns="0">
            <a:spAutoFit/>
          </a:bodyPr>
          <a:lstStyle/>
          <a:p>
            <a:pPr>
              <a:spcAft>
                <a:spcPts val="0"/>
              </a:spcAft>
              <a:defRPr sz="5600" b="1">
                <a:solidFill>
                  <a:srgbClr val="A71746"/>
                </a:solidFill>
                <a:latin typeface="Arial"/>
              </a:defRPr>
            </a:pPr>
            <a:r>
              <a:t>+5.9%</a:t>
            </a:r>
          </a:p>
        </p:txBody>
      </p:sp>
      <p:sp>
        <p:nvSpPr>
          <p:cNvPr id="11" name="TextBox 10"/>
          <p:cNvSpPr txBox="1"/>
          <p:nvPr/>
        </p:nvSpPr>
        <p:spPr>
          <a:xfrm>
            <a:off x="667512" y="5312664"/>
            <a:ext cx="4480560" cy="594360"/>
          </a:xfrm>
          <a:prstGeom prst="rect">
            <a:avLst/>
          </a:prstGeom>
          <a:noFill/>
        </p:spPr>
        <p:txBody>
          <a:bodyPr wrap="square" lIns="0" rIns="0" tIns="0" bIns="0">
            <a:spAutoFit/>
          </a:bodyPr>
          <a:lstStyle/>
          <a:p>
            <a:pPr>
              <a:spcAft>
                <a:spcPts val="0"/>
              </a:spcAft>
              <a:defRPr sz="1400" b="0">
                <a:solidFill>
                  <a:srgbClr val="7A7077"/>
                </a:solidFill>
                <a:latin typeface="Arial"/>
              </a:defRPr>
            </a:pPr>
            <a:r>
              <a:t>Combined rise in marginal take-home pay</a:t>
            </a:r>
          </a:p>
          <a:p>
            <a:pPr>
              <a:spcAft>
                <a:spcPts val="0"/>
              </a:spcAft>
              <a:defRPr sz="1400" b="0">
                <a:solidFill>
                  <a:srgbClr val="7A7077"/>
                </a:solidFill>
                <a:latin typeface="Arial"/>
              </a:defRPr>
            </a:pPr>
            <a:r>
              <a:t>(72 − 68) / 68 × 100</a:t>
            </a:r>
          </a:p>
        </p:txBody>
      </p:sp>
      <p:cxnSp>
        <p:nvCxnSpPr>
          <p:cNvPr id="12" name="Connector 11"/>
          <p:cNvCxnSpPr/>
          <p:nvPr/>
        </p:nvCxnSpPr>
        <p:spPr>
          <a:xfrm>
            <a:off x="5532120" y="1417320"/>
            <a:ext cx="0" cy="4416552"/>
          </a:xfrm>
          <a:prstGeom prst="line">
            <a:avLst/>
          </a:prstGeom>
          <a:ln w="10160">
            <a:solidFill>
              <a:srgbClr val="D9D0D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0" y="1499616"/>
            <a:ext cx="5303520" cy="548640"/>
          </a:xfrm>
          <a:prstGeom prst="rect">
            <a:avLst/>
          </a:prstGeom>
          <a:noFill/>
        </p:spPr>
        <p:txBody>
          <a:bodyPr wrap="square" lIns="0" rIns="0" tIns="0" bIns="0">
            <a:spAutoFit/>
          </a:bodyPr>
          <a:lstStyle/>
          <a:p>
            <a:pPr>
              <a:spcAft>
                <a:spcPts val="0"/>
              </a:spcAft>
              <a:defRPr sz="1200" b="1">
                <a:solidFill>
                  <a:srgbClr val="7A7077"/>
                </a:solidFill>
                <a:latin typeface="Arial"/>
              </a:defRPr>
            </a:pPr>
            <a:r>
              <a:t>KEPT FROM EACH ADDITIONAL £1</a:t>
            </a:r>
          </a:p>
        </p:txBody>
      </p:sp>
      <p:sp>
        <p:nvSpPr>
          <p:cNvPr id="14" name="Freeform 13"/>
          <p:cNvSpPr/>
          <p:nvPr/>
        </p:nvSpPr>
        <p:spPr>
          <a:xfrm>
            <a:off x="6537960" y="2798064"/>
            <a:ext cx="4114800" cy="1389888"/>
          </a:xfrm>
          <a:custGeom>
            <a:avLst/>
            <a:gdLst/>
            <a:ahLst/>
            <a:cxnLst/>
            <a:rect l="l" t="t" r="r" b="b"/>
            <a:pathLst>
              <a:path w="4114800" h="1389888">
                <a:moveTo>
                  <a:pt x="0" y="1389888"/>
                </a:moveTo>
                <a:lnTo>
                  <a:pt x="2057400" y="694944"/>
                </a:lnTo>
                <a:lnTo>
                  <a:pt x="4114800" y="0"/>
                </a:lnTo>
              </a:path>
            </a:pathLst>
          </a:custGeom>
          <a:noFill/>
          <a:ln w="27940">
            <a:solidFill>
              <a:srgbClr val="D9D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537960" y="4325112"/>
            <a:ext cx="0" cy="493776"/>
          </a:xfrm>
          <a:prstGeom prst="line">
            <a:avLst/>
          </a:prstGeom>
          <a:ln w="10160">
            <a:solidFill>
              <a:srgbClr val="D9D0D2"/>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6455664" y="4105656"/>
            <a:ext cx="164592" cy="164592"/>
          </a:xfrm>
          <a:prstGeom prst="ellipse">
            <a:avLst/>
          </a:prstGeom>
          <a:solidFill>
            <a:srgbClr val="AA9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71032" y="3447288"/>
            <a:ext cx="1280160" cy="594360"/>
          </a:xfrm>
          <a:prstGeom prst="rect">
            <a:avLst/>
          </a:prstGeom>
          <a:noFill/>
        </p:spPr>
        <p:txBody>
          <a:bodyPr wrap="square" lIns="0" rIns="0" tIns="0" bIns="0">
            <a:spAutoFit/>
          </a:bodyPr>
          <a:lstStyle/>
          <a:p>
            <a:pPr>
              <a:spcAft>
                <a:spcPts val="0"/>
              </a:spcAft>
              <a:defRPr sz="3400" b="1">
                <a:solidFill>
                  <a:srgbClr val="AA9DA5"/>
                </a:solidFill>
                <a:latin typeface="Arial"/>
              </a:defRPr>
            </a:pPr>
            <a:r>
              <a:t>68p</a:t>
            </a:r>
          </a:p>
        </p:txBody>
      </p:sp>
      <p:sp>
        <p:nvSpPr>
          <p:cNvPr id="18" name="TextBox 17"/>
          <p:cNvSpPr txBox="1"/>
          <p:nvPr/>
        </p:nvSpPr>
        <p:spPr>
          <a:xfrm>
            <a:off x="5806440" y="5065776"/>
            <a:ext cx="1645920" cy="329184"/>
          </a:xfrm>
          <a:prstGeom prst="rect">
            <a:avLst/>
          </a:prstGeom>
          <a:noFill/>
        </p:spPr>
        <p:txBody>
          <a:bodyPr wrap="square" lIns="0" rIns="0" tIns="0" bIns="0">
            <a:spAutoFit/>
          </a:bodyPr>
          <a:lstStyle/>
          <a:p>
            <a:pPr>
              <a:spcAft>
                <a:spcPts val="0"/>
              </a:spcAft>
              <a:defRPr sz="1300" b="1">
                <a:solidFill>
                  <a:srgbClr val="30242D"/>
                </a:solidFill>
                <a:latin typeface="Arial"/>
              </a:defRPr>
            </a:pPr>
            <a:r>
              <a:t>Before Jan 2024</a:t>
            </a:r>
          </a:p>
        </p:txBody>
      </p:sp>
      <p:sp>
        <p:nvSpPr>
          <p:cNvPr id="19" name="TextBox 18"/>
          <p:cNvSpPr txBox="1"/>
          <p:nvPr/>
        </p:nvSpPr>
        <p:spPr>
          <a:xfrm>
            <a:off x="5806440" y="5477256"/>
            <a:ext cx="1645920" cy="274320"/>
          </a:xfrm>
          <a:prstGeom prst="rect">
            <a:avLst/>
          </a:prstGeom>
          <a:noFill/>
        </p:spPr>
        <p:txBody>
          <a:bodyPr wrap="square" lIns="0" rIns="0" tIns="0" bIns="0">
            <a:spAutoFit/>
          </a:bodyPr>
          <a:lstStyle/>
          <a:p>
            <a:pPr>
              <a:spcAft>
                <a:spcPts val="0"/>
              </a:spcAft>
              <a:defRPr sz="1300" b="0">
                <a:solidFill>
                  <a:srgbClr val="7A7077"/>
                </a:solidFill>
                <a:latin typeface="Arial"/>
              </a:defRPr>
            </a:pPr>
            <a:r>
              <a:t>NICs 12%</a:t>
            </a:r>
          </a:p>
        </p:txBody>
      </p:sp>
      <p:cxnSp>
        <p:nvCxnSpPr>
          <p:cNvPr id="20" name="Connector 19"/>
          <p:cNvCxnSpPr/>
          <p:nvPr/>
        </p:nvCxnSpPr>
        <p:spPr>
          <a:xfrm>
            <a:off x="8595360" y="3630168"/>
            <a:ext cx="0" cy="1188720"/>
          </a:xfrm>
          <a:prstGeom prst="line">
            <a:avLst/>
          </a:prstGeom>
          <a:ln w="10160">
            <a:solidFill>
              <a:srgbClr val="D9D0D2"/>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513064" y="3410712"/>
            <a:ext cx="164592" cy="164592"/>
          </a:xfrm>
          <a:prstGeom prst="ellipse">
            <a:avLst/>
          </a:prstGeom>
          <a:solidFill>
            <a:srgbClr val="C7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8432" y="2752344"/>
            <a:ext cx="1280160" cy="594360"/>
          </a:xfrm>
          <a:prstGeom prst="rect">
            <a:avLst/>
          </a:prstGeom>
          <a:noFill/>
        </p:spPr>
        <p:txBody>
          <a:bodyPr wrap="square" lIns="0" rIns="0" tIns="0" bIns="0">
            <a:spAutoFit/>
          </a:bodyPr>
          <a:lstStyle/>
          <a:p>
            <a:pPr>
              <a:spcAft>
                <a:spcPts val="0"/>
              </a:spcAft>
              <a:defRPr sz="3400" b="1">
                <a:solidFill>
                  <a:srgbClr val="C78B57"/>
                </a:solidFill>
                <a:latin typeface="Arial"/>
              </a:defRPr>
            </a:pPr>
            <a:r>
              <a:t>70p</a:t>
            </a:r>
          </a:p>
        </p:txBody>
      </p:sp>
      <p:sp>
        <p:nvSpPr>
          <p:cNvPr id="23" name="TextBox 22"/>
          <p:cNvSpPr txBox="1"/>
          <p:nvPr/>
        </p:nvSpPr>
        <p:spPr>
          <a:xfrm>
            <a:off x="7863840" y="5065776"/>
            <a:ext cx="1645920" cy="329184"/>
          </a:xfrm>
          <a:prstGeom prst="rect">
            <a:avLst/>
          </a:prstGeom>
          <a:noFill/>
        </p:spPr>
        <p:txBody>
          <a:bodyPr wrap="square" lIns="0" rIns="0" tIns="0" bIns="0">
            <a:spAutoFit/>
          </a:bodyPr>
          <a:lstStyle/>
          <a:p>
            <a:pPr>
              <a:spcAft>
                <a:spcPts val="0"/>
              </a:spcAft>
              <a:defRPr sz="1300" b="1">
                <a:solidFill>
                  <a:srgbClr val="30242D"/>
                </a:solidFill>
                <a:latin typeface="Arial"/>
              </a:defRPr>
            </a:pPr>
            <a:r>
              <a:t>6 Jan 2024</a:t>
            </a:r>
          </a:p>
        </p:txBody>
      </p:sp>
      <p:sp>
        <p:nvSpPr>
          <p:cNvPr id="24" name="TextBox 23"/>
          <p:cNvSpPr txBox="1"/>
          <p:nvPr/>
        </p:nvSpPr>
        <p:spPr>
          <a:xfrm>
            <a:off x="7863840" y="5477256"/>
            <a:ext cx="1645920" cy="274320"/>
          </a:xfrm>
          <a:prstGeom prst="rect">
            <a:avLst/>
          </a:prstGeom>
          <a:noFill/>
        </p:spPr>
        <p:txBody>
          <a:bodyPr wrap="square" lIns="0" rIns="0" tIns="0" bIns="0">
            <a:spAutoFit/>
          </a:bodyPr>
          <a:lstStyle/>
          <a:p>
            <a:pPr>
              <a:spcAft>
                <a:spcPts val="0"/>
              </a:spcAft>
              <a:defRPr sz="1300" b="0">
                <a:solidFill>
                  <a:srgbClr val="7A7077"/>
                </a:solidFill>
                <a:latin typeface="Arial"/>
              </a:defRPr>
            </a:pPr>
            <a:r>
              <a:t>NICs 10%</a:t>
            </a:r>
          </a:p>
        </p:txBody>
      </p:sp>
      <p:cxnSp>
        <p:nvCxnSpPr>
          <p:cNvPr id="25" name="Connector 24"/>
          <p:cNvCxnSpPr/>
          <p:nvPr/>
        </p:nvCxnSpPr>
        <p:spPr>
          <a:xfrm>
            <a:off x="10652760" y="2935224"/>
            <a:ext cx="0" cy="1883664"/>
          </a:xfrm>
          <a:prstGeom prst="line">
            <a:avLst/>
          </a:prstGeom>
          <a:ln w="10160">
            <a:solidFill>
              <a:srgbClr val="D9D0D2"/>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0570464" y="2715768"/>
            <a:ext cx="164592" cy="164592"/>
          </a:xfrm>
          <a:prstGeom prst="ellipse">
            <a:avLst/>
          </a:prstGeom>
          <a:solidFill>
            <a:srgbClr val="A71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85832" y="2057400"/>
            <a:ext cx="1280160" cy="594360"/>
          </a:xfrm>
          <a:prstGeom prst="rect">
            <a:avLst/>
          </a:prstGeom>
          <a:noFill/>
        </p:spPr>
        <p:txBody>
          <a:bodyPr wrap="square" lIns="0" rIns="0" tIns="0" bIns="0">
            <a:spAutoFit/>
          </a:bodyPr>
          <a:lstStyle/>
          <a:p>
            <a:pPr>
              <a:spcAft>
                <a:spcPts val="0"/>
              </a:spcAft>
              <a:defRPr sz="3400" b="1">
                <a:solidFill>
                  <a:srgbClr val="A71746"/>
                </a:solidFill>
                <a:latin typeface="Arial"/>
              </a:defRPr>
            </a:pPr>
            <a:r>
              <a:t>72p</a:t>
            </a:r>
          </a:p>
        </p:txBody>
      </p:sp>
      <p:sp>
        <p:nvSpPr>
          <p:cNvPr id="28" name="TextBox 27"/>
          <p:cNvSpPr txBox="1"/>
          <p:nvPr/>
        </p:nvSpPr>
        <p:spPr>
          <a:xfrm>
            <a:off x="9921240" y="5065776"/>
            <a:ext cx="1645920" cy="329184"/>
          </a:xfrm>
          <a:prstGeom prst="rect">
            <a:avLst/>
          </a:prstGeom>
          <a:noFill/>
        </p:spPr>
        <p:txBody>
          <a:bodyPr wrap="square" lIns="0" rIns="0" tIns="0" bIns="0">
            <a:spAutoFit/>
          </a:bodyPr>
          <a:lstStyle/>
          <a:p>
            <a:pPr>
              <a:spcAft>
                <a:spcPts val="0"/>
              </a:spcAft>
              <a:defRPr sz="1300" b="1">
                <a:solidFill>
                  <a:srgbClr val="30242D"/>
                </a:solidFill>
                <a:latin typeface="Arial"/>
              </a:defRPr>
            </a:pPr>
            <a:r>
              <a:t>6 Apr 2024</a:t>
            </a:r>
          </a:p>
        </p:txBody>
      </p:sp>
      <p:sp>
        <p:nvSpPr>
          <p:cNvPr id="29" name="TextBox 28"/>
          <p:cNvSpPr txBox="1"/>
          <p:nvPr/>
        </p:nvSpPr>
        <p:spPr>
          <a:xfrm>
            <a:off x="9921240" y="5477256"/>
            <a:ext cx="1645920" cy="274320"/>
          </a:xfrm>
          <a:prstGeom prst="rect">
            <a:avLst/>
          </a:prstGeom>
          <a:noFill/>
        </p:spPr>
        <p:txBody>
          <a:bodyPr wrap="square" lIns="0" rIns="0" tIns="0" bIns="0">
            <a:spAutoFit/>
          </a:bodyPr>
          <a:lstStyle/>
          <a:p>
            <a:pPr>
              <a:spcAft>
                <a:spcPts val="0"/>
              </a:spcAft>
              <a:defRPr sz="1300" b="0">
                <a:solidFill>
                  <a:srgbClr val="7A7077"/>
                </a:solidFill>
                <a:latin typeface="Arial"/>
              </a:defRPr>
            </a:pPr>
            <a:r>
              <a:t>NICs 8%</a:t>
            </a:r>
          </a:p>
        </p:txBody>
      </p:sp>
      <p:sp>
        <p:nvSpPr>
          <p:cNvPr id="30" name="TextBox 29"/>
          <p:cNvSpPr txBox="1"/>
          <p:nvPr/>
        </p:nvSpPr>
        <p:spPr>
          <a:xfrm>
            <a:off x="6126480" y="5943600"/>
            <a:ext cx="5303520" cy="201168"/>
          </a:xfrm>
          <a:prstGeom prst="rect">
            <a:avLst/>
          </a:prstGeom>
          <a:noFill/>
        </p:spPr>
        <p:txBody>
          <a:bodyPr wrap="square" lIns="0" rIns="0" tIns="0" bIns="0">
            <a:spAutoFit/>
          </a:bodyPr>
          <a:lstStyle/>
          <a:p>
            <a:pPr>
              <a:spcAft>
                <a:spcPts val="0"/>
              </a:spcAft>
              <a:defRPr sz="900" b="0">
                <a:solidFill>
                  <a:srgbClr val="7A7077"/>
                </a:solidFill>
                <a:latin typeface="Arial"/>
              </a:defRPr>
            </a:pPr>
            <a:r>
              <a:t>Source: HMRC (2024); author’s calculations. 20% income tax; main NICs band.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0"/>
        </a:solidFill>
        <a:effectLst/>
      </p:bgPr>
    </p:bg>
    <p:spTree>
      <p:nvGrpSpPr>
        <p:cNvPr id="1" name=""/>
        <p:cNvGrpSpPr/>
        <p:nvPr/>
      </p:nvGrpSpPr>
      <p:grpSpPr/>
      <p:sp>
        <p:nvSpPr>
          <p:cNvPr id="2" name="TextBox 1"/>
          <p:cNvSpPr txBox="1"/>
          <p:nvPr/>
        </p:nvSpPr>
        <p:spPr>
          <a:xfrm>
            <a:off x="594360" y="320040"/>
            <a:ext cx="7315200" cy="274320"/>
          </a:xfrm>
          <a:prstGeom prst="rect">
            <a:avLst/>
          </a:prstGeom>
          <a:noFill/>
        </p:spPr>
        <p:txBody>
          <a:bodyPr wrap="square" lIns="0" rIns="0" tIns="0" bIns="0">
            <a:spAutoFit/>
          </a:bodyPr>
          <a:lstStyle/>
          <a:p>
            <a:pPr>
              <a:spcAft>
                <a:spcPts val="0"/>
              </a:spcAft>
              <a:defRPr sz="1100" b="1">
                <a:solidFill>
                  <a:srgbClr val="7A7077"/>
                </a:solidFill>
                <a:latin typeface="Arial"/>
              </a:defRPr>
            </a:pPr>
            <a:r>
              <a:t>PIA6302    /    THE POLITICS OF TAX CUTS</a:t>
            </a:r>
          </a:p>
        </p:txBody>
      </p:sp>
      <p:sp>
        <p:nvSpPr>
          <p:cNvPr id="3" name="TextBox 2"/>
          <p:cNvSpPr txBox="1"/>
          <p:nvPr/>
        </p:nvSpPr>
        <p:spPr>
          <a:xfrm>
            <a:off x="594360" y="868680"/>
            <a:ext cx="6400800" cy="274320"/>
          </a:xfrm>
          <a:prstGeom prst="rect">
            <a:avLst/>
          </a:prstGeom>
          <a:noFill/>
        </p:spPr>
        <p:txBody>
          <a:bodyPr wrap="square" lIns="0" rIns="0" tIns="0" bIns="0">
            <a:spAutoFit/>
          </a:bodyPr>
          <a:lstStyle/>
          <a:p>
            <a:pPr>
              <a:spcAft>
                <a:spcPts val="0"/>
              </a:spcAft>
              <a:defRPr sz="1200" b="1">
                <a:solidFill>
                  <a:srgbClr val="A71746"/>
                </a:solidFill>
                <a:latin typeface="Arial"/>
              </a:defRPr>
            </a:pPr>
            <a:r>
              <a:t>02   /   LABOUR SUPPLY</a:t>
            </a:r>
          </a:p>
        </p:txBody>
      </p:sp>
      <p:sp>
        <p:nvSpPr>
          <p:cNvPr id="4" name="TextBox 3"/>
          <p:cNvSpPr txBox="1"/>
          <p:nvPr/>
        </p:nvSpPr>
        <p:spPr>
          <a:xfrm>
            <a:off x="10378440" y="274320"/>
            <a:ext cx="1188720" cy="320040"/>
          </a:xfrm>
          <a:prstGeom prst="rect">
            <a:avLst/>
          </a:prstGeom>
          <a:noFill/>
        </p:spPr>
        <p:txBody>
          <a:bodyPr wrap="square" lIns="0" rIns="0" tIns="0" bIns="0">
            <a:spAutoFit/>
          </a:bodyPr>
          <a:lstStyle/>
          <a:p>
            <a:pPr>
              <a:spcAft>
                <a:spcPts val="0"/>
              </a:spcAft>
              <a:defRPr sz="2200" b="1">
                <a:solidFill>
                  <a:srgbClr val="A71746"/>
                </a:solidFill>
                <a:latin typeface="Arial"/>
              </a:defRPr>
            </a:pPr>
            <a:r>
              <a:t>CityU</a:t>
            </a:r>
          </a:p>
        </p:txBody>
      </p:sp>
      <p:cxnSp>
        <p:nvCxnSpPr>
          <p:cNvPr id="5" name="Connector 4"/>
          <p:cNvCxnSpPr/>
          <p:nvPr/>
        </p:nvCxnSpPr>
        <p:spPr>
          <a:xfrm>
            <a:off x="594360" y="6291072"/>
            <a:ext cx="10972800" cy="0"/>
          </a:xfrm>
          <a:prstGeom prst="line">
            <a:avLst/>
          </a:prstGeom>
          <a:ln w="8890">
            <a:solidFill>
              <a:srgbClr val="D9D0D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37376"/>
            <a:ext cx="8229600" cy="182880"/>
          </a:xfrm>
          <a:prstGeom prst="rect">
            <a:avLst/>
          </a:prstGeom>
          <a:noFill/>
        </p:spPr>
        <p:txBody>
          <a:bodyPr wrap="square" lIns="0" rIns="0" tIns="0" bIns="0">
            <a:spAutoFit/>
          </a:bodyPr>
          <a:lstStyle/>
          <a:p>
            <a:pPr>
              <a:spcAft>
                <a:spcPts val="0"/>
              </a:spcAft>
              <a:defRPr sz="900" b="0">
                <a:solidFill>
                  <a:srgbClr val="7A7077"/>
                </a:solidFill>
                <a:latin typeface="Arial"/>
              </a:defRPr>
            </a:pPr>
            <a:r>
              <a:t>MEMBER C   /   ECONOMIC EFFICIENCY</a:t>
            </a:r>
          </a:p>
        </p:txBody>
      </p:sp>
      <p:sp>
        <p:nvSpPr>
          <p:cNvPr id="7" name="TextBox 6"/>
          <p:cNvSpPr txBox="1"/>
          <p:nvPr/>
        </p:nvSpPr>
        <p:spPr>
          <a:xfrm>
            <a:off x="10497312" y="6400800"/>
            <a:ext cx="1051560" cy="228600"/>
          </a:xfrm>
          <a:prstGeom prst="rect">
            <a:avLst/>
          </a:prstGeom>
          <a:noFill/>
        </p:spPr>
        <p:txBody>
          <a:bodyPr wrap="square" lIns="0" rIns="0" tIns="0" bIns="0">
            <a:spAutoFit/>
          </a:bodyPr>
          <a:lstStyle/>
          <a:p>
            <a:pPr>
              <a:spcAft>
                <a:spcPts val="0"/>
              </a:spcAft>
              <a:defRPr sz="1100" b="0">
                <a:solidFill>
                  <a:srgbClr val="7A7077"/>
                </a:solidFill>
                <a:latin typeface="Arial"/>
              </a:defRPr>
            </a:pPr>
            <a:r>
              <a:t>02 / 03</a:t>
            </a:r>
          </a:p>
        </p:txBody>
      </p:sp>
      <p:sp>
        <p:nvSpPr>
          <p:cNvPr id="8" name="TextBox 7"/>
          <p:cNvSpPr txBox="1"/>
          <p:nvPr/>
        </p:nvSpPr>
        <p:spPr>
          <a:xfrm>
            <a:off x="594360" y="1417320"/>
            <a:ext cx="5074920" cy="1554480"/>
          </a:xfrm>
          <a:prstGeom prst="rect">
            <a:avLst/>
          </a:prstGeom>
          <a:noFill/>
        </p:spPr>
        <p:txBody>
          <a:bodyPr wrap="square" lIns="0" rIns="0" tIns="0" bIns="0">
            <a:spAutoFit/>
          </a:bodyPr>
          <a:lstStyle/>
          <a:p>
            <a:pPr>
              <a:spcAft>
                <a:spcPts val="0"/>
              </a:spcAft>
              <a:defRPr sz="4200" b="0">
                <a:solidFill>
                  <a:srgbClr val="30242D"/>
                </a:solidFill>
                <a:latin typeface="Georgia"/>
              </a:defRPr>
            </a:pPr>
            <a:r>
              <a:t>One tax cut.</a:t>
            </a:r>
          </a:p>
          <a:p>
            <a:pPr>
              <a:spcAft>
                <a:spcPts val="0"/>
              </a:spcAft>
              <a:defRPr sz="4200" b="0">
                <a:solidFill>
                  <a:srgbClr val="30242D"/>
                </a:solidFill>
                <a:latin typeface="Georgia"/>
              </a:defRPr>
            </a:pPr>
            <a:r>
              <a:t>Two responses.</a:t>
            </a:r>
          </a:p>
        </p:txBody>
      </p:sp>
      <p:sp>
        <p:nvSpPr>
          <p:cNvPr id="9" name="TextBox 8"/>
          <p:cNvSpPr txBox="1"/>
          <p:nvPr/>
        </p:nvSpPr>
        <p:spPr>
          <a:xfrm>
            <a:off x="658368" y="3300984"/>
            <a:ext cx="365760" cy="274320"/>
          </a:xfrm>
          <a:prstGeom prst="rect">
            <a:avLst/>
          </a:prstGeom>
          <a:noFill/>
        </p:spPr>
        <p:txBody>
          <a:bodyPr wrap="square" lIns="0" rIns="0" tIns="0" bIns="0">
            <a:spAutoFit/>
          </a:bodyPr>
          <a:lstStyle/>
          <a:p>
            <a:pPr>
              <a:spcAft>
                <a:spcPts val="0"/>
              </a:spcAft>
              <a:defRPr sz="1300" b="1">
                <a:solidFill>
                  <a:srgbClr val="A71746"/>
                </a:solidFill>
                <a:latin typeface="Arial"/>
              </a:defRPr>
            </a:pPr>
            <a:r>
              <a:t>A</a:t>
            </a:r>
          </a:p>
        </p:txBody>
      </p:sp>
      <p:sp>
        <p:nvSpPr>
          <p:cNvPr id="10" name="TextBox 9"/>
          <p:cNvSpPr txBox="1"/>
          <p:nvPr/>
        </p:nvSpPr>
        <p:spPr>
          <a:xfrm>
            <a:off x="1115568" y="3218688"/>
            <a:ext cx="4114800" cy="384048"/>
          </a:xfrm>
          <a:prstGeom prst="rect">
            <a:avLst/>
          </a:prstGeom>
          <a:noFill/>
        </p:spPr>
        <p:txBody>
          <a:bodyPr wrap="square" lIns="0" rIns="0" tIns="0" bIns="0">
            <a:spAutoFit/>
          </a:bodyPr>
          <a:lstStyle/>
          <a:p>
            <a:pPr>
              <a:spcAft>
                <a:spcPts val="0"/>
              </a:spcAft>
              <a:defRPr sz="2200" b="1">
                <a:solidFill>
                  <a:srgbClr val="A71746"/>
                </a:solidFill>
                <a:latin typeface="Arial"/>
              </a:defRPr>
            </a:pPr>
            <a:r>
              <a:t>Substitution effect</a:t>
            </a:r>
          </a:p>
        </p:txBody>
      </p:sp>
      <p:sp>
        <p:nvSpPr>
          <p:cNvPr id="11" name="TextBox 10"/>
          <p:cNvSpPr txBox="1"/>
          <p:nvPr/>
        </p:nvSpPr>
        <p:spPr>
          <a:xfrm>
            <a:off x="1115568" y="3712463"/>
            <a:ext cx="4023360" cy="502920"/>
          </a:xfrm>
          <a:prstGeom prst="rect">
            <a:avLst/>
          </a:prstGeom>
          <a:noFill/>
        </p:spPr>
        <p:txBody>
          <a:bodyPr wrap="square" lIns="0" rIns="0" tIns="0" bIns="0">
            <a:spAutoFit/>
          </a:bodyPr>
          <a:lstStyle/>
          <a:p>
            <a:pPr>
              <a:spcAft>
                <a:spcPts val="0"/>
              </a:spcAft>
              <a:defRPr sz="1700" b="0">
                <a:solidFill>
                  <a:srgbClr val="7A7077"/>
                </a:solidFill>
                <a:latin typeface="Arial"/>
              </a:defRPr>
            </a:pPr>
            <a:r>
              <a:t>Leisure costs more → more work</a:t>
            </a:r>
          </a:p>
        </p:txBody>
      </p:sp>
      <p:sp>
        <p:nvSpPr>
          <p:cNvPr id="12" name="TextBox 11"/>
          <p:cNvSpPr txBox="1"/>
          <p:nvPr/>
        </p:nvSpPr>
        <p:spPr>
          <a:xfrm>
            <a:off x="658368" y="4425696"/>
            <a:ext cx="365760" cy="274320"/>
          </a:xfrm>
          <a:prstGeom prst="rect">
            <a:avLst/>
          </a:prstGeom>
          <a:noFill/>
        </p:spPr>
        <p:txBody>
          <a:bodyPr wrap="square" lIns="0" rIns="0" tIns="0" bIns="0">
            <a:spAutoFit/>
          </a:bodyPr>
          <a:lstStyle/>
          <a:p>
            <a:pPr>
              <a:spcAft>
                <a:spcPts val="0"/>
              </a:spcAft>
              <a:defRPr sz="1300" b="1">
                <a:solidFill>
                  <a:srgbClr val="C78B57"/>
                </a:solidFill>
                <a:latin typeface="Arial"/>
              </a:defRPr>
            </a:pPr>
            <a:r>
              <a:t>B</a:t>
            </a:r>
          </a:p>
        </p:txBody>
      </p:sp>
      <p:sp>
        <p:nvSpPr>
          <p:cNvPr id="13" name="TextBox 12"/>
          <p:cNvSpPr txBox="1"/>
          <p:nvPr/>
        </p:nvSpPr>
        <p:spPr>
          <a:xfrm>
            <a:off x="1115568" y="4343400"/>
            <a:ext cx="4114800" cy="384048"/>
          </a:xfrm>
          <a:prstGeom prst="rect">
            <a:avLst/>
          </a:prstGeom>
          <a:noFill/>
        </p:spPr>
        <p:txBody>
          <a:bodyPr wrap="square" lIns="0" rIns="0" tIns="0" bIns="0">
            <a:spAutoFit/>
          </a:bodyPr>
          <a:lstStyle/>
          <a:p>
            <a:pPr>
              <a:spcAft>
                <a:spcPts val="0"/>
              </a:spcAft>
              <a:defRPr sz="2200" b="1">
                <a:solidFill>
                  <a:srgbClr val="C78B57"/>
                </a:solidFill>
                <a:latin typeface="Arial"/>
              </a:defRPr>
            </a:pPr>
            <a:r>
              <a:t>Income effect</a:t>
            </a:r>
          </a:p>
        </p:txBody>
      </p:sp>
      <p:sp>
        <p:nvSpPr>
          <p:cNvPr id="14" name="TextBox 13"/>
          <p:cNvSpPr txBox="1"/>
          <p:nvPr/>
        </p:nvSpPr>
        <p:spPr>
          <a:xfrm>
            <a:off x="1115568" y="4837176"/>
            <a:ext cx="4023360" cy="502920"/>
          </a:xfrm>
          <a:prstGeom prst="rect">
            <a:avLst/>
          </a:prstGeom>
          <a:noFill/>
        </p:spPr>
        <p:txBody>
          <a:bodyPr wrap="square" lIns="0" rIns="0" tIns="0" bIns="0">
            <a:spAutoFit/>
          </a:bodyPr>
          <a:lstStyle/>
          <a:p>
            <a:pPr>
              <a:spcAft>
                <a:spcPts val="0"/>
              </a:spcAft>
              <a:defRPr sz="1700" b="0">
                <a:solidFill>
                  <a:srgbClr val="7A7077"/>
                </a:solidFill>
                <a:latin typeface="Arial"/>
              </a:defRPr>
            </a:pPr>
            <a:r>
              <a:t>Higher income → more leisure</a:t>
            </a:r>
          </a:p>
        </p:txBody>
      </p:sp>
      <p:sp>
        <p:nvSpPr>
          <p:cNvPr id="15" name="TextBox 14"/>
          <p:cNvSpPr txBox="1"/>
          <p:nvPr/>
        </p:nvSpPr>
        <p:spPr>
          <a:xfrm>
            <a:off x="667512" y="5788152"/>
            <a:ext cx="5303520" cy="274320"/>
          </a:xfrm>
          <a:prstGeom prst="rect">
            <a:avLst/>
          </a:prstGeom>
          <a:noFill/>
        </p:spPr>
        <p:txBody>
          <a:bodyPr wrap="square" lIns="0" rIns="0" tIns="0" bIns="0">
            <a:spAutoFit/>
          </a:bodyPr>
          <a:lstStyle/>
          <a:p>
            <a:pPr>
              <a:spcAft>
                <a:spcPts val="0"/>
              </a:spcAft>
              <a:defRPr sz="1300" b="0">
                <a:solidFill>
                  <a:srgbClr val="30242D"/>
                </a:solidFill>
                <a:latin typeface="Arial"/>
              </a:defRPr>
            </a:pPr>
            <a:r>
              <a:t>Participation and working hours are distinct decisions.</a:t>
            </a:r>
          </a:p>
        </p:txBody>
      </p:sp>
      <p:cxnSp>
        <p:nvCxnSpPr>
          <p:cNvPr id="16" name="Connector 15"/>
          <p:cNvCxnSpPr/>
          <p:nvPr/>
        </p:nvCxnSpPr>
        <p:spPr>
          <a:xfrm>
            <a:off x="6217920" y="2121408"/>
            <a:ext cx="0" cy="3236976"/>
          </a:xfrm>
          <a:prstGeom prst="line">
            <a:avLst/>
          </a:prstGeom>
          <a:ln w="10160">
            <a:solidFill>
              <a:srgbClr val="7A707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17920" y="5358384"/>
            <a:ext cx="5166360" cy="0"/>
          </a:xfrm>
          <a:prstGeom prst="line">
            <a:avLst/>
          </a:prstGeom>
          <a:ln w="10160">
            <a:solidFill>
              <a:srgbClr val="7A7077"/>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6217920" y="3094250"/>
            <a:ext cx="5166360" cy="1997765"/>
          </a:xfrm>
          <a:custGeom>
            <a:avLst/>
            <a:gdLst/>
            <a:ahLst/>
            <a:cxnLst/>
            <a:rect l="l" t="t" r="r" b="b"/>
            <a:pathLst>
              <a:path w="5166360" h="1997765">
                <a:moveTo>
                  <a:pt x="0" y="0"/>
                </a:moveTo>
                <a:lnTo>
                  <a:pt x="52185" y="20179"/>
                </a:lnTo>
                <a:lnTo>
                  <a:pt x="104370" y="40358"/>
                </a:lnTo>
                <a:lnTo>
                  <a:pt x="156556" y="60538"/>
                </a:lnTo>
                <a:lnTo>
                  <a:pt x="208741" y="80717"/>
                </a:lnTo>
                <a:lnTo>
                  <a:pt x="260927" y="100897"/>
                </a:lnTo>
                <a:lnTo>
                  <a:pt x="313112" y="121076"/>
                </a:lnTo>
                <a:lnTo>
                  <a:pt x="365298" y="141256"/>
                </a:lnTo>
                <a:lnTo>
                  <a:pt x="417483" y="161435"/>
                </a:lnTo>
                <a:lnTo>
                  <a:pt x="469669" y="181615"/>
                </a:lnTo>
                <a:lnTo>
                  <a:pt x="521854" y="201794"/>
                </a:lnTo>
                <a:lnTo>
                  <a:pt x="574039" y="221974"/>
                </a:lnTo>
                <a:lnTo>
                  <a:pt x="626225" y="242153"/>
                </a:lnTo>
                <a:lnTo>
                  <a:pt x="678410" y="262332"/>
                </a:lnTo>
                <a:lnTo>
                  <a:pt x="730596" y="282512"/>
                </a:lnTo>
                <a:lnTo>
                  <a:pt x="782781" y="302691"/>
                </a:lnTo>
                <a:lnTo>
                  <a:pt x="834967" y="322871"/>
                </a:lnTo>
                <a:lnTo>
                  <a:pt x="887152" y="343050"/>
                </a:lnTo>
                <a:lnTo>
                  <a:pt x="939338" y="363230"/>
                </a:lnTo>
                <a:lnTo>
                  <a:pt x="991523" y="383409"/>
                </a:lnTo>
                <a:lnTo>
                  <a:pt x="1043709" y="403589"/>
                </a:lnTo>
                <a:lnTo>
                  <a:pt x="1095894" y="423768"/>
                </a:lnTo>
                <a:lnTo>
                  <a:pt x="1148080" y="443947"/>
                </a:lnTo>
                <a:lnTo>
                  <a:pt x="1200265" y="464127"/>
                </a:lnTo>
                <a:lnTo>
                  <a:pt x="1252450" y="484306"/>
                </a:lnTo>
                <a:lnTo>
                  <a:pt x="1304636" y="504486"/>
                </a:lnTo>
                <a:lnTo>
                  <a:pt x="1356821" y="524665"/>
                </a:lnTo>
                <a:lnTo>
                  <a:pt x="1409007" y="544845"/>
                </a:lnTo>
                <a:lnTo>
                  <a:pt x="1461192" y="565024"/>
                </a:lnTo>
                <a:lnTo>
                  <a:pt x="1513378" y="585204"/>
                </a:lnTo>
                <a:lnTo>
                  <a:pt x="1565563" y="605383"/>
                </a:lnTo>
                <a:lnTo>
                  <a:pt x="1617749" y="625562"/>
                </a:lnTo>
                <a:lnTo>
                  <a:pt x="1669934" y="645742"/>
                </a:lnTo>
                <a:lnTo>
                  <a:pt x="1722120" y="665921"/>
                </a:lnTo>
                <a:lnTo>
                  <a:pt x="1774305" y="686101"/>
                </a:lnTo>
                <a:lnTo>
                  <a:pt x="1826490" y="706280"/>
                </a:lnTo>
                <a:lnTo>
                  <a:pt x="1878676" y="726460"/>
                </a:lnTo>
                <a:lnTo>
                  <a:pt x="1930861" y="746639"/>
                </a:lnTo>
                <a:lnTo>
                  <a:pt x="1983047" y="766819"/>
                </a:lnTo>
                <a:lnTo>
                  <a:pt x="2035232" y="786998"/>
                </a:lnTo>
                <a:lnTo>
                  <a:pt x="2087418" y="807177"/>
                </a:lnTo>
                <a:lnTo>
                  <a:pt x="2139603" y="827357"/>
                </a:lnTo>
                <a:lnTo>
                  <a:pt x="2191789" y="847536"/>
                </a:lnTo>
                <a:lnTo>
                  <a:pt x="2243974" y="867716"/>
                </a:lnTo>
                <a:lnTo>
                  <a:pt x="2296160" y="887895"/>
                </a:lnTo>
                <a:lnTo>
                  <a:pt x="2348345" y="908075"/>
                </a:lnTo>
                <a:lnTo>
                  <a:pt x="2400530" y="928254"/>
                </a:lnTo>
                <a:lnTo>
                  <a:pt x="2452716" y="948434"/>
                </a:lnTo>
                <a:lnTo>
                  <a:pt x="2504901" y="968613"/>
                </a:lnTo>
                <a:lnTo>
                  <a:pt x="2557087" y="988792"/>
                </a:lnTo>
                <a:lnTo>
                  <a:pt x="2609272" y="1008972"/>
                </a:lnTo>
                <a:lnTo>
                  <a:pt x="2661458" y="1029151"/>
                </a:lnTo>
                <a:lnTo>
                  <a:pt x="2713643" y="1049331"/>
                </a:lnTo>
                <a:lnTo>
                  <a:pt x="2765829" y="1069510"/>
                </a:lnTo>
                <a:lnTo>
                  <a:pt x="2818014" y="1089690"/>
                </a:lnTo>
                <a:lnTo>
                  <a:pt x="2870200" y="1109869"/>
                </a:lnTo>
                <a:lnTo>
                  <a:pt x="2922385" y="1130049"/>
                </a:lnTo>
                <a:lnTo>
                  <a:pt x="2974570" y="1150228"/>
                </a:lnTo>
                <a:lnTo>
                  <a:pt x="3026756" y="1170407"/>
                </a:lnTo>
                <a:lnTo>
                  <a:pt x="3078941" y="1190587"/>
                </a:lnTo>
                <a:lnTo>
                  <a:pt x="3131127" y="1210766"/>
                </a:lnTo>
                <a:lnTo>
                  <a:pt x="3183312" y="1230946"/>
                </a:lnTo>
                <a:lnTo>
                  <a:pt x="3235498" y="1251125"/>
                </a:lnTo>
                <a:lnTo>
                  <a:pt x="3287683" y="1271305"/>
                </a:lnTo>
                <a:lnTo>
                  <a:pt x="3339869" y="1291484"/>
                </a:lnTo>
                <a:lnTo>
                  <a:pt x="3392054" y="1311664"/>
                </a:lnTo>
                <a:lnTo>
                  <a:pt x="3444240" y="1331843"/>
                </a:lnTo>
                <a:lnTo>
                  <a:pt x="3496425" y="1352023"/>
                </a:lnTo>
                <a:lnTo>
                  <a:pt x="3548610" y="1372202"/>
                </a:lnTo>
                <a:lnTo>
                  <a:pt x="3600796" y="1392381"/>
                </a:lnTo>
                <a:lnTo>
                  <a:pt x="3652981" y="1412561"/>
                </a:lnTo>
                <a:lnTo>
                  <a:pt x="3705167" y="1432740"/>
                </a:lnTo>
                <a:lnTo>
                  <a:pt x="3757352" y="1452920"/>
                </a:lnTo>
                <a:lnTo>
                  <a:pt x="3809538" y="1473099"/>
                </a:lnTo>
                <a:lnTo>
                  <a:pt x="3861723" y="1493279"/>
                </a:lnTo>
                <a:lnTo>
                  <a:pt x="3913909" y="1513458"/>
                </a:lnTo>
                <a:lnTo>
                  <a:pt x="3966094" y="1533638"/>
                </a:lnTo>
                <a:lnTo>
                  <a:pt x="4018280" y="1553817"/>
                </a:lnTo>
                <a:lnTo>
                  <a:pt x="4070465" y="1573996"/>
                </a:lnTo>
                <a:lnTo>
                  <a:pt x="4122650" y="1594176"/>
                </a:lnTo>
                <a:lnTo>
                  <a:pt x="4174836" y="1614355"/>
                </a:lnTo>
                <a:lnTo>
                  <a:pt x="4227021" y="1634535"/>
                </a:lnTo>
                <a:lnTo>
                  <a:pt x="4279207" y="1654714"/>
                </a:lnTo>
                <a:lnTo>
                  <a:pt x="4331392" y="1674894"/>
                </a:lnTo>
                <a:lnTo>
                  <a:pt x="4383578" y="1695073"/>
                </a:lnTo>
                <a:lnTo>
                  <a:pt x="4435763" y="1715253"/>
                </a:lnTo>
                <a:lnTo>
                  <a:pt x="4487949" y="1735432"/>
                </a:lnTo>
                <a:lnTo>
                  <a:pt x="4540134" y="1755611"/>
                </a:lnTo>
                <a:lnTo>
                  <a:pt x="4592320" y="1775791"/>
                </a:lnTo>
                <a:lnTo>
                  <a:pt x="4644505" y="1795970"/>
                </a:lnTo>
                <a:lnTo>
                  <a:pt x="4696690" y="1816150"/>
                </a:lnTo>
                <a:lnTo>
                  <a:pt x="4748876" y="1836329"/>
                </a:lnTo>
                <a:lnTo>
                  <a:pt x="4801061" y="1856509"/>
                </a:lnTo>
                <a:lnTo>
                  <a:pt x="4853247" y="1876688"/>
                </a:lnTo>
                <a:lnTo>
                  <a:pt x="4905432" y="1896868"/>
                </a:lnTo>
                <a:lnTo>
                  <a:pt x="4957618" y="1917047"/>
                </a:lnTo>
                <a:lnTo>
                  <a:pt x="5009803" y="1937226"/>
                </a:lnTo>
                <a:lnTo>
                  <a:pt x="5061989" y="1957406"/>
                </a:lnTo>
                <a:lnTo>
                  <a:pt x="5114174" y="1977585"/>
                </a:lnTo>
                <a:lnTo>
                  <a:pt x="5166360" y="1997765"/>
                </a:lnTo>
              </a:path>
            </a:pathLst>
          </a:custGeom>
          <a:noFill/>
          <a:ln w="25400">
            <a:solidFill>
              <a:srgbClr val="AA9D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6217920" y="2454965"/>
            <a:ext cx="5166360" cy="2397318"/>
          </a:xfrm>
          <a:custGeom>
            <a:avLst/>
            <a:gdLst/>
            <a:ahLst/>
            <a:cxnLst/>
            <a:rect l="l" t="t" r="r" b="b"/>
            <a:pathLst>
              <a:path w="5166360" h="2397318">
                <a:moveTo>
                  <a:pt x="0" y="0"/>
                </a:moveTo>
                <a:lnTo>
                  <a:pt x="52185" y="24215"/>
                </a:lnTo>
                <a:lnTo>
                  <a:pt x="104370" y="48430"/>
                </a:lnTo>
                <a:lnTo>
                  <a:pt x="156556" y="72646"/>
                </a:lnTo>
                <a:lnTo>
                  <a:pt x="208741" y="96861"/>
                </a:lnTo>
                <a:lnTo>
                  <a:pt x="260927" y="121076"/>
                </a:lnTo>
                <a:lnTo>
                  <a:pt x="313112" y="145292"/>
                </a:lnTo>
                <a:lnTo>
                  <a:pt x="365298" y="169507"/>
                </a:lnTo>
                <a:lnTo>
                  <a:pt x="417483" y="193722"/>
                </a:lnTo>
                <a:lnTo>
                  <a:pt x="469669" y="217938"/>
                </a:lnTo>
                <a:lnTo>
                  <a:pt x="521854" y="242153"/>
                </a:lnTo>
                <a:lnTo>
                  <a:pt x="574039" y="266368"/>
                </a:lnTo>
                <a:lnTo>
                  <a:pt x="626225" y="290584"/>
                </a:lnTo>
                <a:lnTo>
                  <a:pt x="678410" y="314799"/>
                </a:lnTo>
                <a:lnTo>
                  <a:pt x="730596" y="339014"/>
                </a:lnTo>
                <a:lnTo>
                  <a:pt x="782781" y="363230"/>
                </a:lnTo>
                <a:lnTo>
                  <a:pt x="834967" y="387445"/>
                </a:lnTo>
                <a:lnTo>
                  <a:pt x="887152" y="411660"/>
                </a:lnTo>
                <a:lnTo>
                  <a:pt x="939338" y="435876"/>
                </a:lnTo>
                <a:lnTo>
                  <a:pt x="991523" y="460091"/>
                </a:lnTo>
                <a:lnTo>
                  <a:pt x="1043709" y="484306"/>
                </a:lnTo>
                <a:lnTo>
                  <a:pt x="1095894" y="508522"/>
                </a:lnTo>
                <a:lnTo>
                  <a:pt x="1148080" y="532737"/>
                </a:lnTo>
                <a:lnTo>
                  <a:pt x="1200265" y="556952"/>
                </a:lnTo>
                <a:lnTo>
                  <a:pt x="1252450" y="581168"/>
                </a:lnTo>
                <a:lnTo>
                  <a:pt x="1304636" y="605383"/>
                </a:lnTo>
                <a:lnTo>
                  <a:pt x="1356821" y="629598"/>
                </a:lnTo>
                <a:lnTo>
                  <a:pt x="1409007" y="653814"/>
                </a:lnTo>
                <a:lnTo>
                  <a:pt x="1461192" y="678029"/>
                </a:lnTo>
                <a:lnTo>
                  <a:pt x="1513378" y="702244"/>
                </a:lnTo>
                <a:lnTo>
                  <a:pt x="1565563" y="726460"/>
                </a:lnTo>
                <a:lnTo>
                  <a:pt x="1617749" y="750675"/>
                </a:lnTo>
                <a:lnTo>
                  <a:pt x="1669934" y="774890"/>
                </a:lnTo>
                <a:lnTo>
                  <a:pt x="1722120" y="799106"/>
                </a:lnTo>
                <a:lnTo>
                  <a:pt x="1774305" y="823321"/>
                </a:lnTo>
                <a:lnTo>
                  <a:pt x="1826490" y="847536"/>
                </a:lnTo>
                <a:lnTo>
                  <a:pt x="1878676" y="871752"/>
                </a:lnTo>
                <a:lnTo>
                  <a:pt x="1930861" y="895967"/>
                </a:lnTo>
                <a:lnTo>
                  <a:pt x="1983047" y="920182"/>
                </a:lnTo>
                <a:lnTo>
                  <a:pt x="2035232" y="944398"/>
                </a:lnTo>
                <a:lnTo>
                  <a:pt x="2087418" y="968613"/>
                </a:lnTo>
                <a:lnTo>
                  <a:pt x="2139603" y="992828"/>
                </a:lnTo>
                <a:lnTo>
                  <a:pt x="2191789" y="1017044"/>
                </a:lnTo>
                <a:lnTo>
                  <a:pt x="2243974" y="1041259"/>
                </a:lnTo>
                <a:lnTo>
                  <a:pt x="2296160" y="1065475"/>
                </a:lnTo>
                <a:lnTo>
                  <a:pt x="2348345" y="1089690"/>
                </a:lnTo>
                <a:lnTo>
                  <a:pt x="2400530" y="1113905"/>
                </a:lnTo>
                <a:lnTo>
                  <a:pt x="2452716" y="1138121"/>
                </a:lnTo>
                <a:lnTo>
                  <a:pt x="2504901" y="1162336"/>
                </a:lnTo>
                <a:lnTo>
                  <a:pt x="2557087" y="1186551"/>
                </a:lnTo>
                <a:lnTo>
                  <a:pt x="2609272" y="1210767"/>
                </a:lnTo>
                <a:lnTo>
                  <a:pt x="2661458" y="1234982"/>
                </a:lnTo>
                <a:lnTo>
                  <a:pt x="2713643" y="1259197"/>
                </a:lnTo>
                <a:lnTo>
                  <a:pt x="2765829" y="1283413"/>
                </a:lnTo>
                <a:lnTo>
                  <a:pt x="2818014" y="1307628"/>
                </a:lnTo>
                <a:lnTo>
                  <a:pt x="2870200" y="1331843"/>
                </a:lnTo>
                <a:lnTo>
                  <a:pt x="2922385" y="1356059"/>
                </a:lnTo>
                <a:lnTo>
                  <a:pt x="2974570" y="1380274"/>
                </a:lnTo>
                <a:lnTo>
                  <a:pt x="3026756" y="1404489"/>
                </a:lnTo>
                <a:lnTo>
                  <a:pt x="3078941" y="1428705"/>
                </a:lnTo>
                <a:lnTo>
                  <a:pt x="3131127" y="1452920"/>
                </a:lnTo>
                <a:lnTo>
                  <a:pt x="3183312" y="1477135"/>
                </a:lnTo>
                <a:lnTo>
                  <a:pt x="3235498" y="1501351"/>
                </a:lnTo>
                <a:lnTo>
                  <a:pt x="3287683" y="1525566"/>
                </a:lnTo>
                <a:lnTo>
                  <a:pt x="3339869" y="1549781"/>
                </a:lnTo>
                <a:lnTo>
                  <a:pt x="3392054" y="1573997"/>
                </a:lnTo>
                <a:lnTo>
                  <a:pt x="3444240" y="1598212"/>
                </a:lnTo>
                <a:lnTo>
                  <a:pt x="3496425" y="1622427"/>
                </a:lnTo>
                <a:lnTo>
                  <a:pt x="3548610" y="1646643"/>
                </a:lnTo>
                <a:lnTo>
                  <a:pt x="3600796" y="1670858"/>
                </a:lnTo>
                <a:lnTo>
                  <a:pt x="3652981" y="1695073"/>
                </a:lnTo>
                <a:lnTo>
                  <a:pt x="3705167" y="1719289"/>
                </a:lnTo>
                <a:lnTo>
                  <a:pt x="3757352" y="1743504"/>
                </a:lnTo>
                <a:lnTo>
                  <a:pt x="3809538" y="1767719"/>
                </a:lnTo>
                <a:lnTo>
                  <a:pt x="3861723" y="1791935"/>
                </a:lnTo>
                <a:lnTo>
                  <a:pt x="3913909" y="1816150"/>
                </a:lnTo>
                <a:lnTo>
                  <a:pt x="3966094" y="1840365"/>
                </a:lnTo>
                <a:lnTo>
                  <a:pt x="4018280" y="1864581"/>
                </a:lnTo>
                <a:lnTo>
                  <a:pt x="4070465" y="1888796"/>
                </a:lnTo>
                <a:lnTo>
                  <a:pt x="4122650" y="1913011"/>
                </a:lnTo>
                <a:lnTo>
                  <a:pt x="4174836" y="1937227"/>
                </a:lnTo>
                <a:lnTo>
                  <a:pt x="4227021" y="1961442"/>
                </a:lnTo>
                <a:lnTo>
                  <a:pt x="4279207" y="1985657"/>
                </a:lnTo>
                <a:lnTo>
                  <a:pt x="4331392" y="2009873"/>
                </a:lnTo>
                <a:lnTo>
                  <a:pt x="4383578" y="2034088"/>
                </a:lnTo>
                <a:lnTo>
                  <a:pt x="4435763" y="2058303"/>
                </a:lnTo>
                <a:lnTo>
                  <a:pt x="4487949" y="2082519"/>
                </a:lnTo>
                <a:lnTo>
                  <a:pt x="4540134" y="2106734"/>
                </a:lnTo>
                <a:lnTo>
                  <a:pt x="4592320" y="2130949"/>
                </a:lnTo>
                <a:lnTo>
                  <a:pt x="4644505" y="2155165"/>
                </a:lnTo>
                <a:lnTo>
                  <a:pt x="4696690" y="2179380"/>
                </a:lnTo>
                <a:lnTo>
                  <a:pt x="4748876" y="2203595"/>
                </a:lnTo>
                <a:lnTo>
                  <a:pt x="4801061" y="2227811"/>
                </a:lnTo>
                <a:lnTo>
                  <a:pt x="4853247" y="2252026"/>
                </a:lnTo>
                <a:lnTo>
                  <a:pt x="4905432" y="2276241"/>
                </a:lnTo>
                <a:lnTo>
                  <a:pt x="4957618" y="2300457"/>
                </a:lnTo>
                <a:lnTo>
                  <a:pt x="5009803" y="2324672"/>
                </a:lnTo>
                <a:lnTo>
                  <a:pt x="5061989" y="2348887"/>
                </a:lnTo>
                <a:lnTo>
                  <a:pt x="5114174" y="2373103"/>
                </a:lnTo>
                <a:lnTo>
                  <a:pt x="5166360" y="2397318"/>
                </a:lnTo>
              </a:path>
            </a:pathLst>
          </a:custGeom>
          <a:noFill/>
          <a:ln w="30480">
            <a:solidFill>
              <a:srgbClr val="A717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6217920" y="2944612"/>
            <a:ext cx="5166360" cy="2397319"/>
          </a:xfrm>
          <a:custGeom>
            <a:avLst/>
            <a:gdLst/>
            <a:ahLst/>
            <a:cxnLst/>
            <a:rect l="l" t="t" r="r" b="b"/>
            <a:pathLst>
              <a:path w="5166360" h="2397319">
                <a:moveTo>
                  <a:pt x="0" y="0"/>
                </a:moveTo>
                <a:lnTo>
                  <a:pt x="52185" y="24216"/>
                </a:lnTo>
                <a:lnTo>
                  <a:pt x="104370" y="48431"/>
                </a:lnTo>
                <a:lnTo>
                  <a:pt x="156556" y="72646"/>
                </a:lnTo>
                <a:lnTo>
                  <a:pt x="208741" y="96862"/>
                </a:lnTo>
                <a:lnTo>
                  <a:pt x="260927" y="121077"/>
                </a:lnTo>
                <a:lnTo>
                  <a:pt x="313112" y="145292"/>
                </a:lnTo>
                <a:lnTo>
                  <a:pt x="365298" y="169508"/>
                </a:lnTo>
                <a:lnTo>
                  <a:pt x="417483" y="193723"/>
                </a:lnTo>
                <a:lnTo>
                  <a:pt x="469669" y="217938"/>
                </a:lnTo>
                <a:lnTo>
                  <a:pt x="521854" y="242154"/>
                </a:lnTo>
                <a:lnTo>
                  <a:pt x="574039" y="266369"/>
                </a:lnTo>
                <a:lnTo>
                  <a:pt x="626225" y="290584"/>
                </a:lnTo>
                <a:lnTo>
                  <a:pt x="678410" y="314800"/>
                </a:lnTo>
                <a:lnTo>
                  <a:pt x="730596" y="339015"/>
                </a:lnTo>
                <a:lnTo>
                  <a:pt x="782781" y="363230"/>
                </a:lnTo>
                <a:lnTo>
                  <a:pt x="834967" y="387446"/>
                </a:lnTo>
                <a:lnTo>
                  <a:pt x="887152" y="411661"/>
                </a:lnTo>
                <a:lnTo>
                  <a:pt x="939338" y="435876"/>
                </a:lnTo>
                <a:lnTo>
                  <a:pt x="991523" y="460092"/>
                </a:lnTo>
                <a:lnTo>
                  <a:pt x="1043709" y="484307"/>
                </a:lnTo>
                <a:lnTo>
                  <a:pt x="1095894" y="508522"/>
                </a:lnTo>
                <a:lnTo>
                  <a:pt x="1148080" y="532738"/>
                </a:lnTo>
                <a:lnTo>
                  <a:pt x="1200265" y="556953"/>
                </a:lnTo>
                <a:lnTo>
                  <a:pt x="1252450" y="581168"/>
                </a:lnTo>
                <a:lnTo>
                  <a:pt x="1304636" y="605384"/>
                </a:lnTo>
                <a:lnTo>
                  <a:pt x="1356821" y="629599"/>
                </a:lnTo>
                <a:lnTo>
                  <a:pt x="1409007" y="653814"/>
                </a:lnTo>
                <a:lnTo>
                  <a:pt x="1461192" y="678030"/>
                </a:lnTo>
                <a:lnTo>
                  <a:pt x="1513378" y="702245"/>
                </a:lnTo>
                <a:lnTo>
                  <a:pt x="1565563" y="726460"/>
                </a:lnTo>
                <a:lnTo>
                  <a:pt x="1617749" y="750676"/>
                </a:lnTo>
                <a:lnTo>
                  <a:pt x="1669934" y="774891"/>
                </a:lnTo>
                <a:lnTo>
                  <a:pt x="1722120" y="799106"/>
                </a:lnTo>
                <a:lnTo>
                  <a:pt x="1774305" y="823322"/>
                </a:lnTo>
                <a:lnTo>
                  <a:pt x="1826490" y="847537"/>
                </a:lnTo>
                <a:lnTo>
                  <a:pt x="1878676" y="871752"/>
                </a:lnTo>
                <a:lnTo>
                  <a:pt x="1930861" y="895968"/>
                </a:lnTo>
                <a:lnTo>
                  <a:pt x="1983047" y="920183"/>
                </a:lnTo>
                <a:lnTo>
                  <a:pt x="2035232" y="944398"/>
                </a:lnTo>
                <a:lnTo>
                  <a:pt x="2087418" y="968614"/>
                </a:lnTo>
                <a:lnTo>
                  <a:pt x="2139603" y="992829"/>
                </a:lnTo>
                <a:lnTo>
                  <a:pt x="2191789" y="1017044"/>
                </a:lnTo>
                <a:lnTo>
                  <a:pt x="2243974" y="1041260"/>
                </a:lnTo>
                <a:lnTo>
                  <a:pt x="2296160" y="1065475"/>
                </a:lnTo>
                <a:lnTo>
                  <a:pt x="2348345" y="1089690"/>
                </a:lnTo>
                <a:lnTo>
                  <a:pt x="2400530" y="1113906"/>
                </a:lnTo>
                <a:lnTo>
                  <a:pt x="2452716" y="1138121"/>
                </a:lnTo>
                <a:lnTo>
                  <a:pt x="2504901" y="1162336"/>
                </a:lnTo>
                <a:lnTo>
                  <a:pt x="2557087" y="1186552"/>
                </a:lnTo>
                <a:lnTo>
                  <a:pt x="2609272" y="1210767"/>
                </a:lnTo>
                <a:lnTo>
                  <a:pt x="2661458" y="1234982"/>
                </a:lnTo>
                <a:lnTo>
                  <a:pt x="2713643" y="1259198"/>
                </a:lnTo>
                <a:lnTo>
                  <a:pt x="2765829" y="1283413"/>
                </a:lnTo>
                <a:lnTo>
                  <a:pt x="2818014" y="1307628"/>
                </a:lnTo>
                <a:lnTo>
                  <a:pt x="2870200" y="1331844"/>
                </a:lnTo>
                <a:lnTo>
                  <a:pt x="2922385" y="1356059"/>
                </a:lnTo>
                <a:lnTo>
                  <a:pt x="2974570" y="1380274"/>
                </a:lnTo>
                <a:lnTo>
                  <a:pt x="3026756" y="1404490"/>
                </a:lnTo>
                <a:lnTo>
                  <a:pt x="3078941" y="1428705"/>
                </a:lnTo>
                <a:lnTo>
                  <a:pt x="3131127" y="1452920"/>
                </a:lnTo>
                <a:lnTo>
                  <a:pt x="3183312" y="1477136"/>
                </a:lnTo>
                <a:lnTo>
                  <a:pt x="3235498" y="1501351"/>
                </a:lnTo>
                <a:lnTo>
                  <a:pt x="3287683" y="1525566"/>
                </a:lnTo>
                <a:lnTo>
                  <a:pt x="3339869" y="1549782"/>
                </a:lnTo>
                <a:lnTo>
                  <a:pt x="3392054" y="1573997"/>
                </a:lnTo>
                <a:lnTo>
                  <a:pt x="3444240" y="1598212"/>
                </a:lnTo>
                <a:lnTo>
                  <a:pt x="3496425" y="1622428"/>
                </a:lnTo>
                <a:lnTo>
                  <a:pt x="3548610" y="1646643"/>
                </a:lnTo>
                <a:lnTo>
                  <a:pt x="3600796" y="1670858"/>
                </a:lnTo>
                <a:lnTo>
                  <a:pt x="3652981" y="1695074"/>
                </a:lnTo>
                <a:lnTo>
                  <a:pt x="3705167" y="1719289"/>
                </a:lnTo>
                <a:lnTo>
                  <a:pt x="3757352" y="1743504"/>
                </a:lnTo>
                <a:lnTo>
                  <a:pt x="3809538" y="1767720"/>
                </a:lnTo>
                <a:lnTo>
                  <a:pt x="3861723" y="1791935"/>
                </a:lnTo>
                <a:lnTo>
                  <a:pt x="3913909" y="1816150"/>
                </a:lnTo>
                <a:lnTo>
                  <a:pt x="3966094" y="1840366"/>
                </a:lnTo>
                <a:lnTo>
                  <a:pt x="4018280" y="1864581"/>
                </a:lnTo>
                <a:lnTo>
                  <a:pt x="4070465" y="1888796"/>
                </a:lnTo>
                <a:lnTo>
                  <a:pt x="4122650" y="1913012"/>
                </a:lnTo>
                <a:lnTo>
                  <a:pt x="4174836" y="1937227"/>
                </a:lnTo>
                <a:lnTo>
                  <a:pt x="4227021" y="1961442"/>
                </a:lnTo>
                <a:lnTo>
                  <a:pt x="4279207" y="1985658"/>
                </a:lnTo>
                <a:lnTo>
                  <a:pt x="4331392" y="2009873"/>
                </a:lnTo>
                <a:lnTo>
                  <a:pt x="4383578" y="2034088"/>
                </a:lnTo>
                <a:lnTo>
                  <a:pt x="4435763" y="2058304"/>
                </a:lnTo>
                <a:lnTo>
                  <a:pt x="4487949" y="2082519"/>
                </a:lnTo>
                <a:lnTo>
                  <a:pt x="4540134" y="2106735"/>
                </a:lnTo>
                <a:lnTo>
                  <a:pt x="4592320" y="2130950"/>
                </a:lnTo>
                <a:lnTo>
                  <a:pt x="4644505" y="2155165"/>
                </a:lnTo>
                <a:lnTo>
                  <a:pt x="4696690" y="2179381"/>
                </a:lnTo>
                <a:lnTo>
                  <a:pt x="4748876" y="2203596"/>
                </a:lnTo>
                <a:lnTo>
                  <a:pt x="4801061" y="2227811"/>
                </a:lnTo>
                <a:lnTo>
                  <a:pt x="4853247" y="2252027"/>
                </a:lnTo>
                <a:lnTo>
                  <a:pt x="4905432" y="2276242"/>
                </a:lnTo>
                <a:lnTo>
                  <a:pt x="4957618" y="2300457"/>
                </a:lnTo>
                <a:lnTo>
                  <a:pt x="5009803" y="2324673"/>
                </a:lnTo>
                <a:lnTo>
                  <a:pt x="5061989" y="2348888"/>
                </a:lnTo>
                <a:lnTo>
                  <a:pt x="5114174" y="2373103"/>
                </a:lnTo>
                <a:lnTo>
                  <a:pt x="5166360" y="2397319"/>
                </a:lnTo>
              </a:path>
            </a:pathLst>
          </a:custGeom>
          <a:noFill/>
          <a:ln w="22860">
            <a:solidFill>
              <a:srgbClr val="C78B57"/>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217920" y="2566559"/>
            <a:ext cx="5166360" cy="2151475"/>
          </a:xfrm>
          <a:custGeom>
            <a:avLst/>
            <a:gdLst/>
            <a:ahLst/>
            <a:cxnLst/>
            <a:rect l="l" t="t" r="r" b="b"/>
            <a:pathLst>
              <a:path w="5166360" h="2151475">
                <a:moveTo>
                  <a:pt x="0" y="0"/>
                </a:moveTo>
                <a:lnTo>
                  <a:pt x="52185" y="52914"/>
                </a:lnTo>
                <a:lnTo>
                  <a:pt x="104370" y="104213"/>
                </a:lnTo>
                <a:lnTo>
                  <a:pt x="156556" y="153976"/>
                </a:lnTo>
                <a:lnTo>
                  <a:pt x="208741" y="202274"/>
                </a:lnTo>
                <a:lnTo>
                  <a:pt x="260927" y="249176"/>
                </a:lnTo>
                <a:lnTo>
                  <a:pt x="313112" y="294744"/>
                </a:lnTo>
                <a:lnTo>
                  <a:pt x="365298" y="339039"/>
                </a:lnTo>
                <a:lnTo>
                  <a:pt x="417483" y="382116"/>
                </a:lnTo>
                <a:lnTo>
                  <a:pt x="469669" y="424028"/>
                </a:lnTo>
                <a:lnTo>
                  <a:pt x="521854" y="464825"/>
                </a:lnTo>
                <a:lnTo>
                  <a:pt x="574039" y="504553"/>
                </a:lnTo>
                <a:lnTo>
                  <a:pt x="626225" y="543257"/>
                </a:lnTo>
                <a:lnTo>
                  <a:pt x="678410" y="580978"/>
                </a:lnTo>
                <a:lnTo>
                  <a:pt x="730596" y="617756"/>
                </a:lnTo>
                <a:lnTo>
                  <a:pt x="782781" y="653627"/>
                </a:lnTo>
                <a:lnTo>
                  <a:pt x="834967" y="688627"/>
                </a:lnTo>
                <a:lnTo>
                  <a:pt x="887152" y="722789"/>
                </a:lnTo>
                <a:lnTo>
                  <a:pt x="939338" y="756146"/>
                </a:lnTo>
                <a:lnTo>
                  <a:pt x="991523" y="788726"/>
                </a:lnTo>
                <a:lnTo>
                  <a:pt x="1043709" y="820558"/>
                </a:lnTo>
                <a:lnTo>
                  <a:pt x="1095894" y="851670"/>
                </a:lnTo>
                <a:lnTo>
                  <a:pt x="1148080" y="882088"/>
                </a:lnTo>
                <a:lnTo>
                  <a:pt x="1200265" y="911835"/>
                </a:lnTo>
                <a:lnTo>
                  <a:pt x="1252450" y="940935"/>
                </a:lnTo>
                <a:lnTo>
                  <a:pt x="1304636" y="969410"/>
                </a:lnTo>
                <a:lnTo>
                  <a:pt x="1356821" y="997282"/>
                </a:lnTo>
                <a:lnTo>
                  <a:pt x="1409007" y="1024570"/>
                </a:lnTo>
                <a:lnTo>
                  <a:pt x="1461192" y="1051294"/>
                </a:lnTo>
                <a:lnTo>
                  <a:pt x="1513378" y="1077473"/>
                </a:lnTo>
                <a:lnTo>
                  <a:pt x="1565563" y="1103124"/>
                </a:lnTo>
                <a:lnTo>
                  <a:pt x="1617749" y="1128263"/>
                </a:lnTo>
                <a:lnTo>
                  <a:pt x="1669934" y="1152908"/>
                </a:lnTo>
                <a:lnTo>
                  <a:pt x="1722120" y="1177072"/>
                </a:lnTo>
                <a:lnTo>
                  <a:pt x="1774305" y="1200772"/>
                </a:lnTo>
                <a:lnTo>
                  <a:pt x="1826490" y="1224021"/>
                </a:lnTo>
                <a:lnTo>
                  <a:pt x="1878676" y="1246833"/>
                </a:lnTo>
                <a:lnTo>
                  <a:pt x="1930861" y="1269221"/>
                </a:lnTo>
                <a:lnTo>
                  <a:pt x="1983047" y="1291197"/>
                </a:lnTo>
                <a:lnTo>
                  <a:pt x="2035232" y="1312773"/>
                </a:lnTo>
                <a:lnTo>
                  <a:pt x="2087418" y="1333962"/>
                </a:lnTo>
                <a:lnTo>
                  <a:pt x="2139603" y="1354773"/>
                </a:lnTo>
                <a:lnTo>
                  <a:pt x="2191789" y="1375217"/>
                </a:lnTo>
                <a:lnTo>
                  <a:pt x="2243974" y="1395305"/>
                </a:lnTo>
                <a:lnTo>
                  <a:pt x="2296160" y="1415047"/>
                </a:lnTo>
                <a:lnTo>
                  <a:pt x="2348345" y="1434452"/>
                </a:lnTo>
                <a:lnTo>
                  <a:pt x="2400530" y="1453529"/>
                </a:lnTo>
                <a:lnTo>
                  <a:pt x="2452716" y="1472286"/>
                </a:lnTo>
                <a:lnTo>
                  <a:pt x="2504901" y="1490733"/>
                </a:lnTo>
                <a:lnTo>
                  <a:pt x="2557087" y="1508878"/>
                </a:lnTo>
                <a:lnTo>
                  <a:pt x="2609272" y="1526728"/>
                </a:lnTo>
                <a:lnTo>
                  <a:pt x="2661458" y="1544290"/>
                </a:lnTo>
                <a:lnTo>
                  <a:pt x="2713643" y="1561573"/>
                </a:lnTo>
                <a:lnTo>
                  <a:pt x="2765829" y="1578584"/>
                </a:lnTo>
                <a:lnTo>
                  <a:pt x="2818014" y="1595328"/>
                </a:lnTo>
                <a:lnTo>
                  <a:pt x="2870200" y="1611814"/>
                </a:lnTo>
                <a:lnTo>
                  <a:pt x="2922385" y="1628046"/>
                </a:lnTo>
                <a:lnTo>
                  <a:pt x="2974570" y="1644031"/>
                </a:lnTo>
                <a:lnTo>
                  <a:pt x="3026756" y="1659776"/>
                </a:lnTo>
                <a:lnTo>
                  <a:pt x="3078941" y="1675286"/>
                </a:lnTo>
                <a:lnTo>
                  <a:pt x="3131127" y="1690566"/>
                </a:lnTo>
                <a:lnTo>
                  <a:pt x="3183312" y="1705622"/>
                </a:lnTo>
                <a:lnTo>
                  <a:pt x="3235498" y="1720459"/>
                </a:lnTo>
                <a:lnTo>
                  <a:pt x="3287683" y="1735082"/>
                </a:lnTo>
                <a:lnTo>
                  <a:pt x="3339869" y="1749496"/>
                </a:lnTo>
                <a:lnTo>
                  <a:pt x="3392054" y="1763706"/>
                </a:lnTo>
                <a:lnTo>
                  <a:pt x="3444240" y="1777717"/>
                </a:lnTo>
                <a:lnTo>
                  <a:pt x="3496425" y="1791532"/>
                </a:lnTo>
                <a:lnTo>
                  <a:pt x="3548610" y="1805156"/>
                </a:lnTo>
                <a:lnTo>
                  <a:pt x="3600796" y="1818594"/>
                </a:lnTo>
                <a:lnTo>
                  <a:pt x="3652981" y="1831849"/>
                </a:lnTo>
                <a:lnTo>
                  <a:pt x="3705167" y="1844925"/>
                </a:lnTo>
                <a:lnTo>
                  <a:pt x="3757352" y="1857827"/>
                </a:lnTo>
                <a:lnTo>
                  <a:pt x="3809538" y="1870557"/>
                </a:lnTo>
                <a:lnTo>
                  <a:pt x="3861723" y="1883120"/>
                </a:lnTo>
                <a:lnTo>
                  <a:pt x="3913909" y="1895519"/>
                </a:lnTo>
                <a:lnTo>
                  <a:pt x="3966094" y="1907757"/>
                </a:lnTo>
                <a:lnTo>
                  <a:pt x="4018280" y="1919838"/>
                </a:lnTo>
                <a:lnTo>
                  <a:pt x="4070465" y="1931764"/>
                </a:lnTo>
                <a:lnTo>
                  <a:pt x="4122650" y="1943540"/>
                </a:lnTo>
                <a:lnTo>
                  <a:pt x="4174836" y="1955168"/>
                </a:lnTo>
                <a:lnTo>
                  <a:pt x="4227021" y="1966650"/>
                </a:lnTo>
                <a:lnTo>
                  <a:pt x="4279207" y="1977991"/>
                </a:lnTo>
                <a:lnTo>
                  <a:pt x="4331392" y="1989192"/>
                </a:lnTo>
                <a:lnTo>
                  <a:pt x="4383578" y="2000256"/>
                </a:lnTo>
                <a:lnTo>
                  <a:pt x="4435763" y="2011187"/>
                </a:lnTo>
                <a:lnTo>
                  <a:pt x="4487949" y="2021986"/>
                </a:lnTo>
                <a:lnTo>
                  <a:pt x="4540134" y="2032656"/>
                </a:lnTo>
                <a:lnTo>
                  <a:pt x="4592320" y="2043200"/>
                </a:lnTo>
                <a:lnTo>
                  <a:pt x="4644505" y="2053619"/>
                </a:lnTo>
                <a:lnTo>
                  <a:pt x="4696690" y="2063917"/>
                </a:lnTo>
                <a:lnTo>
                  <a:pt x="4748876" y="2074096"/>
                </a:lnTo>
                <a:lnTo>
                  <a:pt x="4801061" y="2084157"/>
                </a:lnTo>
                <a:lnTo>
                  <a:pt x="4853247" y="2094103"/>
                </a:lnTo>
                <a:lnTo>
                  <a:pt x="4905432" y="2103936"/>
                </a:lnTo>
                <a:lnTo>
                  <a:pt x="4957618" y="2113658"/>
                </a:lnTo>
                <a:lnTo>
                  <a:pt x="5009803" y="2123271"/>
                </a:lnTo>
                <a:lnTo>
                  <a:pt x="5061989" y="2132777"/>
                </a:lnTo>
                <a:lnTo>
                  <a:pt x="5114174" y="2142177"/>
                </a:lnTo>
                <a:lnTo>
                  <a:pt x="5166360" y="2151475"/>
                </a:lnTo>
              </a:path>
            </a:pathLst>
          </a:custGeom>
          <a:noFill/>
          <a:ln w="15240">
            <a:solidFill>
              <a:srgbClr val="AA9DA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6635403" y="2316349"/>
            <a:ext cx="4748877" cy="2058104"/>
          </a:xfrm>
          <a:custGeom>
            <a:avLst/>
            <a:gdLst/>
            <a:ahLst/>
            <a:cxnLst/>
            <a:rect l="l" t="t" r="r" b="b"/>
            <a:pathLst>
              <a:path w="4748877" h="2058104">
                <a:moveTo>
                  <a:pt x="0" y="0"/>
                </a:moveTo>
                <a:lnTo>
                  <a:pt x="52186" y="48752"/>
                </a:lnTo>
                <a:lnTo>
                  <a:pt x="104371" y="96206"/>
                </a:lnTo>
                <a:lnTo>
                  <a:pt x="156556" y="142418"/>
                </a:lnTo>
                <a:lnTo>
                  <a:pt x="208742" y="187438"/>
                </a:lnTo>
                <a:lnTo>
                  <a:pt x="260927" y="231315"/>
                </a:lnTo>
                <a:lnTo>
                  <a:pt x="313113" y="274094"/>
                </a:lnTo>
                <a:lnTo>
                  <a:pt x="365298" y="315819"/>
                </a:lnTo>
                <a:lnTo>
                  <a:pt x="417484" y="356531"/>
                </a:lnTo>
                <a:lnTo>
                  <a:pt x="469669" y="396268"/>
                </a:lnTo>
                <a:lnTo>
                  <a:pt x="521855" y="435068"/>
                </a:lnTo>
                <a:lnTo>
                  <a:pt x="574040" y="472965"/>
                </a:lnTo>
                <a:lnTo>
                  <a:pt x="626226" y="509993"/>
                </a:lnTo>
                <a:lnTo>
                  <a:pt x="678411" y="546182"/>
                </a:lnTo>
                <a:lnTo>
                  <a:pt x="730597" y="581563"/>
                </a:lnTo>
                <a:lnTo>
                  <a:pt x="782782" y="616164"/>
                </a:lnTo>
                <a:lnTo>
                  <a:pt x="834967" y="650013"/>
                </a:lnTo>
                <a:lnTo>
                  <a:pt x="887153" y="683135"/>
                </a:lnTo>
                <a:lnTo>
                  <a:pt x="939338" y="715556"/>
                </a:lnTo>
                <a:lnTo>
                  <a:pt x="991524" y="747297"/>
                </a:lnTo>
                <a:lnTo>
                  <a:pt x="1043709" y="778383"/>
                </a:lnTo>
                <a:lnTo>
                  <a:pt x="1095895" y="808833"/>
                </a:lnTo>
                <a:lnTo>
                  <a:pt x="1148080" y="838670"/>
                </a:lnTo>
                <a:lnTo>
                  <a:pt x="1200266" y="867912"/>
                </a:lnTo>
                <a:lnTo>
                  <a:pt x="1252451" y="896578"/>
                </a:lnTo>
                <a:lnTo>
                  <a:pt x="1304637" y="924687"/>
                </a:lnTo>
                <a:lnTo>
                  <a:pt x="1356822" y="952254"/>
                </a:lnTo>
                <a:lnTo>
                  <a:pt x="1409007" y="979297"/>
                </a:lnTo>
                <a:lnTo>
                  <a:pt x="1461193" y="1005832"/>
                </a:lnTo>
                <a:lnTo>
                  <a:pt x="1513378" y="1031873"/>
                </a:lnTo>
                <a:lnTo>
                  <a:pt x="1565564" y="1057436"/>
                </a:lnTo>
                <a:lnTo>
                  <a:pt x="1617749" y="1082533"/>
                </a:lnTo>
                <a:lnTo>
                  <a:pt x="1669935" y="1107179"/>
                </a:lnTo>
                <a:lnTo>
                  <a:pt x="1722120" y="1131386"/>
                </a:lnTo>
                <a:lnTo>
                  <a:pt x="1774306" y="1155167"/>
                </a:lnTo>
                <a:lnTo>
                  <a:pt x="1826491" y="1178534"/>
                </a:lnTo>
                <a:lnTo>
                  <a:pt x="1878677" y="1201497"/>
                </a:lnTo>
                <a:lnTo>
                  <a:pt x="1930862" y="1224068"/>
                </a:lnTo>
                <a:lnTo>
                  <a:pt x="1983047" y="1246258"/>
                </a:lnTo>
                <a:lnTo>
                  <a:pt x="2035233" y="1268077"/>
                </a:lnTo>
                <a:lnTo>
                  <a:pt x="2087418" y="1289535"/>
                </a:lnTo>
                <a:lnTo>
                  <a:pt x="2139604" y="1310640"/>
                </a:lnTo>
                <a:lnTo>
                  <a:pt x="2191789" y="1331403"/>
                </a:lnTo>
                <a:lnTo>
                  <a:pt x="2243975" y="1351832"/>
                </a:lnTo>
                <a:lnTo>
                  <a:pt x="2296160" y="1371935"/>
                </a:lnTo>
                <a:lnTo>
                  <a:pt x="2348346" y="1391722"/>
                </a:lnTo>
                <a:lnTo>
                  <a:pt x="2400531" y="1411199"/>
                </a:lnTo>
                <a:lnTo>
                  <a:pt x="2452717" y="1430374"/>
                </a:lnTo>
                <a:lnTo>
                  <a:pt x="2504902" y="1449255"/>
                </a:lnTo>
                <a:lnTo>
                  <a:pt x="2557087" y="1467850"/>
                </a:lnTo>
                <a:lnTo>
                  <a:pt x="2609273" y="1486164"/>
                </a:lnTo>
                <a:lnTo>
                  <a:pt x="2661458" y="1504204"/>
                </a:lnTo>
                <a:lnTo>
                  <a:pt x="2713644" y="1521978"/>
                </a:lnTo>
                <a:lnTo>
                  <a:pt x="2765829" y="1539491"/>
                </a:lnTo>
                <a:lnTo>
                  <a:pt x="2818015" y="1556750"/>
                </a:lnTo>
                <a:lnTo>
                  <a:pt x="2870200" y="1573759"/>
                </a:lnTo>
                <a:lnTo>
                  <a:pt x="2922386" y="1590526"/>
                </a:lnTo>
                <a:lnTo>
                  <a:pt x="2974571" y="1607055"/>
                </a:lnTo>
                <a:lnTo>
                  <a:pt x="3026757" y="1623352"/>
                </a:lnTo>
                <a:lnTo>
                  <a:pt x="3078942" y="1639421"/>
                </a:lnTo>
                <a:lnTo>
                  <a:pt x="3131127" y="1655269"/>
                </a:lnTo>
                <a:lnTo>
                  <a:pt x="3183313" y="1670900"/>
                </a:lnTo>
                <a:lnTo>
                  <a:pt x="3235498" y="1686318"/>
                </a:lnTo>
                <a:lnTo>
                  <a:pt x="3287684" y="1701528"/>
                </a:lnTo>
                <a:lnTo>
                  <a:pt x="3339869" y="1716535"/>
                </a:lnTo>
                <a:lnTo>
                  <a:pt x="3392055" y="1731343"/>
                </a:lnTo>
                <a:lnTo>
                  <a:pt x="3444240" y="1745956"/>
                </a:lnTo>
                <a:lnTo>
                  <a:pt x="3496426" y="1760378"/>
                </a:lnTo>
                <a:lnTo>
                  <a:pt x="3548611" y="1774613"/>
                </a:lnTo>
                <a:lnTo>
                  <a:pt x="3600797" y="1788665"/>
                </a:lnTo>
                <a:lnTo>
                  <a:pt x="3652982" y="1802538"/>
                </a:lnTo>
                <a:lnTo>
                  <a:pt x="3705167" y="1816236"/>
                </a:lnTo>
                <a:lnTo>
                  <a:pt x="3757353" y="1829761"/>
                </a:lnTo>
                <a:lnTo>
                  <a:pt x="3809538" y="1843117"/>
                </a:lnTo>
                <a:lnTo>
                  <a:pt x="3861724" y="1856309"/>
                </a:lnTo>
                <a:lnTo>
                  <a:pt x="3913909" y="1869338"/>
                </a:lnTo>
                <a:lnTo>
                  <a:pt x="3966095" y="1882208"/>
                </a:lnTo>
                <a:lnTo>
                  <a:pt x="4018280" y="1894922"/>
                </a:lnTo>
                <a:lnTo>
                  <a:pt x="4070466" y="1907483"/>
                </a:lnTo>
                <a:lnTo>
                  <a:pt x="4122651" y="1919895"/>
                </a:lnTo>
                <a:lnTo>
                  <a:pt x="4174837" y="1932159"/>
                </a:lnTo>
                <a:lnTo>
                  <a:pt x="4227022" y="1944279"/>
                </a:lnTo>
                <a:lnTo>
                  <a:pt x="4279207" y="1956258"/>
                </a:lnTo>
                <a:lnTo>
                  <a:pt x="4331393" y="1968097"/>
                </a:lnTo>
                <a:lnTo>
                  <a:pt x="4383578" y="1979800"/>
                </a:lnTo>
                <a:lnTo>
                  <a:pt x="4435764" y="1991369"/>
                </a:lnTo>
                <a:lnTo>
                  <a:pt x="4487949" y="2002807"/>
                </a:lnTo>
                <a:lnTo>
                  <a:pt x="4540135" y="2014115"/>
                </a:lnTo>
                <a:lnTo>
                  <a:pt x="4592320" y="2025297"/>
                </a:lnTo>
                <a:lnTo>
                  <a:pt x="4644506" y="2036354"/>
                </a:lnTo>
                <a:lnTo>
                  <a:pt x="4696691" y="2047289"/>
                </a:lnTo>
                <a:lnTo>
                  <a:pt x="4748877" y="2058104"/>
                </a:lnTo>
              </a:path>
            </a:pathLst>
          </a:custGeom>
          <a:noFill/>
          <a:ln w="17780">
            <a:solidFill>
              <a:srgbClr val="357E7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62797" y="3887193"/>
            <a:ext cx="118872" cy="118872"/>
          </a:xfrm>
          <a:prstGeom prst="ellipse">
            <a:avLst/>
          </a:prstGeom>
          <a:solidFill>
            <a:srgbClr val="8D7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95385" y="4038069"/>
            <a:ext cx="548640" cy="274320"/>
          </a:xfrm>
          <a:prstGeom prst="rect">
            <a:avLst/>
          </a:prstGeom>
          <a:noFill/>
        </p:spPr>
        <p:txBody>
          <a:bodyPr wrap="square" lIns="0" rIns="0" tIns="0" bIns="0">
            <a:spAutoFit/>
          </a:bodyPr>
          <a:lstStyle/>
          <a:p>
            <a:pPr>
              <a:spcAft>
                <a:spcPts val="0"/>
              </a:spcAft>
              <a:defRPr sz="1500" b="1">
                <a:solidFill>
                  <a:srgbClr val="8D7B86"/>
                </a:solidFill>
                <a:latin typeface="Arial"/>
              </a:defRPr>
            </a:pPr>
            <a:r>
              <a:t>E0</a:t>
            </a:r>
          </a:p>
        </p:txBody>
      </p:sp>
      <p:sp>
        <p:nvSpPr>
          <p:cNvPr id="25" name="Oval 24"/>
          <p:cNvSpPr/>
          <p:nvPr/>
        </p:nvSpPr>
        <p:spPr>
          <a:xfrm>
            <a:off x="7848863" y="3669554"/>
            <a:ext cx="118872" cy="118872"/>
          </a:xfrm>
          <a:prstGeom prst="ellipse">
            <a:avLst/>
          </a:prstGeom>
          <a:solidFill>
            <a:srgbClr val="C7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2539" y="3774710"/>
            <a:ext cx="548640" cy="274320"/>
          </a:xfrm>
          <a:prstGeom prst="rect">
            <a:avLst/>
          </a:prstGeom>
          <a:noFill/>
        </p:spPr>
        <p:txBody>
          <a:bodyPr wrap="square" lIns="0" rIns="0" tIns="0" bIns="0">
            <a:spAutoFit/>
          </a:bodyPr>
          <a:lstStyle/>
          <a:p>
            <a:pPr>
              <a:spcAft>
                <a:spcPts val="0"/>
              </a:spcAft>
              <a:defRPr sz="1500" b="1">
                <a:solidFill>
                  <a:srgbClr val="C78B57"/>
                </a:solidFill>
                <a:latin typeface="Arial"/>
              </a:defRPr>
            </a:pPr>
            <a:r>
              <a:t>Ec</a:t>
            </a:r>
          </a:p>
        </p:txBody>
      </p:sp>
      <p:sp>
        <p:nvSpPr>
          <p:cNvPr id="27" name="Oval 26"/>
          <p:cNvSpPr/>
          <p:nvPr/>
        </p:nvSpPr>
        <p:spPr>
          <a:xfrm>
            <a:off x="8270951" y="3375766"/>
            <a:ext cx="118872" cy="118872"/>
          </a:xfrm>
          <a:prstGeom prst="ellipse">
            <a:avLst/>
          </a:prstGeom>
          <a:solidFill>
            <a:srgbClr val="A717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40115" y="3069442"/>
            <a:ext cx="548640" cy="274320"/>
          </a:xfrm>
          <a:prstGeom prst="rect">
            <a:avLst/>
          </a:prstGeom>
          <a:noFill/>
        </p:spPr>
        <p:txBody>
          <a:bodyPr wrap="square" lIns="0" rIns="0" tIns="0" bIns="0">
            <a:spAutoFit/>
          </a:bodyPr>
          <a:lstStyle/>
          <a:p>
            <a:pPr>
              <a:spcAft>
                <a:spcPts val="0"/>
              </a:spcAft>
              <a:defRPr sz="1500" b="1">
                <a:solidFill>
                  <a:srgbClr val="A71746"/>
                </a:solidFill>
                <a:latin typeface="Arial"/>
              </a:defRPr>
            </a:pPr>
            <a:r>
              <a:t>E1</a:t>
            </a:r>
          </a:p>
        </p:txBody>
      </p:sp>
      <p:sp>
        <p:nvSpPr>
          <p:cNvPr id="29" name="TextBox 28"/>
          <p:cNvSpPr txBox="1"/>
          <p:nvPr/>
        </p:nvSpPr>
        <p:spPr>
          <a:xfrm>
            <a:off x="8138160" y="5513832"/>
            <a:ext cx="1828800" cy="274320"/>
          </a:xfrm>
          <a:prstGeom prst="rect">
            <a:avLst/>
          </a:prstGeom>
          <a:noFill/>
        </p:spPr>
        <p:txBody>
          <a:bodyPr wrap="square" lIns="0" rIns="0" tIns="0" bIns="0">
            <a:spAutoFit/>
          </a:bodyPr>
          <a:lstStyle/>
          <a:p>
            <a:pPr>
              <a:spcAft>
                <a:spcPts val="0"/>
              </a:spcAft>
              <a:defRPr sz="1200" b="0">
                <a:solidFill>
                  <a:srgbClr val="7A7077"/>
                </a:solidFill>
                <a:latin typeface="Arial"/>
              </a:defRPr>
            </a:pPr>
            <a:r>
              <a:t>Leisure</a:t>
            </a:r>
          </a:p>
        </p:txBody>
      </p:sp>
      <p:sp>
        <p:nvSpPr>
          <p:cNvPr id="30" name="TextBox 29"/>
          <p:cNvSpPr txBox="1"/>
          <p:nvPr/>
        </p:nvSpPr>
        <p:spPr>
          <a:xfrm>
            <a:off x="6272784" y="1709928"/>
            <a:ext cx="2743200" cy="274320"/>
          </a:xfrm>
          <a:prstGeom prst="rect">
            <a:avLst/>
          </a:prstGeom>
          <a:noFill/>
        </p:spPr>
        <p:txBody>
          <a:bodyPr wrap="square" lIns="0" rIns="0" tIns="0" bIns="0">
            <a:spAutoFit/>
          </a:bodyPr>
          <a:lstStyle/>
          <a:p>
            <a:pPr>
              <a:spcAft>
                <a:spcPts val="0"/>
              </a:spcAft>
              <a:defRPr sz="1200" b="0">
                <a:solidFill>
                  <a:srgbClr val="7A7077"/>
                </a:solidFill>
                <a:latin typeface="Arial"/>
              </a:defRPr>
            </a:pPr>
            <a:r>
              <a:t>Consumption</a:t>
            </a:r>
          </a:p>
        </p:txBody>
      </p:sp>
      <p:sp>
        <p:nvSpPr>
          <p:cNvPr id="31" name="TextBox 30"/>
          <p:cNvSpPr txBox="1"/>
          <p:nvPr/>
        </p:nvSpPr>
        <p:spPr>
          <a:xfrm>
            <a:off x="6217920" y="5897880"/>
            <a:ext cx="5212080" cy="219456"/>
          </a:xfrm>
          <a:prstGeom prst="rect">
            <a:avLst/>
          </a:prstGeom>
          <a:noFill/>
        </p:spPr>
        <p:txBody>
          <a:bodyPr wrap="square" lIns="0" rIns="0" tIns="0" bIns="0">
            <a:spAutoFit/>
          </a:bodyPr>
          <a:lstStyle/>
          <a:p>
            <a:pPr>
              <a:spcAft>
                <a:spcPts val="0"/>
              </a:spcAft>
              <a:defRPr sz="1100" b="0">
                <a:solidFill>
                  <a:srgbClr val="7A7077"/>
                </a:solidFill>
                <a:latin typeface="Arial"/>
              </a:defRPr>
            </a:pPr>
            <a:r>
              <a:t>E0 → Ec: substitution    /    Ec → E1: income</a:t>
            </a:r>
          </a:p>
        </p:txBody>
      </p:sp>
      <p:sp>
        <p:nvSpPr>
          <p:cNvPr id="32" name="TextBox 31"/>
          <p:cNvSpPr txBox="1"/>
          <p:nvPr/>
        </p:nvSpPr>
        <p:spPr>
          <a:xfrm>
            <a:off x="667512" y="6080760"/>
            <a:ext cx="5303520" cy="164592"/>
          </a:xfrm>
          <a:prstGeom prst="rect">
            <a:avLst/>
          </a:prstGeom>
          <a:noFill/>
        </p:spPr>
        <p:txBody>
          <a:bodyPr wrap="square" lIns="0" rIns="0" tIns="0" bIns="0">
            <a:spAutoFit/>
          </a:bodyPr>
          <a:lstStyle/>
          <a:p>
            <a:pPr>
              <a:spcAft>
                <a:spcPts val="0"/>
              </a:spcAft>
              <a:defRPr sz="900" b="0">
                <a:solidFill>
                  <a:srgbClr val="7A7077"/>
                </a:solidFill>
                <a:latin typeface="Arial"/>
              </a:defRPr>
            </a:pPr>
            <a:r>
              <a:t>Source: Meghir and Phillips (2010). Theoretical illustration.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01C2C"/>
        </a:solidFill>
        <a:effectLst/>
      </p:bgPr>
    </p:bg>
    <p:spTree>
      <p:nvGrpSpPr>
        <p:cNvPr id="1" name=""/>
        <p:cNvGrpSpPr/>
        <p:nvPr/>
      </p:nvGrpSpPr>
      <p:grpSpPr/>
      <p:sp>
        <p:nvSpPr>
          <p:cNvPr id="2" name="TextBox 1"/>
          <p:cNvSpPr txBox="1"/>
          <p:nvPr/>
        </p:nvSpPr>
        <p:spPr>
          <a:xfrm>
            <a:off x="594360" y="320040"/>
            <a:ext cx="7315200" cy="274320"/>
          </a:xfrm>
          <a:prstGeom prst="rect">
            <a:avLst/>
          </a:prstGeom>
          <a:noFill/>
        </p:spPr>
        <p:txBody>
          <a:bodyPr wrap="square" lIns="0" rIns="0" tIns="0" bIns="0">
            <a:spAutoFit/>
          </a:bodyPr>
          <a:lstStyle/>
          <a:p>
            <a:pPr>
              <a:spcAft>
                <a:spcPts val="0"/>
              </a:spcAft>
              <a:defRPr sz="1100" b="1">
                <a:solidFill>
                  <a:srgbClr val="CABAC6"/>
                </a:solidFill>
                <a:latin typeface="Arial"/>
              </a:defRPr>
            </a:pPr>
            <a:r>
              <a:t>PIA6302    /    THE POLITICS OF TAX CUTS</a:t>
            </a:r>
          </a:p>
        </p:txBody>
      </p:sp>
      <p:sp>
        <p:nvSpPr>
          <p:cNvPr id="3" name="TextBox 2"/>
          <p:cNvSpPr txBox="1"/>
          <p:nvPr/>
        </p:nvSpPr>
        <p:spPr>
          <a:xfrm>
            <a:off x="594360" y="868680"/>
            <a:ext cx="6400800" cy="274320"/>
          </a:xfrm>
          <a:prstGeom prst="rect">
            <a:avLst/>
          </a:prstGeom>
          <a:noFill/>
        </p:spPr>
        <p:txBody>
          <a:bodyPr wrap="square" lIns="0" rIns="0" tIns="0" bIns="0">
            <a:spAutoFit/>
          </a:bodyPr>
          <a:lstStyle/>
          <a:p>
            <a:pPr>
              <a:spcAft>
                <a:spcPts val="0"/>
              </a:spcAft>
              <a:defRPr sz="1200" b="1">
                <a:solidFill>
                  <a:srgbClr val="C78B57"/>
                </a:solidFill>
                <a:latin typeface="Arial"/>
              </a:defRPr>
            </a:pPr>
            <a:r>
              <a:t>03   /   REVENUE &amp; EFFICIENCY</a:t>
            </a:r>
          </a:p>
        </p:txBody>
      </p:sp>
      <p:pic>
        <p:nvPicPr>
          <p:cNvPr id="4" name="Picture 3" descr="template_logo.png"/>
          <p:cNvPicPr>
            <a:picLocks noChangeAspect="1"/>
          </p:cNvPicPr>
          <p:nvPr/>
        </p:nvPicPr>
        <p:blipFill>
          <a:blip r:embed="rId2"/>
          <a:stretch>
            <a:fillRect/>
          </a:stretch>
        </p:blipFill>
        <p:spPr>
          <a:xfrm>
            <a:off x="10771632" y="219456"/>
            <a:ext cx="777240" cy="438912"/>
          </a:xfrm>
          <a:prstGeom prst="rect">
            <a:avLst/>
          </a:prstGeom>
        </p:spPr>
      </p:pic>
      <p:cxnSp>
        <p:nvCxnSpPr>
          <p:cNvPr id="5" name="Connector 4"/>
          <p:cNvCxnSpPr/>
          <p:nvPr/>
        </p:nvCxnSpPr>
        <p:spPr>
          <a:xfrm>
            <a:off x="594360" y="6291072"/>
            <a:ext cx="10972800" cy="0"/>
          </a:xfrm>
          <a:prstGeom prst="line">
            <a:avLst/>
          </a:prstGeom>
          <a:ln w="8890">
            <a:solidFill>
              <a:srgbClr val="5C445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37376"/>
            <a:ext cx="8229600" cy="182880"/>
          </a:xfrm>
          <a:prstGeom prst="rect">
            <a:avLst/>
          </a:prstGeom>
          <a:noFill/>
        </p:spPr>
        <p:txBody>
          <a:bodyPr wrap="square" lIns="0" rIns="0" tIns="0" bIns="0">
            <a:spAutoFit/>
          </a:bodyPr>
          <a:lstStyle/>
          <a:p>
            <a:pPr>
              <a:spcAft>
                <a:spcPts val="0"/>
              </a:spcAft>
              <a:defRPr sz="900" b="0">
                <a:solidFill>
                  <a:srgbClr val="CABAC6"/>
                </a:solidFill>
                <a:latin typeface="Arial"/>
              </a:defRPr>
            </a:pPr>
            <a:r>
              <a:t>MEMBER C   /   ECONOMIC EFFICIENCY</a:t>
            </a:r>
          </a:p>
        </p:txBody>
      </p:sp>
      <p:sp>
        <p:nvSpPr>
          <p:cNvPr id="7" name="TextBox 6"/>
          <p:cNvSpPr txBox="1"/>
          <p:nvPr/>
        </p:nvSpPr>
        <p:spPr>
          <a:xfrm>
            <a:off x="10497312" y="6400800"/>
            <a:ext cx="1051560" cy="228600"/>
          </a:xfrm>
          <a:prstGeom prst="rect">
            <a:avLst/>
          </a:prstGeom>
          <a:noFill/>
        </p:spPr>
        <p:txBody>
          <a:bodyPr wrap="square" lIns="0" rIns="0" tIns="0" bIns="0">
            <a:spAutoFit/>
          </a:bodyPr>
          <a:lstStyle/>
          <a:p>
            <a:pPr>
              <a:spcAft>
                <a:spcPts val="0"/>
              </a:spcAft>
              <a:defRPr sz="1100" b="0">
                <a:solidFill>
                  <a:srgbClr val="CABAC6"/>
                </a:solidFill>
                <a:latin typeface="Arial"/>
              </a:defRPr>
            </a:pPr>
            <a:r>
              <a:t>03 / 03</a:t>
            </a:r>
          </a:p>
        </p:txBody>
      </p:sp>
      <p:sp>
        <p:nvSpPr>
          <p:cNvPr id="8" name="TextBox 7"/>
          <p:cNvSpPr txBox="1"/>
          <p:nvPr/>
        </p:nvSpPr>
        <p:spPr>
          <a:xfrm>
            <a:off x="594360" y="1417320"/>
            <a:ext cx="6949440" cy="1508760"/>
          </a:xfrm>
          <a:prstGeom prst="rect">
            <a:avLst/>
          </a:prstGeom>
          <a:noFill/>
        </p:spPr>
        <p:txBody>
          <a:bodyPr wrap="square" lIns="0" rIns="0" tIns="0" bIns="0">
            <a:spAutoFit/>
          </a:bodyPr>
          <a:lstStyle/>
          <a:p>
            <a:pPr>
              <a:spcAft>
                <a:spcPts val="0"/>
              </a:spcAft>
              <a:defRPr sz="4200" b="0">
                <a:solidFill>
                  <a:srgbClr val="FFFCF8"/>
                </a:solidFill>
                <a:latin typeface="Georgia"/>
              </a:defRPr>
            </a:pPr>
            <a:r>
              <a:t>Growth recovers</a:t>
            </a:r>
          </a:p>
          <a:p>
            <a:pPr>
              <a:spcAft>
                <a:spcPts val="0"/>
              </a:spcAft>
              <a:defRPr sz="4200" b="0">
                <a:solidFill>
                  <a:srgbClr val="FFFCF8"/>
                </a:solidFill>
                <a:latin typeface="Georgia"/>
              </a:defRPr>
            </a:pPr>
            <a:r>
              <a:t>part of the cost.</a:t>
            </a:r>
          </a:p>
        </p:txBody>
      </p:sp>
      <p:sp>
        <p:nvSpPr>
          <p:cNvPr id="9" name="TextBox 8"/>
          <p:cNvSpPr txBox="1"/>
          <p:nvPr/>
        </p:nvSpPr>
        <p:spPr>
          <a:xfrm>
            <a:off x="667512" y="3136392"/>
            <a:ext cx="5486400" cy="292608"/>
          </a:xfrm>
          <a:prstGeom prst="rect">
            <a:avLst/>
          </a:prstGeom>
          <a:noFill/>
        </p:spPr>
        <p:txBody>
          <a:bodyPr wrap="square" lIns="0" rIns="0" tIns="0" bIns="0">
            <a:spAutoFit/>
          </a:bodyPr>
          <a:lstStyle/>
          <a:p>
            <a:pPr>
              <a:spcAft>
                <a:spcPts val="0"/>
              </a:spcAft>
              <a:defRPr sz="1200" b="1">
                <a:solidFill>
                  <a:srgbClr val="CABAC6"/>
                </a:solidFill>
                <a:latin typeface="Arial"/>
              </a:defRPr>
            </a:pPr>
            <a:r>
              <a:t>THE LAFFER CURVE     /     R = tB(t)</a:t>
            </a:r>
          </a:p>
        </p:txBody>
      </p:sp>
      <p:cxnSp>
        <p:nvCxnSpPr>
          <p:cNvPr id="10" name="Connector 9"/>
          <p:cNvCxnSpPr/>
          <p:nvPr/>
        </p:nvCxnSpPr>
        <p:spPr>
          <a:xfrm>
            <a:off x="868680" y="5550408"/>
            <a:ext cx="5486400" cy="0"/>
          </a:xfrm>
          <a:prstGeom prst="line">
            <a:avLst/>
          </a:prstGeom>
          <a:ln w="10160">
            <a:solidFill>
              <a:srgbClr val="8D7586"/>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868680" y="3922942"/>
            <a:ext cx="5486400" cy="1627466"/>
          </a:xfrm>
          <a:custGeom>
            <a:avLst/>
            <a:gdLst/>
            <a:ahLst/>
            <a:cxnLst/>
            <a:rect l="l" t="t" r="r" b="b"/>
            <a:pathLst>
              <a:path w="5486400" h="1627466">
                <a:moveTo>
                  <a:pt x="0" y="1627466"/>
                </a:moveTo>
                <a:lnTo>
                  <a:pt x="55418" y="1562367"/>
                </a:lnTo>
                <a:lnTo>
                  <a:pt x="110836" y="1498597"/>
                </a:lnTo>
                <a:lnTo>
                  <a:pt x="166254" y="1436155"/>
                </a:lnTo>
                <a:lnTo>
                  <a:pt x="221672" y="1375042"/>
                </a:lnTo>
                <a:lnTo>
                  <a:pt x="277090" y="1315258"/>
                </a:lnTo>
                <a:lnTo>
                  <a:pt x="332509" y="1256802"/>
                </a:lnTo>
                <a:lnTo>
                  <a:pt x="387927" y="1199674"/>
                </a:lnTo>
                <a:lnTo>
                  <a:pt x="443345" y="1143876"/>
                </a:lnTo>
                <a:lnTo>
                  <a:pt x="498763" y="1089405"/>
                </a:lnTo>
                <a:lnTo>
                  <a:pt x="554181" y="1036264"/>
                </a:lnTo>
                <a:lnTo>
                  <a:pt x="609600" y="984450"/>
                </a:lnTo>
                <a:lnTo>
                  <a:pt x="665018" y="933966"/>
                </a:lnTo>
                <a:lnTo>
                  <a:pt x="720436" y="884810"/>
                </a:lnTo>
                <a:lnTo>
                  <a:pt x="775854" y="836982"/>
                </a:lnTo>
                <a:lnTo>
                  <a:pt x="831272" y="790483"/>
                </a:lnTo>
                <a:lnTo>
                  <a:pt x="886690" y="745313"/>
                </a:lnTo>
                <a:lnTo>
                  <a:pt x="942109" y="701471"/>
                </a:lnTo>
                <a:lnTo>
                  <a:pt x="997527" y="658957"/>
                </a:lnTo>
                <a:lnTo>
                  <a:pt x="1052945" y="617772"/>
                </a:lnTo>
                <a:lnTo>
                  <a:pt x="1108363" y="577916"/>
                </a:lnTo>
                <a:lnTo>
                  <a:pt x="1163781" y="539388"/>
                </a:lnTo>
                <a:lnTo>
                  <a:pt x="1219200" y="502189"/>
                </a:lnTo>
                <a:lnTo>
                  <a:pt x="1274618" y="466318"/>
                </a:lnTo>
                <a:lnTo>
                  <a:pt x="1330036" y="431776"/>
                </a:lnTo>
                <a:lnTo>
                  <a:pt x="1385454" y="398563"/>
                </a:lnTo>
                <a:lnTo>
                  <a:pt x="1440872" y="366678"/>
                </a:lnTo>
                <a:lnTo>
                  <a:pt x="1496290" y="336121"/>
                </a:lnTo>
                <a:lnTo>
                  <a:pt x="1551709" y="306893"/>
                </a:lnTo>
                <a:lnTo>
                  <a:pt x="1607127" y="278994"/>
                </a:lnTo>
                <a:lnTo>
                  <a:pt x="1662545" y="252423"/>
                </a:lnTo>
                <a:lnTo>
                  <a:pt x="1717963" y="227181"/>
                </a:lnTo>
                <a:lnTo>
                  <a:pt x="1773381" y="203267"/>
                </a:lnTo>
                <a:lnTo>
                  <a:pt x="1828800" y="180682"/>
                </a:lnTo>
                <a:lnTo>
                  <a:pt x="1884218" y="159425"/>
                </a:lnTo>
                <a:lnTo>
                  <a:pt x="1939636" y="139497"/>
                </a:lnTo>
                <a:lnTo>
                  <a:pt x="1995054" y="120897"/>
                </a:lnTo>
                <a:lnTo>
                  <a:pt x="2050472" y="103626"/>
                </a:lnTo>
                <a:lnTo>
                  <a:pt x="2105890" y="87683"/>
                </a:lnTo>
                <a:lnTo>
                  <a:pt x="2161309" y="73069"/>
                </a:lnTo>
                <a:lnTo>
                  <a:pt x="2216727" y="59784"/>
                </a:lnTo>
                <a:lnTo>
                  <a:pt x="2272145" y="47827"/>
                </a:lnTo>
                <a:lnTo>
                  <a:pt x="2327563" y="37199"/>
                </a:lnTo>
                <a:lnTo>
                  <a:pt x="2382981" y="27899"/>
                </a:lnTo>
                <a:lnTo>
                  <a:pt x="2438400" y="19928"/>
                </a:lnTo>
                <a:lnTo>
                  <a:pt x="2493818" y="13285"/>
                </a:lnTo>
                <a:lnTo>
                  <a:pt x="2549236" y="7971"/>
                </a:lnTo>
                <a:lnTo>
                  <a:pt x="2604654" y="3985"/>
                </a:lnTo>
                <a:lnTo>
                  <a:pt x="2660072" y="1328"/>
                </a:lnTo>
                <a:lnTo>
                  <a:pt x="2715490" y="0"/>
                </a:lnTo>
                <a:lnTo>
                  <a:pt x="2770909" y="0"/>
                </a:lnTo>
                <a:lnTo>
                  <a:pt x="2826327" y="1328"/>
                </a:lnTo>
                <a:lnTo>
                  <a:pt x="2881745" y="3985"/>
                </a:lnTo>
                <a:lnTo>
                  <a:pt x="2937163" y="7971"/>
                </a:lnTo>
                <a:lnTo>
                  <a:pt x="2992581" y="13285"/>
                </a:lnTo>
                <a:lnTo>
                  <a:pt x="3048000" y="19928"/>
                </a:lnTo>
                <a:lnTo>
                  <a:pt x="3103418" y="27899"/>
                </a:lnTo>
                <a:lnTo>
                  <a:pt x="3158836" y="37199"/>
                </a:lnTo>
                <a:lnTo>
                  <a:pt x="3214254" y="47827"/>
                </a:lnTo>
                <a:lnTo>
                  <a:pt x="3269672" y="59784"/>
                </a:lnTo>
                <a:lnTo>
                  <a:pt x="3325090" y="73069"/>
                </a:lnTo>
                <a:lnTo>
                  <a:pt x="3380509" y="87683"/>
                </a:lnTo>
                <a:lnTo>
                  <a:pt x="3435927" y="103626"/>
                </a:lnTo>
                <a:lnTo>
                  <a:pt x="3491345" y="120897"/>
                </a:lnTo>
                <a:lnTo>
                  <a:pt x="3546763" y="139497"/>
                </a:lnTo>
                <a:lnTo>
                  <a:pt x="3602181" y="159425"/>
                </a:lnTo>
                <a:lnTo>
                  <a:pt x="3657600" y="180682"/>
                </a:lnTo>
                <a:lnTo>
                  <a:pt x="3713018" y="203267"/>
                </a:lnTo>
                <a:lnTo>
                  <a:pt x="3768436" y="227181"/>
                </a:lnTo>
                <a:lnTo>
                  <a:pt x="3823854" y="252423"/>
                </a:lnTo>
                <a:lnTo>
                  <a:pt x="3879272" y="278994"/>
                </a:lnTo>
                <a:lnTo>
                  <a:pt x="3934690" y="306893"/>
                </a:lnTo>
                <a:lnTo>
                  <a:pt x="3990109" y="336121"/>
                </a:lnTo>
                <a:lnTo>
                  <a:pt x="4045527" y="366678"/>
                </a:lnTo>
                <a:lnTo>
                  <a:pt x="4100945" y="398563"/>
                </a:lnTo>
                <a:lnTo>
                  <a:pt x="4156363" y="431776"/>
                </a:lnTo>
                <a:lnTo>
                  <a:pt x="4211781" y="466318"/>
                </a:lnTo>
                <a:lnTo>
                  <a:pt x="4267200" y="502189"/>
                </a:lnTo>
                <a:lnTo>
                  <a:pt x="4322618" y="539388"/>
                </a:lnTo>
                <a:lnTo>
                  <a:pt x="4378036" y="577916"/>
                </a:lnTo>
                <a:lnTo>
                  <a:pt x="4433454" y="617772"/>
                </a:lnTo>
                <a:lnTo>
                  <a:pt x="4488872" y="658957"/>
                </a:lnTo>
                <a:lnTo>
                  <a:pt x="4544290" y="701471"/>
                </a:lnTo>
                <a:lnTo>
                  <a:pt x="4599709" y="745313"/>
                </a:lnTo>
                <a:lnTo>
                  <a:pt x="4655127" y="790483"/>
                </a:lnTo>
                <a:lnTo>
                  <a:pt x="4710545" y="836982"/>
                </a:lnTo>
                <a:lnTo>
                  <a:pt x="4765963" y="884810"/>
                </a:lnTo>
                <a:lnTo>
                  <a:pt x="4821381" y="933966"/>
                </a:lnTo>
                <a:lnTo>
                  <a:pt x="4876800" y="984450"/>
                </a:lnTo>
                <a:lnTo>
                  <a:pt x="4932218" y="1036264"/>
                </a:lnTo>
                <a:lnTo>
                  <a:pt x="4987636" y="1089405"/>
                </a:lnTo>
                <a:lnTo>
                  <a:pt x="5043054" y="1143876"/>
                </a:lnTo>
                <a:lnTo>
                  <a:pt x="5098472" y="1199674"/>
                </a:lnTo>
                <a:lnTo>
                  <a:pt x="5153890" y="1256802"/>
                </a:lnTo>
                <a:lnTo>
                  <a:pt x="5209309" y="1315258"/>
                </a:lnTo>
                <a:lnTo>
                  <a:pt x="5264727" y="1375042"/>
                </a:lnTo>
                <a:lnTo>
                  <a:pt x="5320145" y="1436155"/>
                </a:lnTo>
                <a:lnTo>
                  <a:pt x="5375563" y="1498597"/>
                </a:lnTo>
                <a:lnTo>
                  <a:pt x="5430981" y="1562367"/>
                </a:lnTo>
                <a:lnTo>
                  <a:pt x="5486400" y="1627466"/>
                </a:lnTo>
              </a:path>
            </a:pathLst>
          </a:custGeom>
          <a:noFill/>
          <a:ln w="31750">
            <a:solidFill>
              <a:srgbClr val="F3C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3611880" y="3922776"/>
            <a:ext cx="0" cy="1627632"/>
          </a:xfrm>
          <a:prstGeom prst="line">
            <a:avLst/>
          </a:prstGeom>
          <a:ln w="12700">
            <a:solidFill>
              <a:srgbClr val="8D758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38144" y="5650992"/>
            <a:ext cx="548640" cy="274320"/>
          </a:xfrm>
          <a:prstGeom prst="rect">
            <a:avLst/>
          </a:prstGeom>
          <a:noFill/>
        </p:spPr>
        <p:txBody>
          <a:bodyPr wrap="square" lIns="0" rIns="0" tIns="0" bIns="0">
            <a:spAutoFit/>
          </a:bodyPr>
          <a:lstStyle/>
          <a:p>
            <a:pPr>
              <a:spcAft>
                <a:spcPts val="0"/>
              </a:spcAft>
              <a:defRPr sz="1500" b="0">
                <a:solidFill>
                  <a:srgbClr val="FFFCF8"/>
                </a:solidFill>
                <a:latin typeface="Arial"/>
              </a:defRPr>
            </a:pPr>
            <a:r>
              <a:t>t*</a:t>
            </a:r>
          </a:p>
        </p:txBody>
      </p:sp>
      <p:sp>
        <p:nvSpPr>
          <p:cNvPr id="14" name="TextBox 13"/>
          <p:cNvSpPr txBox="1"/>
          <p:nvPr/>
        </p:nvSpPr>
        <p:spPr>
          <a:xfrm>
            <a:off x="5029200" y="5650992"/>
            <a:ext cx="1280160" cy="274320"/>
          </a:xfrm>
          <a:prstGeom prst="rect">
            <a:avLst/>
          </a:prstGeom>
          <a:noFill/>
        </p:spPr>
        <p:txBody>
          <a:bodyPr wrap="square" lIns="0" rIns="0" tIns="0" bIns="0">
            <a:spAutoFit/>
          </a:bodyPr>
          <a:lstStyle/>
          <a:p>
            <a:pPr>
              <a:spcAft>
                <a:spcPts val="0"/>
              </a:spcAft>
              <a:defRPr sz="1200" b="0">
                <a:solidFill>
                  <a:srgbClr val="CABAC6"/>
                </a:solidFill>
                <a:latin typeface="Arial"/>
              </a:defRPr>
            </a:pPr>
            <a:r>
              <a:t>Tax rate</a:t>
            </a:r>
          </a:p>
        </p:txBody>
      </p:sp>
      <p:sp>
        <p:nvSpPr>
          <p:cNvPr id="15" name="TextBox 14"/>
          <p:cNvSpPr txBox="1"/>
          <p:nvPr/>
        </p:nvSpPr>
        <p:spPr>
          <a:xfrm>
            <a:off x="932688" y="3813048"/>
            <a:ext cx="2103120" cy="640080"/>
          </a:xfrm>
          <a:prstGeom prst="rect">
            <a:avLst/>
          </a:prstGeom>
          <a:noFill/>
        </p:spPr>
        <p:txBody>
          <a:bodyPr wrap="square" lIns="0" rIns="0" tIns="0" bIns="0">
            <a:spAutoFit/>
          </a:bodyPr>
          <a:lstStyle/>
          <a:p>
            <a:pPr>
              <a:spcAft>
                <a:spcPts val="0"/>
              </a:spcAft>
              <a:defRPr sz="1400" b="0">
                <a:solidFill>
                  <a:srgbClr val="CABAC6"/>
                </a:solidFill>
                <a:latin typeface="Arial"/>
              </a:defRPr>
            </a:pPr>
            <a:r>
              <a:t>Taxable-base</a:t>
            </a:r>
          </a:p>
          <a:p>
            <a:pPr>
              <a:spcAft>
                <a:spcPts val="0"/>
              </a:spcAft>
              <a:defRPr sz="1400" b="0">
                <a:solidFill>
                  <a:srgbClr val="CABAC6"/>
                </a:solidFill>
                <a:latin typeface="Arial"/>
              </a:defRPr>
            </a:pPr>
            <a:r>
              <a:t>response matters</a:t>
            </a:r>
          </a:p>
        </p:txBody>
      </p:sp>
      <p:cxnSp>
        <p:nvCxnSpPr>
          <p:cNvPr id="16" name="Connector 15"/>
          <p:cNvCxnSpPr/>
          <p:nvPr/>
        </p:nvCxnSpPr>
        <p:spPr>
          <a:xfrm>
            <a:off x="7543800" y="1508760"/>
            <a:ext cx="0" cy="4352544"/>
          </a:xfrm>
          <a:prstGeom prst="line">
            <a:avLst/>
          </a:prstGeom>
          <a:ln w="10160">
            <a:solidFill>
              <a:srgbClr val="5C445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20" y="1554480"/>
            <a:ext cx="3566160" cy="292608"/>
          </a:xfrm>
          <a:prstGeom prst="rect">
            <a:avLst/>
          </a:prstGeom>
          <a:noFill/>
        </p:spPr>
        <p:txBody>
          <a:bodyPr wrap="square" lIns="0" rIns="0" tIns="0" bIns="0">
            <a:spAutoFit/>
          </a:bodyPr>
          <a:lstStyle/>
          <a:p>
            <a:pPr>
              <a:spcAft>
                <a:spcPts val="0"/>
              </a:spcAft>
              <a:defRPr sz="1100" b="1">
                <a:solidFill>
                  <a:srgbClr val="CABAC6"/>
                </a:solidFill>
                <a:latin typeface="Arial"/>
              </a:defRPr>
            </a:pPr>
            <a:r>
              <a:t>OBR  /  MARCH 2024 FORECAST</a:t>
            </a:r>
          </a:p>
        </p:txBody>
      </p:sp>
      <p:sp>
        <p:nvSpPr>
          <p:cNvPr id="18" name="TextBox 17"/>
          <p:cNvSpPr txBox="1"/>
          <p:nvPr/>
        </p:nvSpPr>
        <p:spPr>
          <a:xfrm>
            <a:off x="8001000" y="2148840"/>
            <a:ext cx="3657600" cy="777240"/>
          </a:xfrm>
          <a:prstGeom prst="rect">
            <a:avLst/>
          </a:prstGeom>
          <a:noFill/>
        </p:spPr>
        <p:txBody>
          <a:bodyPr wrap="square" lIns="0" rIns="0" tIns="0" bIns="0">
            <a:spAutoFit/>
          </a:bodyPr>
          <a:lstStyle/>
          <a:p>
            <a:pPr>
              <a:spcAft>
                <a:spcPts val="0"/>
              </a:spcAft>
              <a:defRPr sz="5200" b="1">
                <a:solidFill>
                  <a:srgbClr val="FFFCF8"/>
                </a:solidFill>
                <a:latin typeface="Arial"/>
              </a:defRPr>
            </a:pPr>
            <a:r>
              <a:t>98,000</a:t>
            </a:r>
          </a:p>
        </p:txBody>
      </p:sp>
      <p:sp>
        <p:nvSpPr>
          <p:cNvPr id="19" name="TextBox 18"/>
          <p:cNvSpPr txBox="1"/>
          <p:nvPr/>
        </p:nvSpPr>
        <p:spPr>
          <a:xfrm>
            <a:off x="8092440" y="3008376"/>
            <a:ext cx="3474720" cy="640080"/>
          </a:xfrm>
          <a:prstGeom prst="rect">
            <a:avLst/>
          </a:prstGeom>
          <a:noFill/>
        </p:spPr>
        <p:txBody>
          <a:bodyPr wrap="square" lIns="0" rIns="0" tIns="0" bIns="0">
            <a:spAutoFit/>
          </a:bodyPr>
          <a:lstStyle/>
          <a:p>
            <a:pPr>
              <a:spcAft>
                <a:spcPts val="0"/>
              </a:spcAft>
              <a:defRPr sz="1700" b="0">
                <a:solidFill>
                  <a:srgbClr val="CABAC6"/>
                </a:solidFill>
                <a:latin typeface="Arial"/>
              </a:defRPr>
            </a:pPr>
            <a:r>
              <a:t>Additional labour supply</a:t>
            </a:r>
          </a:p>
          <a:p>
            <a:pPr>
              <a:spcAft>
                <a:spcPts val="0"/>
              </a:spcAft>
              <a:defRPr sz="1700" b="0">
                <a:solidFill>
                  <a:srgbClr val="CABAC6"/>
                </a:solidFill>
                <a:latin typeface="Arial"/>
              </a:defRPr>
            </a:pPr>
            <a:r>
              <a:t>in full-time equivalents</a:t>
            </a:r>
          </a:p>
        </p:txBody>
      </p:sp>
      <p:cxnSp>
        <p:nvCxnSpPr>
          <p:cNvPr id="20" name="Connector 19"/>
          <p:cNvCxnSpPr/>
          <p:nvPr/>
        </p:nvCxnSpPr>
        <p:spPr>
          <a:xfrm>
            <a:off x="8092440" y="3858768"/>
            <a:ext cx="3337560" cy="0"/>
          </a:xfrm>
          <a:prstGeom prst="line">
            <a:avLst/>
          </a:prstGeom>
          <a:ln w="8890">
            <a:solidFill>
              <a:srgbClr val="5C44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01000" y="4169663"/>
            <a:ext cx="3474720" cy="777240"/>
          </a:xfrm>
          <a:prstGeom prst="rect">
            <a:avLst/>
          </a:prstGeom>
          <a:noFill/>
        </p:spPr>
        <p:txBody>
          <a:bodyPr wrap="square" lIns="0" rIns="0" tIns="0" bIns="0">
            <a:spAutoFit/>
          </a:bodyPr>
          <a:lstStyle/>
          <a:p>
            <a:pPr>
              <a:spcAft>
                <a:spcPts val="0"/>
              </a:spcAft>
              <a:defRPr sz="5200" b="1">
                <a:solidFill>
                  <a:srgbClr val="E9AE7A"/>
                </a:solidFill>
                <a:latin typeface="Arial"/>
              </a:defRPr>
            </a:pPr>
            <a:r>
              <a:t>≈20%</a:t>
            </a:r>
          </a:p>
        </p:txBody>
      </p:sp>
      <p:sp>
        <p:nvSpPr>
          <p:cNvPr id="22" name="TextBox 21"/>
          <p:cNvSpPr txBox="1"/>
          <p:nvPr/>
        </p:nvSpPr>
        <p:spPr>
          <a:xfrm>
            <a:off x="8092440" y="5038344"/>
            <a:ext cx="3474720" cy="658368"/>
          </a:xfrm>
          <a:prstGeom prst="rect">
            <a:avLst/>
          </a:prstGeom>
          <a:noFill/>
        </p:spPr>
        <p:txBody>
          <a:bodyPr wrap="square" lIns="0" rIns="0" tIns="0" bIns="0">
            <a:spAutoFit/>
          </a:bodyPr>
          <a:lstStyle/>
          <a:p>
            <a:pPr>
              <a:spcAft>
                <a:spcPts val="0"/>
              </a:spcAft>
              <a:defRPr sz="1700" b="0">
                <a:solidFill>
                  <a:srgbClr val="CABAC6"/>
                </a:solidFill>
                <a:latin typeface="Arial"/>
              </a:defRPr>
            </a:pPr>
            <a:r>
              <a:t>of the static fiscal cost</a:t>
            </a:r>
          </a:p>
          <a:p>
            <a:pPr>
              <a:spcAft>
                <a:spcPts val="0"/>
              </a:spcAft>
              <a:defRPr sz="1700" b="0">
                <a:solidFill>
                  <a:srgbClr val="CABAC6"/>
                </a:solidFill>
                <a:latin typeface="Arial"/>
              </a:defRPr>
            </a:pPr>
            <a:r>
              <a:t>recovered through behaviour</a:t>
            </a:r>
          </a:p>
        </p:txBody>
      </p:sp>
      <p:sp>
        <p:nvSpPr>
          <p:cNvPr id="23" name="TextBox 22"/>
          <p:cNvSpPr txBox="1"/>
          <p:nvPr/>
        </p:nvSpPr>
        <p:spPr>
          <a:xfrm>
            <a:off x="667512" y="6080760"/>
            <a:ext cx="10424160" cy="164592"/>
          </a:xfrm>
          <a:prstGeom prst="rect">
            <a:avLst/>
          </a:prstGeom>
          <a:noFill/>
        </p:spPr>
        <p:txBody>
          <a:bodyPr wrap="square" lIns="0" rIns="0" tIns="0" bIns="0">
            <a:spAutoFit/>
          </a:bodyPr>
          <a:lstStyle/>
          <a:p>
            <a:pPr>
              <a:spcAft>
                <a:spcPts val="0"/>
              </a:spcAft>
              <a:defRPr sz="900" b="0">
                <a:solidFill>
                  <a:srgbClr val="CABAC6"/>
                </a:solidFill>
                <a:latin typeface="Arial"/>
              </a:defRPr>
            </a:pPr>
            <a:r>
              <a:t>Sources: Hemming and Kay (1980); OBR (2024), paras. 3.9–3.10. Laffer curve: theoretical illustration.</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自定义 2853">
      <a:dk1>
        <a:srgbClr val="000000"/>
      </a:dk1>
      <a:lt1>
        <a:srgbClr val="FFFFFF"/>
      </a:lt1>
      <a:dk2>
        <a:srgbClr val="44546A"/>
      </a:dk2>
      <a:lt2>
        <a:srgbClr val="E7E6E6"/>
      </a:lt2>
      <a:accent1>
        <a:srgbClr val="BA1B4D"/>
      </a:accent1>
      <a:accent2>
        <a:srgbClr val="E06E3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