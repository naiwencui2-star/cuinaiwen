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74" r:id="rId23"/>
    <p:sldId id="275" r:id="rId24"/>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1</a:t>
            </a:r>
          </a:p>
          <a:p>
            <a:r>
              <a:t>Target: 35 seconds.</a:t>
            </a:r>
          </a:p>
          <a:p/>
          <a:p>
            <a:r>
              <a:t>My part explains how the National Insurance cuts affect economic efficiency. First, they increase the reward from additional work. With income tax fixed at twenty per cent, employees retain sixty-eight, seventy and then seventy-two pence from each extra pound earned. The combined increase is about five point nine per cent. This calculation applies to earnings within the main National Insurance band. It shows how the policy strengthens financial incentives.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487" name="Google Shape;4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2</a:t>
            </a:r>
          </a:p>
          <a:p>
            <a:r>
              <a:t>Target: 35 seconds.</a:t>
            </a:r>
          </a:p>
          <a:p/>
          <a:p>
            <a:r>
              <a:t>However, two effects influence working hours. The substitution effect makes leisure more expensive because an hour away from work now sacrifices more income. This encourages additional work. The income effect operates in the opposite direction: higher disposable income allows people to enjoy more leisure. The final response depends on their relative strength. We should also distinguish entering employment from changing hours among existing workers.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512" name="Google Shape;51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3</a:t>
            </a:r>
          </a:p>
          <a:p>
            <a:r>
              <a:t>Target: 35 seconds.</a:t>
            </a:r>
          </a:p>
          <a:p/>
          <a:p>
            <a:r>
              <a:t>Finally, the Laffer curve links tax rates with the taxable base. Stronger work incentives can expand that base and recover some lost revenue. The OBR projected a labour-supply increase equivalent to ninety-eight thousand full-time workers and approximately twenty per cent recovery of the March measures’ static fiscal cost. My conclusion is that the cuts have a credible incentive rationale, while their overall value also depends on sustainable financing.</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563" name="Google Shape;56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1"/>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0" name="Google Shape;490;p31"/>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1" name="Google Shape;491;p31"/>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492" name="Google Shape;492;p31"/>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493" name="Google Shape;493;p31"/>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494" name="Google Shape;494;p31"/>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495" name="Google Shape;495;p31"/>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496" name="Google Shape;496;p31"/>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Tax incentives: higher marginal take-home pay</a:t>
            </a:r>
            <a:endParaRPr b="1" sz="2400">
              <a:solidFill>
                <a:schemeClr val="accent1"/>
              </a:solidFill>
              <a:latin typeface="Arial"/>
              <a:ea typeface="Arial"/>
              <a:cs typeface="Arial"/>
              <a:sym typeface="Arial"/>
            </a:endParaRPr>
          </a:p>
        </p:txBody>
      </p:sp>
      <p:sp>
        <p:nvSpPr>
          <p:cNvPr id="497" name="Google Shape;497;p31"/>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31"/>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1</a:t>
            </a:r>
            <a:endParaRPr b="1">
              <a:solidFill>
                <a:schemeClr val="accent1"/>
              </a:solidFill>
              <a:latin typeface="Arial"/>
              <a:ea typeface="Arial"/>
              <a:cs typeface="Arial"/>
              <a:sym typeface="Arial"/>
            </a:endParaRPr>
          </a:p>
        </p:txBody>
      </p:sp>
      <p:sp>
        <p:nvSpPr>
          <p:cNvPr id="499" name="Google Shape;499;p31"/>
          <p:cNvSpPr/>
          <p:nvPr/>
        </p:nvSpPr>
        <p:spPr>
          <a:xfrm>
            <a:off x="1547248" y="2001804"/>
            <a:ext cx="8867614" cy="836908"/>
          </a:xfrm>
          <a:prstGeom prst="roundRect">
            <a:avLst>
              <a:gd fmla="val 50000" name="adj"/>
            </a:avLst>
          </a:prstGeom>
          <a:solidFill>
            <a:schemeClr val="lt1"/>
          </a:solidFill>
          <a:ln cap="flat" cmpd="sng" w="12700">
            <a:solidFill>
              <a:schemeClr val="accent1">
                <a:alpha val="54901"/>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0" name="Google Shape;500;p31"/>
          <p:cNvSpPr/>
          <p:nvPr/>
        </p:nvSpPr>
        <p:spPr>
          <a:xfrm flipH="1" rot="10800000">
            <a:off x="5388528" y="2945691"/>
            <a:ext cx="1414944" cy="449450"/>
          </a:xfrm>
          <a:prstGeom prst="triangle">
            <a:avLst>
              <a:gd fmla="val 50000" name="adj"/>
            </a:avLst>
          </a:prstGeom>
          <a:gradFill>
            <a:gsLst>
              <a:gs pos="0">
                <a:srgbClr val="BA1B4D">
                  <a:alpha val="58823"/>
                </a:srgbClr>
              </a:gs>
              <a:gs pos="93000">
                <a:srgbClr val="BA1B4D">
                  <a:alpha val="0"/>
                </a:srgbClr>
              </a:gs>
              <a:gs pos="100000">
                <a:srgbClr val="BA1B4D">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1" name="Google Shape;501;p31"/>
          <p:cNvSpPr txBox="1"/>
          <p:nvPr/>
        </p:nvSpPr>
        <p:spPr>
          <a:xfrm>
            <a:off x="1848174" y="2055767"/>
            <a:ext cx="8265762" cy="728982"/>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 sz="2000">
                <a:solidFill>
                  <a:schemeClr val="accent1"/>
                </a:solidFill>
                <a:latin typeface="Microsoft YaHei"/>
                <a:ea typeface="Microsoft YaHei"/>
                <a:cs typeface="Microsoft YaHei"/>
                <a:sym typeface="Microsoft YaHei"/>
              </a:rPr>
              <a:t>Before 6 Jan 2024: NICs 12% → retain 68p per extra £1</a:t>
            </a:r>
            <a:endParaRPr/>
          </a:p>
        </p:txBody>
      </p:sp>
      <p:sp>
        <p:nvSpPr>
          <p:cNvPr id="502" name="Google Shape;502;p31"/>
          <p:cNvSpPr/>
          <p:nvPr/>
        </p:nvSpPr>
        <p:spPr>
          <a:xfrm flipH="1" rot="10800000">
            <a:off x="5388528" y="4528529"/>
            <a:ext cx="1414944" cy="449450"/>
          </a:xfrm>
          <a:prstGeom prst="triangle">
            <a:avLst>
              <a:gd fmla="val 50000" name="adj"/>
            </a:avLst>
          </a:prstGeom>
          <a:gradFill>
            <a:gsLst>
              <a:gs pos="0">
                <a:srgbClr val="BA1B4D">
                  <a:alpha val="58823"/>
                </a:srgbClr>
              </a:gs>
              <a:gs pos="93000">
                <a:srgbClr val="BA1B4D">
                  <a:alpha val="0"/>
                </a:srgbClr>
              </a:gs>
              <a:gs pos="100000">
                <a:srgbClr val="BA1B4D">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3" name="Google Shape;503;p31"/>
          <p:cNvSpPr/>
          <p:nvPr/>
        </p:nvSpPr>
        <p:spPr>
          <a:xfrm>
            <a:off x="1547248" y="3499683"/>
            <a:ext cx="8867614" cy="836908"/>
          </a:xfrm>
          <a:prstGeom prst="roundRect">
            <a:avLst>
              <a:gd fmla="val 50000" name="adj"/>
            </a:avLst>
          </a:prstGeom>
          <a:solidFill>
            <a:schemeClr val="lt1"/>
          </a:solidFill>
          <a:ln cap="flat" cmpd="sng" w="12700">
            <a:solidFill>
              <a:schemeClr val="accent1">
                <a:alpha val="54901"/>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4" name="Google Shape;504;p31"/>
          <p:cNvSpPr txBox="1"/>
          <p:nvPr/>
        </p:nvSpPr>
        <p:spPr>
          <a:xfrm>
            <a:off x="1848174" y="3553646"/>
            <a:ext cx="8265762" cy="728982"/>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 sz="2000">
                <a:solidFill>
                  <a:schemeClr val="accent1"/>
                </a:solidFill>
                <a:latin typeface="Microsoft YaHei"/>
                <a:ea typeface="Microsoft YaHei"/>
                <a:cs typeface="Microsoft YaHei"/>
                <a:sym typeface="Microsoft YaHei"/>
              </a:rPr>
              <a:t>From 6 Jan 2024: NICs 10% → retain 70p per extra £1</a:t>
            </a:r>
            <a:endParaRPr/>
          </a:p>
        </p:txBody>
      </p:sp>
      <p:sp>
        <p:nvSpPr>
          <p:cNvPr id="505" name="Google Shape;505;p31"/>
          <p:cNvSpPr/>
          <p:nvPr/>
        </p:nvSpPr>
        <p:spPr>
          <a:xfrm>
            <a:off x="1547248" y="5073665"/>
            <a:ext cx="8867614" cy="836908"/>
          </a:xfrm>
          <a:prstGeom prst="roundRect">
            <a:avLst>
              <a:gd fmla="val 50000" name="adj"/>
            </a:avLst>
          </a:prstGeom>
          <a:solidFill>
            <a:schemeClr val="lt1"/>
          </a:solidFill>
          <a:ln cap="flat" cmpd="sng" w="12700">
            <a:solidFill>
              <a:schemeClr val="accent1">
                <a:alpha val="54901"/>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6" name="Google Shape;506;p31"/>
          <p:cNvSpPr txBox="1"/>
          <p:nvPr/>
        </p:nvSpPr>
        <p:spPr>
          <a:xfrm>
            <a:off x="1848174" y="5127628"/>
            <a:ext cx="8265762" cy="728982"/>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 sz="1800">
                <a:solidFill>
                  <a:schemeClr val="accent1"/>
                </a:solidFill>
                <a:latin typeface="Microsoft YaHei"/>
                <a:ea typeface="Microsoft YaHei"/>
                <a:cs typeface="Microsoft YaHei"/>
                <a:sym typeface="Microsoft YaHei"/>
              </a:rPr>
              <a:t>From 6 Apr 2024: NICs 8% → retain 72p per extra £1
Combined increase in marginal take-home pay: 5.9%</a:t>
            </a:r>
            <a:endParaRPr/>
          </a:p>
        </p:txBody>
      </p:sp>
      <p:sp>
        <p:nvSpPr>
          <p:cNvPr id="507" name="Google Shape;507;p31"/>
          <p:cNvSpPr/>
          <p:nvPr/>
        </p:nvSpPr>
        <p:spPr>
          <a:xfrm flipH="1" rot="10800000">
            <a:off x="4876800" y="2945691"/>
            <a:ext cx="2438400" cy="449450"/>
          </a:xfrm>
          <a:prstGeom prst="triangle">
            <a:avLst>
              <a:gd fmla="val 50000" name="adj"/>
            </a:avLst>
          </a:prstGeom>
          <a:gradFill>
            <a:gsLst>
              <a:gs pos="0">
                <a:srgbClr val="BA1B4D">
                  <a:alpha val="58823"/>
                </a:srgbClr>
              </a:gs>
              <a:gs pos="93000">
                <a:srgbClr val="BA1B4D">
                  <a:alpha val="0"/>
                </a:srgbClr>
              </a:gs>
              <a:gs pos="100000">
                <a:srgbClr val="BA1B4D">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8" name="Google Shape;508;p31"/>
          <p:cNvSpPr/>
          <p:nvPr/>
        </p:nvSpPr>
        <p:spPr>
          <a:xfrm flipH="1" rot="10800000">
            <a:off x="4876800" y="4528529"/>
            <a:ext cx="2438400" cy="449450"/>
          </a:xfrm>
          <a:prstGeom prst="triangle">
            <a:avLst>
              <a:gd fmla="val 50000" name="adj"/>
            </a:avLst>
          </a:prstGeom>
          <a:gradFill>
            <a:gsLst>
              <a:gs pos="0">
                <a:srgbClr val="BA1B4D">
                  <a:alpha val="58823"/>
                </a:srgbClr>
              </a:gs>
              <a:gs pos="93000">
                <a:srgbClr val="BA1B4D">
                  <a:alpha val="0"/>
                </a:srgbClr>
              </a:gs>
              <a:gs pos="100000">
                <a:srgbClr val="BA1B4D">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09" name="Google Shape;509;p31"/>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10" name="TextBox 509"/>
          <p:cNvSpPr txBox="1"/>
          <p:nvPr/>
        </p:nvSpPr>
        <p:spPr>
          <a:xfrm>
            <a:off x="685800" y="6144768"/>
            <a:ext cx="10424160" cy="228600"/>
          </a:xfrm>
          <a:prstGeom prst="rect">
            <a:avLst/>
          </a:prstGeom>
          <a:noFill/>
        </p:spPr>
        <p:txBody>
          <a:bodyPr wrap="none">
            <a:spAutoFit/>
          </a:bodyPr>
          <a:lstStyle/>
          <a:p>
            <a:pPr>
              <a:defRPr sz="900">
                <a:solidFill>
                  <a:srgbClr val="666666"/>
                </a:solidFill>
                <a:latin typeface="Arial"/>
              </a:defRPr>
            </a:pPr>
            <a:r>
              <a:t>Source: Author’s calculations using HMRC (2024) rates. Income tax fixed at 20%; main NICs band; other deductions excluded.</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2"/>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32"/>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6" name="Google Shape;516;p32"/>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517" name="Google Shape;517;p32"/>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518" name="Google Shape;518;p32"/>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519" name="Google Shape;519;p32"/>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520" name="Google Shape;520;p32"/>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521" name="Google Shape;521;p32"/>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Labour supply: substitution and income effects</a:t>
            </a:r>
            <a:endParaRPr b="1" sz="2400">
              <a:solidFill>
                <a:schemeClr val="accent1"/>
              </a:solidFill>
              <a:latin typeface="Arial"/>
              <a:ea typeface="Arial"/>
              <a:cs typeface="Arial"/>
              <a:sym typeface="Arial"/>
            </a:endParaRPr>
          </a:p>
        </p:txBody>
      </p:sp>
      <p:sp>
        <p:nvSpPr>
          <p:cNvPr id="522" name="Google Shape;522;p32"/>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3" name="Google Shape;523;p32"/>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2</a:t>
            </a:r>
            <a:endParaRPr b="1">
              <a:solidFill>
                <a:schemeClr val="accent1"/>
              </a:solidFill>
              <a:latin typeface="Arial"/>
              <a:ea typeface="Arial"/>
              <a:cs typeface="Arial"/>
              <a:sym typeface="Arial"/>
            </a:endParaRPr>
          </a:p>
        </p:txBody>
      </p:sp>
      <p:cxnSp>
        <p:nvCxnSpPr>
          <p:cNvPr id="524" name="Google Shape;524;p32"/>
          <p:cNvCxnSpPr/>
          <p:nvPr/>
        </p:nvCxnSpPr>
        <p:spPr>
          <a:xfrm>
            <a:off x="1116072" y="2565952"/>
            <a:ext cx="10069223" cy="0"/>
          </a:xfrm>
          <a:prstGeom prst="straightConnector1">
            <a:avLst/>
          </a:prstGeom>
          <a:noFill/>
          <a:ln cap="flat" cmpd="sng" w="34925">
            <a:solidFill>
              <a:schemeClr val="accent1"/>
            </a:solidFill>
            <a:prstDash val="solid"/>
            <a:miter lim="800000"/>
            <a:headEnd len="sm" w="sm" type="none"/>
            <a:tailEnd len="lg" w="lg" type="stealth"/>
          </a:ln>
        </p:spPr>
      </p:cxnSp>
      <p:sp>
        <p:nvSpPr>
          <p:cNvPr id="525" name="Google Shape;525;p32"/>
          <p:cNvSpPr/>
          <p:nvPr/>
        </p:nvSpPr>
        <p:spPr>
          <a:xfrm>
            <a:off x="2369907" y="2330208"/>
            <a:ext cx="471488" cy="471488"/>
          </a:xfrm>
          <a:prstGeom prst="ellipse">
            <a:avLst/>
          </a:prstGeom>
          <a:solidFill>
            <a:schemeClr val="accent1"/>
          </a:solidFill>
          <a:ln cap="flat" cmpd="sng" w="31750">
            <a:solidFill>
              <a:schemeClr val="lt1">
                <a:alpha val="98823"/>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6" name="Google Shape;526;p32"/>
          <p:cNvSpPr/>
          <p:nvPr/>
        </p:nvSpPr>
        <p:spPr>
          <a:xfrm>
            <a:off x="2543276" y="2464577"/>
            <a:ext cx="124751" cy="202749"/>
          </a:xfrm>
          <a:custGeom>
            <a:rect b="b" l="l" r="r" t="t"/>
            <a:pathLst>
              <a:path extrusionOk="0" h="1696" w="1042">
                <a:moveTo>
                  <a:pt x="78" y="1347"/>
                </a:moveTo>
                <a:cubicBezTo>
                  <a:pt x="0" y="1424"/>
                  <a:pt x="2" y="1551"/>
                  <a:pt x="84" y="1626"/>
                </a:cubicBezTo>
                <a:cubicBezTo>
                  <a:pt x="162" y="1696"/>
                  <a:pt x="282" y="1690"/>
                  <a:pt x="355" y="1615"/>
                </a:cubicBezTo>
                <a:lnTo>
                  <a:pt x="986" y="984"/>
                </a:lnTo>
                <a:cubicBezTo>
                  <a:pt x="1023" y="947"/>
                  <a:pt x="1042" y="898"/>
                  <a:pt x="1042" y="848"/>
                </a:cubicBezTo>
                <a:cubicBezTo>
                  <a:pt x="1042" y="799"/>
                  <a:pt x="1023" y="750"/>
                  <a:pt x="986" y="712"/>
                </a:cubicBezTo>
                <a:lnTo>
                  <a:pt x="356" y="82"/>
                </a:lnTo>
                <a:cubicBezTo>
                  <a:pt x="283" y="8"/>
                  <a:pt x="162" y="0"/>
                  <a:pt x="86" y="71"/>
                </a:cubicBezTo>
                <a:cubicBezTo>
                  <a:pt x="4" y="146"/>
                  <a:pt x="2" y="272"/>
                  <a:pt x="79" y="350"/>
                </a:cubicBezTo>
                <a:lnTo>
                  <a:pt x="482" y="755"/>
                </a:lnTo>
                <a:cubicBezTo>
                  <a:pt x="534" y="807"/>
                  <a:pt x="534" y="891"/>
                  <a:pt x="482" y="943"/>
                </a:cubicBezTo>
                <a:lnTo>
                  <a:pt x="78" y="13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7" name="Google Shape;527;p32"/>
          <p:cNvSpPr txBox="1"/>
          <p:nvPr/>
        </p:nvSpPr>
        <p:spPr>
          <a:xfrm>
            <a:off x="1184853" y="3604727"/>
            <a:ext cx="2716846" cy="2023696"/>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b="1" lang="en" sz="1800">
                <a:solidFill>
                  <a:srgbClr val="595959"/>
                </a:solidFill>
                <a:latin typeface="Arial"/>
                <a:ea typeface="Arial"/>
                <a:cs typeface="Arial"/>
                <a:sym typeface="Arial"/>
              </a:rPr>
              <a:t>Higher net wage
↓
Leisure becomes more costly
↓
Incentive to work more</a:t>
            </a:r>
            <a:endParaRPr/>
          </a:p>
        </p:txBody>
      </p:sp>
      <p:sp>
        <p:nvSpPr>
          <p:cNvPr id="528" name="Google Shape;528;p32"/>
          <p:cNvSpPr txBox="1"/>
          <p:nvPr/>
        </p:nvSpPr>
        <p:spPr>
          <a:xfrm>
            <a:off x="1006705" y="3091438"/>
            <a:ext cx="3073142" cy="375809"/>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en" sz="1800">
                <a:solidFill>
                  <a:schemeClr val="accent1"/>
                </a:solidFill>
                <a:latin typeface="Microsoft YaHei"/>
                <a:ea typeface="Microsoft YaHei"/>
                <a:cs typeface="Microsoft YaHei"/>
                <a:sym typeface="Microsoft YaHei"/>
              </a:rPr>
              <a:t>Substitution effect</a:t>
            </a:r>
            <a:endParaRPr b="1" sz="1800">
              <a:solidFill>
                <a:schemeClr val="accent1"/>
              </a:solidFill>
              <a:latin typeface="Microsoft YaHei"/>
              <a:ea typeface="Microsoft YaHei"/>
              <a:cs typeface="Microsoft YaHei"/>
              <a:sym typeface="Microsoft YaHei"/>
            </a:endParaRPr>
          </a:p>
        </p:txBody>
      </p:sp>
      <p:sp>
        <p:nvSpPr>
          <p:cNvPr id="529" name="Google Shape;529;p32"/>
          <p:cNvSpPr/>
          <p:nvPr/>
        </p:nvSpPr>
        <p:spPr>
          <a:xfrm>
            <a:off x="5778125" y="2330208"/>
            <a:ext cx="471488" cy="471488"/>
          </a:xfrm>
          <a:prstGeom prst="ellipse">
            <a:avLst/>
          </a:prstGeom>
          <a:solidFill>
            <a:schemeClr val="accent1"/>
          </a:solidFill>
          <a:ln cap="flat" cmpd="sng" w="31750">
            <a:solidFill>
              <a:schemeClr val="lt1">
                <a:alpha val="98823"/>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0" name="Google Shape;530;p32"/>
          <p:cNvSpPr/>
          <p:nvPr/>
        </p:nvSpPr>
        <p:spPr>
          <a:xfrm>
            <a:off x="5951494" y="2464577"/>
            <a:ext cx="124751" cy="202749"/>
          </a:xfrm>
          <a:custGeom>
            <a:rect b="b" l="l" r="r" t="t"/>
            <a:pathLst>
              <a:path extrusionOk="0" h="1696" w="1042">
                <a:moveTo>
                  <a:pt x="78" y="1347"/>
                </a:moveTo>
                <a:cubicBezTo>
                  <a:pt x="0" y="1424"/>
                  <a:pt x="2" y="1551"/>
                  <a:pt x="84" y="1626"/>
                </a:cubicBezTo>
                <a:cubicBezTo>
                  <a:pt x="162" y="1696"/>
                  <a:pt x="282" y="1690"/>
                  <a:pt x="355" y="1615"/>
                </a:cubicBezTo>
                <a:lnTo>
                  <a:pt x="986" y="984"/>
                </a:lnTo>
                <a:cubicBezTo>
                  <a:pt x="1023" y="947"/>
                  <a:pt x="1042" y="898"/>
                  <a:pt x="1042" y="848"/>
                </a:cubicBezTo>
                <a:cubicBezTo>
                  <a:pt x="1042" y="799"/>
                  <a:pt x="1023" y="750"/>
                  <a:pt x="986" y="712"/>
                </a:cubicBezTo>
                <a:lnTo>
                  <a:pt x="356" y="82"/>
                </a:lnTo>
                <a:cubicBezTo>
                  <a:pt x="283" y="8"/>
                  <a:pt x="162" y="0"/>
                  <a:pt x="86" y="71"/>
                </a:cubicBezTo>
                <a:cubicBezTo>
                  <a:pt x="4" y="146"/>
                  <a:pt x="2" y="272"/>
                  <a:pt x="79" y="350"/>
                </a:cubicBezTo>
                <a:lnTo>
                  <a:pt x="482" y="755"/>
                </a:lnTo>
                <a:cubicBezTo>
                  <a:pt x="534" y="807"/>
                  <a:pt x="534" y="891"/>
                  <a:pt x="482" y="943"/>
                </a:cubicBezTo>
                <a:lnTo>
                  <a:pt x="78" y="13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1" name="Google Shape;531;p32"/>
          <p:cNvSpPr txBox="1"/>
          <p:nvPr/>
        </p:nvSpPr>
        <p:spPr>
          <a:xfrm>
            <a:off x="4414923" y="3091438"/>
            <a:ext cx="3073142" cy="375809"/>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en" sz="1800">
                <a:solidFill>
                  <a:schemeClr val="accent1"/>
                </a:solidFill>
                <a:latin typeface="Microsoft YaHei"/>
                <a:ea typeface="Microsoft YaHei"/>
                <a:cs typeface="Microsoft YaHei"/>
                <a:sym typeface="Microsoft YaHei"/>
              </a:rPr>
              <a:t>Income effect</a:t>
            </a:r>
            <a:endParaRPr/>
          </a:p>
        </p:txBody>
      </p:sp>
      <p:sp>
        <p:nvSpPr>
          <p:cNvPr id="532" name="Google Shape;532;p32"/>
          <p:cNvSpPr/>
          <p:nvPr/>
        </p:nvSpPr>
        <p:spPr>
          <a:xfrm>
            <a:off x="9186343" y="2330208"/>
            <a:ext cx="471488" cy="471488"/>
          </a:xfrm>
          <a:prstGeom prst="ellipse">
            <a:avLst/>
          </a:prstGeom>
          <a:solidFill>
            <a:schemeClr val="accent1"/>
          </a:solidFill>
          <a:ln cap="flat" cmpd="sng" w="31750">
            <a:solidFill>
              <a:schemeClr val="lt1">
                <a:alpha val="98823"/>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3" name="Google Shape;533;p32"/>
          <p:cNvSpPr/>
          <p:nvPr/>
        </p:nvSpPr>
        <p:spPr>
          <a:xfrm>
            <a:off x="9359712" y="2464577"/>
            <a:ext cx="124751" cy="202749"/>
          </a:xfrm>
          <a:custGeom>
            <a:rect b="b" l="l" r="r" t="t"/>
            <a:pathLst>
              <a:path extrusionOk="0" h="1696" w="1042">
                <a:moveTo>
                  <a:pt x="78" y="1347"/>
                </a:moveTo>
                <a:cubicBezTo>
                  <a:pt x="0" y="1424"/>
                  <a:pt x="2" y="1551"/>
                  <a:pt x="84" y="1626"/>
                </a:cubicBezTo>
                <a:cubicBezTo>
                  <a:pt x="162" y="1696"/>
                  <a:pt x="282" y="1690"/>
                  <a:pt x="355" y="1615"/>
                </a:cubicBezTo>
                <a:lnTo>
                  <a:pt x="986" y="984"/>
                </a:lnTo>
                <a:cubicBezTo>
                  <a:pt x="1023" y="947"/>
                  <a:pt x="1042" y="898"/>
                  <a:pt x="1042" y="848"/>
                </a:cubicBezTo>
                <a:cubicBezTo>
                  <a:pt x="1042" y="799"/>
                  <a:pt x="1023" y="750"/>
                  <a:pt x="986" y="712"/>
                </a:cubicBezTo>
                <a:lnTo>
                  <a:pt x="356" y="82"/>
                </a:lnTo>
                <a:cubicBezTo>
                  <a:pt x="283" y="8"/>
                  <a:pt x="162" y="0"/>
                  <a:pt x="86" y="71"/>
                </a:cubicBezTo>
                <a:cubicBezTo>
                  <a:pt x="4" y="146"/>
                  <a:pt x="2" y="272"/>
                  <a:pt x="79" y="350"/>
                </a:cubicBezTo>
                <a:lnTo>
                  <a:pt x="482" y="755"/>
                </a:lnTo>
                <a:cubicBezTo>
                  <a:pt x="534" y="807"/>
                  <a:pt x="534" y="891"/>
                  <a:pt x="482" y="943"/>
                </a:cubicBezTo>
                <a:lnTo>
                  <a:pt x="78" y="1347"/>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4" name="Google Shape;534;p32"/>
          <p:cNvSpPr txBox="1"/>
          <p:nvPr/>
        </p:nvSpPr>
        <p:spPr>
          <a:xfrm>
            <a:off x="7823141" y="3091438"/>
            <a:ext cx="3073142" cy="375809"/>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en" sz="1800">
                <a:solidFill>
                  <a:schemeClr val="accent1"/>
                </a:solidFill>
                <a:latin typeface="Microsoft YaHei"/>
                <a:ea typeface="Microsoft YaHei"/>
                <a:cs typeface="Microsoft YaHei"/>
                <a:sym typeface="Microsoft YaHei"/>
              </a:rPr>
              <a:t>Net response</a:t>
            </a:r>
            <a:endParaRPr/>
          </a:p>
        </p:txBody>
      </p:sp>
      <p:sp>
        <p:nvSpPr>
          <p:cNvPr id="535" name="Google Shape;535;p32"/>
          <p:cNvSpPr txBox="1"/>
          <p:nvPr/>
        </p:nvSpPr>
        <p:spPr>
          <a:xfrm>
            <a:off x="4593071" y="3604727"/>
            <a:ext cx="2716846" cy="2023696"/>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b="1" lang="en" sz="1800">
                <a:solidFill>
                  <a:srgbClr val="595959"/>
                </a:solidFill>
                <a:latin typeface="Arial"/>
                <a:ea typeface="Arial"/>
                <a:cs typeface="Arial"/>
                <a:sym typeface="Arial"/>
              </a:rPr>
              <a:t>Higher disposable income
↓
Greater demand for leisure
↓
Incentive to work less</a:t>
            </a:r>
            <a:endParaRPr/>
          </a:p>
        </p:txBody>
      </p:sp>
      <p:sp>
        <p:nvSpPr>
          <p:cNvPr id="536" name="Google Shape;536;p32"/>
          <p:cNvSpPr txBox="1"/>
          <p:nvPr/>
        </p:nvSpPr>
        <p:spPr>
          <a:xfrm>
            <a:off x="8063664" y="3604727"/>
            <a:ext cx="2716846" cy="2023696"/>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b="1" lang="en" sz="1700">
                <a:solidFill>
                  <a:srgbClr val="595959"/>
                </a:solidFill>
                <a:latin typeface="Arial"/>
                <a:ea typeface="Arial"/>
                <a:cs typeface="Arial"/>
                <a:sym typeface="Arial"/>
              </a:rPr>
              <a:t>Depends on the relative strength of both effects.
Two margins:
• Entering employment
• Adjusting working hours</a:t>
            </a:r>
            <a:endParaRPr/>
          </a:p>
        </p:txBody>
      </p:sp>
      <p:pic>
        <p:nvPicPr>
          <p:cNvPr id="537" name="Google Shape;537;p32"/>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38" name="TextBox 537"/>
          <p:cNvSpPr txBox="1"/>
          <p:nvPr/>
        </p:nvSpPr>
        <p:spPr>
          <a:xfrm>
            <a:off x="685800" y="6144768"/>
            <a:ext cx="10424160" cy="228600"/>
          </a:xfrm>
          <a:prstGeom prst="rect">
            <a:avLst/>
          </a:prstGeom>
          <a:noFill/>
        </p:spPr>
        <p:txBody>
          <a:bodyPr wrap="none">
            <a:spAutoFit/>
          </a:bodyPr>
          <a:lstStyle/>
          <a:p>
            <a:pPr>
              <a:defRPr sz="900">
                <a:solidFill>
                  <a:srgbClr val="666666"/>
                </a:solidFill>
                <a:latin typeface="Arial"/>
              </a:defRPr>
            </a:pPr>
            <a:r>
              <a:t>Source: Meghir and Phillips (2010). The extensive margin concerns participation; the intensive margin concerns hours worked.</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4"/>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6" name="Google Shape;566;p34"/>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34"/>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568" name="Google Shape;568;p34"/>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569" name="Google Shape;569;p34"/>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570" name="Google Shape;570;p34"/>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571" name="Google Shape;571;p34"/>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572" name="Google Shape;572;p34"/>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Laffer curve: behavioural gains and fiscal effects</a:t>
            </a:r>
            <a:endParaRPr b="1" sz="2400">
              <a:solidFill>
                <a:schemeClr val="accent1"/>
              </a:solidFill>
              <a:latin typeface="Arial"/>
              <a:ea typeface="Arial"/>
              <a:cs typeface="Arial"/>
              <a:sym typeface="Arial"/>
            </a:endParaRPr>
          </a:p>
        </p:txBody>
      </p:sp>
      <p:sp>
        <p:nvSpPr>
          <p:cNvPr id="573" name="Google Shape;573;p34"/>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4" name="Google Shape;574;p34"/>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3</a:t>
            </a:r>
            <a:endParaRPr b="1">
              <a:solidFill>
                <a:schemeClr val="accent1"/>
              </a:solidFill>
              <a:latin typeface="Arial"/>
              <a:ea typeface="Arial"/>
              <a:cs typeface="Arial"/>
              <a:sym typeface="Arial"/>
            </a:endParaRPr>
          </a:p>
        </p:txBody>
      </p:sp>
      <p:sp>
        <p:nvSpPr>
          <p:cNvPr id="575" name="Google Shape;575;p34"/>
          <p:cNvSpPr/>
          <p:nvPr/>
        </p:nvSpPr>
        <p:spPr>
          <a:xfrm>
            <a:off x="1593349" y="2041285"/>
            <a:ext cx="4035096" cy="1157593"/>
          </a:xfrm>
          <a:prstGeom prst="rect">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6" name="Google Shape;576;p34"/>
          <p:cNvSpPr/>
          <p:nvPr/>
        </p:nvSpPr>
        <p:spPr>
          <a:xfrm>
            <a:off x="1593349" y="3322626"/>
            <a:ext cx="4035096" cy="2721233"/>
          </a:xfrm>
          <a:prstGeom prst="rect">
            <a:avLst/>
          </a:prstGeom>
          <a:no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7" name="Google Shape;577;p34"/>
          <p:cNvSpPr txBox="1"/>
          <p:nvPr/>
        </p:nvSpPr>
        <p:spPr>
          <a:xfrm>
            <a:off x="1896415" y="2165033"/>
            <a:ext cx="3428964" cy="94115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 sz="2200">
                <a:solidFill>
                  <a:schemeClr val="lt1"/>
                </a:solidFill>
                <a:latin typeface="Microsoft YaHei"/>
                <a:ea typeface="Microsoft YaHei"/>
                <a:cs typeface="Microsoft YaHei"/>
                <a:sym typeface="Microsoft YaHei"/>
              </a:rPr>
              <a:t>Tax rate × taxable base</a:t>
            </a:r>
            <a:endParaRPr/>
          </a:p>
        </p:txBody>
      </p:sp>
      <p:sp>
        <p:nvSpPr>
          <p:cNvPr id="578" name="Google Shape;578;p34"/>
          <p:cNvSpPr txBox="1"/>
          <p:nvPr/>
        </p:nvSpPr>
        <p:spPr>
          <a:xfrm>
            <a:off x="1896415" y="3519150"/>
            <a:ext cx="3428964" cy="18933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 sz="1600">
                <a:solidFill>
                  <a:srgbClr val="595959"/>
                </a:solidFill>
                <a:latin typeface="Arial"/>
                <a:ea typeface="Arial"/>
                <a:cs typeface="Arial"/>
                <a:sym typeface="Arial"/>
              </a:rPr>
              <a:t/>
            </a:r>
            <a:endParaRPr b="1" sz="1600">
              <a:solidFill>
                <a:srgbClr val="595959"/>
              </a:solidFill>
              <a:latin typeface="Arial"/>
              <a:ea typeface="Arial"/>
              <a:cs typeface="Arial"/>
              <a:sym typeface="Arial"/>
            </a:endParaRPr>
          </a:p>
        </p:txBody>
      </p:sp>
      <p:sp>
        <p:nvSpPr>
          <p:cNvPr id="579" name="Google Shape;579;p34"/>
          <p:cNvSpPr/>
          <p:nvPr/>
        </p:nvSpPr>
        <p:spPr>
          <a:xfrm>
            <a:off x="6563555" y="2041285"/>
            <a:ext cx="4035096" cy="1157593"/>
          </a:xfrm>
          <a:prstGeom prst="rect">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0" name="Google Shape;580;p34"/>
          <p:cNvSpPr/>
          <p:nvPr/>
        </p:nvSpPr>
        <p:spPr>
          <a:xfrm>
            <a:off x="6563555" y="3322626"/>
            <a:ext cx="4035096" cy="2721233"/>
          </a:xfrm>
          <a:prstGeom prst="rect">
            <a:avLst/>
          </a:prstGeom>
          <a:no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1" name="Google Shape;581;p34"/>
          <p:cNvSpPr txBox="1"/>
          <p:nvPr/>
        </p:nvSpPr>
        <p:spPr>
          <a:xfrm>
            <a:off x="6866621" y="2165033"/>
            <a:ext cx="3428964" cy="94115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 sz="2200">
                <a:solidFill>
                  <a:schemeClr val="lt1"/>
                </a:solidFill>
                <a:latin typeface="Microsoft YaHei"/>
                <a:ea typeface="Microsoft YaHei"/>
                <a:cs typeface="Microsoft YaHei"/>
                <a:sym typeface="Microsoft YaHei"/>
              </a:rPr>
              <a:t>OBR forecast: March 2024</a:t>
            </a:r>
            <a:endParaRPr/>
          </a:p>
        </p:txBody>
      </p:sp>
      <p:sp>
        <p:nvSpPr>
          <p:cNvPr id="582" name="Google Shape;582;p34"/>
          <p:cNvSpPr txBox="1"/>
          <p:nvPr/>
        </p:nvSpPr>
        <p:spPr>
          <a:xfrm>
            <a:off x="6866621" y="3519150"/>
            <a:ext cx="3428964" cy="18933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 sz="1900">
                <a:solidFill>
                  <a:srgbClr val="595959"/>
                </a:solidFill>
                <a:latin typeface="Arial"/>
                <a:ea typeface="Arial"/>
                <a:cs typeface="Arial"/>
                <a:sym typeface="Arial"/>
              </a:rPr>
              <a:t>98,000 FTEs
Additional labour supply
≈20% of static fiscal cost
recovered through behaviour</a:t>
            </a:r>
            <a:endParaRPr b="1" sz="1600">
              <a:solidFill>
                <a:srgbClr val="595959"/>
              </a:solidFill>
              <a:latin typeface="Arial"/>
              <a:ea typeface="Arial"/>
              <a:cs typeface="Arial"/>
              <a:sym typeface="Arial"/>
            </a:endParaRPr>
          </a:p>
        </p:txBody>
      </p:sp>
      <p:pic>
        <p:nvPicPr>
          <p:cNvPr id="583" name="Google Shape;583;p34"/>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pic>
        <p:nvPicPr>
          <p:cNvPr id="584" name="Picture 583" descr="Figure3_Laffer_Curve_Revised.png"/>
          <p:cNvPicPr>
            <a:picLocks noChangeAspect="1"/>
          </p:cNvPicPr>
          <p:nvPr/>
        </p:nvPicPr>
        <p:blipFill>
          <a:blip r:embed="rId4"/>
          <a:stretch>
            <a:fillRect/>
          </a:stretch>
        </p:blipFill>
        <p:spPr>
          <a:xfrm>
            <a:off x="1682496" y="3703320"/>
            <a:ext cx="3822191" cy="1460223"/>
          </a:xfrm>
          <a:prstGeom prst="rect">
            <a:avLst/>
          </a:prstGeom>
        </p:spPr>
      </p:pic>
      <p:sp>
        <p:nvSpPr>
          <p:cNvPr id="585" name="TextBox 584"/>
          <p:cNvSpPr txBox="1"/>
          <p:nvPr/>
        </p:nvSpPr>
        <p:spPr>
          <a:xfrm>
            <a:off x="1828800" y="5431536"/>
            <a:ext cx="3520440" cy="457200"/>
          </a:xfrm>
          <a:prstGeom prst="rect">
            <a:avLst/>
          </a:prstGeom>
          <a:noFill/>
        </p:spPr>
        <p:txBody>
          <a:bodyPr wrap="none">
            <a:spAutoFit/>
          </a:bodyPr>
          <a:lstStyle/>
          <a:p>
            <a:pPr>
              <a:defRPr sz="1500">
                <a:solidFill>
                  <a:srgbClr val="666666"/>
                </a:solidFill>
                <a:latin typeface="Arial"/>
              </a:defRPr>
            </a:pPr>
            <a:r>
              <a:t>Work incentives can expand the taxable base.</a:t>
            </a:r>
          </a:p>
        </p:txBody>
      </p:sp>
      <p:sp>
        <p:nvSpPr>
          <p:cNvPr id="586" name="TextBox 585"/>
          <p:cNvSpPr txBox="1"/>
          <p:nvPr/>
        </p:nvSpPr>
        <p:spPr>
          <a:xfrm>
            <a:off x="685800" y="6144768"/>
            <a:ext cx="10424160" cy="228600"/>
          </a:xfrm>
          <a:prstGeom prst="rect">
            <a:avLst/>
          </a:prstGeom>
          <a:noFill/>
        </p:spPr>
        <p:txBody>
          <a:bodyPr wrap="none">
            <a:spAutoFit/>
          </a:bodyPr>
          <a:lstStyle/>
          <a:p>
            <a:pPr>
              <a:defRPr sz="900">
                <a:solidFill>
                  <a:srgbClr val="666666"/>
                </a:solidFill>
                <a:latin typeface="Arial"/>
              </a:defRPr>
            </a:pPr>
            <a:r>
              <a:t>Sources: Hemming and Kay (1980); OBR (2024), paras. 3.9–3.10. Laffer curve: theoretical illustration; OBR figures: projections.</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自定义 2853">
      <a:dk1>
        <a:srgbClr val="000000"/>
      </a:dk1>
      <a:lt1>
        <a:srgbClr val="FFFFFF"/>
      </a:lt1>
      <a:dk2>
        <a:srgbClr val="44546A"/>
      </a:dk2>
      <a:lt2>
        <a:srgbClr val="E7E6E6"/>
      </a:lt2>
      <a:accent1>
        <a:srgbClr val="BA1B4D"/>
      </a:accent1>
      <a:accent2>
        <a:srgbClr val="E06E3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