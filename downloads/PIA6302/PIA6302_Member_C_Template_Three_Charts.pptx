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74" r:id="rId23"/>
    <p:sldId id="275" r:id="rId24"/>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6"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Pence retained</c:v>
                </c:pt>
              </c:strCache>
            </c:strRef>
          </c:tx>
          <c:dPt>
            <c:idx val="0"/>
            <c:spPr>
              <a:solidFill>
                <a:srgbClr val="A5A5A5"/>
              </a:solidFill>
              <a:ln>
                <a:noFill/>
              </a:ln>
            </c:spPr>
          </c:dPt>
          <c:dPt>
            <c:idx val="1"/>
            <c:spPr>
              <a:solidFill>
                <a:srgbClr val="E06E33"/>
              </a:solidFill>
              <a:ln>
                <a:noFill/>
              </a:ln>
            </c:spPr>
          </c:dPt>
          <c:dPt>
            <c:idx val="2"/>
            <c:spPr>
              <a:solidFill>
                <a:srgbClr val="BA1B4D"/>
              </a:solidFill>
              <a:ln>
                <a:noFill/>
              </a:ln>
            </c:spPr>
          </c:dPt>
          <c:cat>
            <c:strRef>
              <c:f>Sheet1!$A$2:$A$4</c:f>
              <c:strCache>
                <c:ptCount val="3"/>
                <c:pt idx="0">
                  <c:v>Before 6 Jan 2024</c:v>
                </c:pt>
                <c:pt idx="1">
                  <c:v>6 Jan–5 Apr 2024</c:v>
                </c:pt>
                <c:pt idx="2">
                  <c:v>From 6 Apr 2024</c:v>
                </c:pt>
              </c:strCache>
            </c:strRef>
          </c:cat>
          <c:val>
            <c:numRef>
              <c:f>Sheet1!$B$2:$B$4</c:f>
              <c:numCache>
                <c:formatCode>General</c:formatCode>
                <c:ptCount val="3"/>
                <c:pt idx="0">
                  <c:v>68</c:v>
                </c:pt>
                <c:pt idx="1">
                  <c:v>70</c:v>
                </c:pt>
                <c:pt idx="2">
                  <c:v>72</c:v>
                </c:pt>
              </c:numCache>
            </c:numRef>
          </c:val>
        </c:ser>
        <c:dLbls>
          <c:numFmt formatCode="0&quot;p&quot;" sourceLinked="0"/>
          <c:txPr>
            <a:bodyPr/>
            <a:lstStyle/>
            <a:p>
              <a:pPr>
                <a:defRPr sz="2600" b="1"/>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80.0"/>
          <c:min val="0.0"/>
        </c:scaling>
        <c:delete val="0"/>
        <c:axPos val="l"/>
        <c:majorGridlines/>
        <c:majorTickMark val="out"/>
        <c:minorTickMark val="none"/>
        <c:tickLblPos val="nextTo"/>
        <c:txPr>
          <a:bodyPr/>
          <a:lstStyle/>
          <a:p>
            <a:pPr>
              <a:defRPr sz="12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1</a:t>
            </a:r>
          </a:p>
          <a:p>
            <a:r>
              <a:t>Target: 35 seconds.</a:t>
            </a:r>
          </a:p>
          <a:p/>
          <a:p>
            <a:r>
              <a:t>My part explains how the National Insurance cuts affect economic efficiency. First, they increase the reward from additional work. With income tax fixed at twenty per cent, employees retain sixty-eight, seventy and then seventy-two pence from each extra pound earned. The combined increase is about five point nine per cent. This calculation applies to earnings within the main National Insurance band. It shows how the policy strengthens financial incentives.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487" name="Google Shape;48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2</a:t>
            </a:r>
          </a:p>
          <a:p>
            <a:r>
              <a:t>Target: 35 seconds.</a:t>
            </a:r>
          </a:p>
          <a:p/>
          <a:p>
            <a:r>
              <a:t>However, two effects influence working hours. The substitution effect makes leisure more expensive because an hour away from work now sacrifices more income. This encourages additional work. The income effect operates in the opposite direction: higher disposable income allows people to enjoy more leisure. The final response depends on their relative strength. We should also distinguish entering employment from changing hours among existing workers.</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512" name="Google Shape;51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MEMBER C — SLIDE 3</a:t>
            </a:r>
          </a:p>
          <a:p>
            <a:r>
              <a:t>Target: 35 seconds.</a:t>
            </a:r>
          </a:p>
          <a:p/>
          <a:p>
            <a:r>
              <a:t>Finally, the Laffer curve links tax rates with the taxable base. Stronger work incentives can expand that base and recover some lost revenue. The OBR projected a labour-supply increase equivalent to ninety-eight thousand full-time workers and approximately twenty per cent recovery of the March measures’ static fiscal cost. My conclusion is that the cuts have a credible incentive rationale, while their overall value also depends on sustainable financing.</a:t>
            </a:r>
          </a:p>
          <a:p/>
          <a:p>
            <a:r>
              <a:t>REFERENCES</a:t>
            </a:r>
          </a:p>
          <a:p>
            <a:r>
              <a:t>HM Revenue &amp; Customs (2024) Reduction to the main rates of primary Class 1 and Class 4 National Insurance contributions. https://www.gov.uk/government/publications/changes-to-national-insurance-contributions-from-6-april-2024/reduction-to-the-main-rates-of-primary-class-1-and-class-4-national-insurance-contributions</a:t>
            </a:r>
          </a:p>
          <a:p>
            <a:r>
              <a:t>Meghir, C. and Phillips, D. (2010) ‘Labour supply and taxes’, in Mirrlees, J. et al. (eds.) Dimensions of Tax Design: The Mirrlees Review. Oxford: Oxford University Press, pp. 202–274. https://ifs.org.uk/books/labour-supply-and-taxes-0</a:t>
            </a:r>
          </a:p>
          <a:p>
            <a:r>
              <a:t>Hemming, R. and Kay, J.A. (1980) ‘The Laffer curve’, Fiscal Studies, 1(2), pp. 83–90. https://doi.org/10.1111/j.1475-5890.1980.tb00554.x</a:t>
            </a:r>
          </a:p>
          <a:p>
            <a:r>
              <a:t>Office for Budget Responsibility (2024) Economic and fiscal outlook – March 2024. CP 1027. https://obr.uk/efo/economic-and-fiscal-outlook-march-2024/ (paras. 3.9–3.10).</a:t>
            </a:r>
          </a:p>
        </p:txBody>
      </p:sp>
      <p:sp>
        <p:nvSpPr>
          <p:cNvPr id="563" name="Google Shape;56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1"/>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0" name="Google Shape;490;p31"/>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1" name="Google Shape;491;p31"/>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492" name="Google Shape;492;p31"/>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493" name="Google Shape;493;p31"/>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494" name="Google Shape;494;p31"/>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495" name="Google Shape;495;p31"/>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496" name="Google Shape;496;p31"/>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Tax incentives: a higher return from additional work</a:t>
            </a:r>
            <a:endParaRPr b="1" sz="2400">
              <a:solidFill>
                <a:schemeClr val="accent1"/>
              </a:solidFill>
              <a:latin typeface="Arial"/>
              <a:ea typeface="Arial"/>
              <a:cs typeface="Arial"/>
              <a:sym typeface="Arial"/>
            </a:endParaRPr>
          </a:p>
        </p:txBody>
      </p:sp>
      <p:sp>
        <p:nvSpPr>
          <p:cNvPr id="497" name="Google Shape;497;p31"/>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8" name="Google Shape;498;p31"/>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1</a:t>
            </a:r>
            <a:endParaRPr b="1">
              <a:solidFill>
                <a:schemeClr val="accent1"/>
              </a:solidFill>
              <a:latin typeface="Arial"/>
              <a:ea typeface="Arial"/>
              <a:cs typeface="Arial"/>
              <a:sym typeface="Arial"/>
            </a:endParaRPr>
          </a:p>
        </p:txBody>
      </p:sp>
      <p:pic>
        <p:nvPicPr>
          <p:cNvPr id="509" name="Google Shape;509;p31"/>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10" name="TextBox 509"/>
          <p:cNvSpPr txBox="1"/>
          <p:nvPr/>
        </p:nvSpPr>
        <p:spPr>
          <a:xfrm>
            <a:off x="713232" y="6016752"/>
            <a:ext cx="10607040" cy="228600"/>
          </a:xfrm>
          <a:prstGeom prst="rect">
            <a:avLst/>
          </a:prstGeom>
          <a:noFill/>
        </p:spPr>
        <p:txBody>
          <a:bodyPr wrap="square" lIns="0" rIns="0" tIns="0" bIns="0">
            <a:spAutoFit/>
          </a:bodyPr>
          <a:lstStyle/>
          <a:p>
            <a:pPr>
              <a:spcAft>
                <a:spcPts val="0"/>
              </a:spcAft>
              <a:defRPr sz="1000" b="0">
                <a:solidFill>
                  <a:srgbClr val="666666"/>
                </a:solidFill>
                <a:latin typeface="Arial"/>
              </a:defRPr>
            </a:pPr>
            <a:r>
              <a:t>Source: Author’s calculations using HMRC (2024) rates. Assumes 20% income tax, main NICs band and no other deductions.</a:t>
            </a:r>
          </a:p>
        </p:txBody>
      </p:sp>
      <p:sp>
        <p:nvSpPr>
          <p:cNvPr id="511" name="TextBox 510"/>
          <p:cNvSpPr txBox="1"/>
          <p:nvPr/>
        </p:nvSpPr>
        <p:spPr>
          <a:xfrm>
            <a:off x="777240" y="1700784"/>
            <a:ext cx="6858000" cy="320040"/>
          </a:xfrm>
          <a:prstGeom prst="rect">
            <a:avLst/>
          </a:prstGeom>
          <a:noFill/>
        </p:spPr>
        <p:txBody>
          <a:bodyPr wrap="square" lIns="0" rIns="0" tIns="0" bIns="0">
            <a:spAutoFit/>
          </a:bodyPr>
          <a:lstStyle/>
          <a:p>
            <a:pPr>
              <a:spcAft>
                <a:spcPts val="0"/>
              </a:spcAft>
              <a:defRPr sz="1700" b="0">
                <a:solidFill>
                  <a:srgbClr val="666666"/>
                </a:solidFill>
                <a:latin typeface="Arial"/>
              </a:defRPr>
            </a:pPr>
            <a:r>
              <a:t>Marginal take-home pay per additional £1 earned</a:t>
            </a:r>
          </a:p>
        </p:txBody>
      </p:sp>
      <p:graphicFrame>
        <p:nvGraphicFramePr>
          <p:cNvPr id="512" name="Chart 511"/>
          <p:cNvGraphicFramePr>
            <a:graphicFrameLocks noGrp="1"/>
          </p:cNvGraphicFramePr>
          <p:nvPr/>
        </p:nvGraphicFramePr>
        <p:xfrm>
          <a:off x="868680" y="2194560"/>
          <a:ext cx="6949440" cy="3246120"/>
        </p:xfrm>
        <a:graphic>
          <a:graphicData uri="http://schemas.openxmlformats.org/drawingml/2006/chart">
            <c:chart r:id="rId4"/>
          </a:graphicData>
        </a:graphic>
      </p:graphicFrame>
      <p:sp>
        <p:nvSpPr>
          <p:cNvPr id="513" name="Rectangle 512"/>
          <p:cNvSpPr/>
          <p:nvPr/>
        </p:nvSpPr>
        <p:spPr>
          <a:xfrm>
            <a:off x="8229600" y="2148840"/>
            <a:ext cx="3200400" cy="530352"/>
          </a:xfrm>
          <a:prstGeom prst="rect">
            <a:avLst/>
          </a:prstGeom>
          <a:solidFill>
            <a:srgbClr val="BA1B4D"/>
          </a:solid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TextBox 513"/>
          <p:cNvSpPr txBox="1"/>
          <p:nvPr/>
        </p:nvSpPr>
        <p:spPr>
          <a:xfrm>
            <a:off x="8394192" y="2258568"/>
            <a:ext cx="2834640" cy="292608"/>
          </a:xfrm>
          <a:prstGeom prst="rect">
            <a:avLst/>
          </a:prstGeom>
          <a:noFill/>
        </p:spPr>
        <p:txBody>
          <a:bodyPr wrap="square" lIns="0" rIns="0" tIns="0" bIns="0">
            <a:spAutoFit/>
          </a:bodyPr>
          <a:lstStyle/>
          <a:p>
            <a:pPr>
              <a:spcAft>
                <a:spcPts val="0"/>
              </a:spcAft>
              <a:defRPr sz="1700" b="1">
                <a:solidFill>
                  <a:srgbClr val="FFFFFF"/>
                </a:solidFill>
                <a:latin typeface="Arial"/>
              </a:defRPr>
            </a:pPr>
            <a:r>
              <a:t>WORK INCENTIVES</a:t>
            </a:r>
          </a:p>
        </p:txBody>
      </p:sp>
      <p:sp>
        <p:nvSpPr>
          <p:cNvPr id="515" name="Rectangle 514"/>
          <p:cNvSpPr/>
          <p:nvPr/>
        </p:nvSpPr>
        <p:spPr>
          <a:xfrm>
            <a:off x="8229600" y="2679192"/>
            <a:ext cx="3200400" cy="2889504"/>
          </a:xfrm>
          <a:prstGeom prst="rect">
            <a:avLst/>
          </a:prstGeom>
          <a:no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TextBox 515"/>
          <p:cNvSpPr txBox="1"/>
          <p:nvPr/>
        </p:nvSpPr>
        <p:spPr>
          <a:xfrm>
            <a:off x="8503920" y="3017520"/>
            <a:ext cx="2651760" cy="777240"/>
          </a:xfrm>
          <a:prstGeom prst="rect">
            <a:avLst/>
          </a:prstGeom>
          <a:noFill/>
        </p:spPr>
        <p:txBody>
          <a:bodyPr wrap="square" lIns="0" rIns="0" tIns="0" bIns="0">
            <a:spAutoFit/>
          </a:bodyPr>
          <a:lstStyle/>
          <a:p>
            <a:pPr>
              <a:spcAft>
                <a:spcPts val="0"/>
              </a:spcAft>
              <a:defRPr sz="4300" b="1">
                <a:solidFill>
                  <a:srgbClr val="BA1B4D"/>
                </a:solidFill>
                <a:latin typeface="Arial"/>
              </a:defRPr>
            </a:pPr>
            <a:r>
              <a:t>+5.9%</a:t>
            </a:r>
          </a:p>
        </p:txBody>
      </p:sp>
      <p:sp>
        <p:nvSpPr>
          <p:cNvPr id="517" name="TextBox 516"/>
          <p:cNvSpPr txBox="1"/>
          <p:nvPr/>
        </p:nvSpPr>
        <p:spPr>
          <a:xfrm>
            <a:off x="8503920" y="3931920"/>
            <a:ext cx="2651760" cy="685800"/>
          </a:xfrm>
          <a:prstGeom prst="rect">
            <a:avLst/>
          </a:prstGeom>
          <a:noFill/>
        </p:spPr>
        <p:txBody>
          <a:bodyPr wrap="square" lIns="0" rIns="0" tIns="0" bIns="0">
            <a:spAutoFit/>
          </a:bodyPr>
          <a:lstStyle/>
          <a:p>
            <a:pPr>
              <a:spcAft>
                <a:spcPts val="0"/>
              </a:spcAft>
              <a:defRPr sz="1800" b="1">
                <a:solidFill>
                  <a:srgbClr val="3D3840"/>
                </a:solidFill>
                <a:latin typeface="Arial"/>
              </a:defRPr>
            </a:pPr>
            <a:r>
              <a:t>Combined increase in</a:t>
            </a:r>
          </a:p>
          <a:p>
            <a:pPr>
              <a:spcAft>
                <a:spcPts val="0"/>
              </a:spcAft>
              <a:defRPr sz="1800" b="1">
                <a:solidFill>
                  <a:srgbClr val="3D3840"/>
                </a:solidFill>
                <a:latin typeface="Arial"/>
              </a:defRPr>
            </a:pPr>
            <a:r>
              <a:t>marginal take-home pay</a:t>
            </a:r>
          </a:p>
        </p:txBody>
      </p:sp>
      <p:sp>
        <p:nvSpPr>
          <p:cNvPr id="518" name="TextBox 517"/>
          <p:cNvSpPr txBox="1"/>
          <p:nvPr/>
        </p:nvSpPr>
        <p:spPr>
          <a:xfrm>
            <a:off x="8503920" y="4956048"/>
            <a:ext cx="2651760" cy="274320"/>
          </a:xfrm>
          <a:prstGeom prst="rect">
            <a:avLst/>
          </a:prstGeom>
          <a:noFill/>
        </p:spPr>
        <p:txBody>
          <a:bodyPr wrap="square" lIns="0" rIns="0" tIns="0" bIns="0">
            <a:spAutoFit/>
          </a:bodyPr>
          <a:lstStyle/>
          <a:p>
            <a:pPr>
              <a:spcAft>
                <a:spcPts val="0"/>
              </a:spcAft>
              <a:defRPr sz="1500" b="0">
                <a:solidFill>
                  <a:srgbClr val="666666"/>
                </a:solidFill>
                <a:latin typeface="Arial"/>
              </a:defRPr>
            </a:pPr>
            <a:r>
              <a:t>(72 − 68) ÷ 68 × 100</a:t>
            </a:r>
          </a:p>
        </p:txBody>
      </p:sp>
      <p:sp>
        <p:nvSpPr>
          <p:cNvPr id="519" name="TextBox 518"/>
          <p:cNvSpPr txBox="1"/>
          <p:nvPr/>
        </p:nvSpPr>
        <p:spPr>
          <a:xfrm>
            <a:off x="1024128" y="5614416"/>
            <a:ext cx="6675120" cy="301752"/>
          </a:xfrm>
          <a:prstGeom prst="rect">
            <a:avLst/>
          </a:prstGeom>
          <a:noFill/>
        </p:spPr>
        <p:txBody>
          <a:bodyPr wrap="square" lIns="0" rIns="0" tIns="0" bIns="0">
            <a:spAutoFit/>
          </a:bodyPr>
          <a:lstStyle/>
          <a:p>
            <a:pPr>
              <a:spcAft>
                <a:spcPts val="0"/>
              </a:spcAft>
              <a:defRPr sz="2100" b="1">
                <a:solidFill>
                  <a:srgbClr val="BA1B4D"/>
                </a:solidFill>
                <a:latin typeface="Arial"/>
              </a:defRPr>
            </a:pPr>
            <a:r>
              <a:t>NICs main rate: 12% → 10% → 8%</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2"/>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32"/>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6" name="Google Shape;516;p32"/>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517" name="Google Shape;517;p32"/>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518" name="Google Shape;518;p32"/>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519" name="Google Shape;519;p32"/>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520" name="Google Shape;520;p32"/>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521" name="Google Shape;521;p32"/>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Labour supply: substitution and income effects</a:t>
            </a:r>
            <a:endParaRPr b="1" sz="2400">
              <a:solidFill>
                <a:schemeClr val="accent1"/>
              </a:solidFill>
              <a:latin typeface="Arial"/>
              <a:ea typeface="Arial"/>
              <a:cs typeface="Arial"/>
              <a:sym typeface="Arial"/>
            </a:endParaRPr>
          </a:p>
        </p:txBody>
      </p:sp>
      <p:sp>
        <p:nvSpPr>
          <p:cNvPr id="522" name="Google Shape;522;p32"/>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3" name="Google Shape;523;p32"/>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2</a:t>
            </a:r>
            <a:endParaRPr b="1">
              <a:solidFill>
                <a:schemeClr val="accent1"/>
              </a:solidFill>
              <a:latin typeface="Arial"/>
              <a:ea typeface="Arial"/>
              <a:cs typeface="Arial"/>
              <a:sym typeface="Arial"/>
            </a:endParaRPr>
          </a:p>
        </p:txBody>
      </p:sp>
      <p:pic>
        <p:nvPicPr>
          <p:cNvPr id="537" name="Google Shape;537;p32"/>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38" name="TextBox 537"/>
          <p:cNvSpPr txBox="1"/>
          <p:nvPr/>
        </p:nvSpPr>
        <p:spPr>
          <a:xfrm>
            <a:off x="713232" y="6016752"/>
            <a:ext cx="10607040" cy="228600"/>
          </a:xfrm>
          <a:prstGeom prst="rect">
            <a:avLst/>
          </a:prstGeom>
          <a:noFill/>
        </p:spPr>
        <p:txBody>
          <a:bodyPr wrap="square" lIns="0" rIns="0" tIns="0" bIns="0">
            <a:spAutoFit/>
          </a:bodyPr>
          <a:lstStyle/>
          <a:p>
            <a:pPr>
              <a:spcAft>
                <a:spcPts val="0"/>
              </a:spcAft>
              <a:defRPr sz="1000" b="0">
                <a:solidFill>
                  <a:srgbClr val="666666"/>
                </a:solidFill>
                <a:latin typeface="Arial"/>
              </a:defRPr>
            </a:pPr>
            <a:r>
              <a:t>Source: Author’s theoretical illustration based on Meghir and Phillips (2010).</a:t>
            </a:r>
          </a:p>
        </p:txBody>
      </p:sp>
      <p:sp>
        <p:nvSpPr>
          <p:cNvPr id="539" name="TextBox 538"/>
          <p:cNvSpPr txBox="1"/>
          <p:nvPr/>
        </p:nvSpPr>
        <p:spPr>
          <a:xfrm>
            <a:off x="777240" y="1700784"/>
            <a:ext cx="6858000" cy="320040"/>
          </a:xfrm>
          <a:prstGeom prst="rect">
            <a:avLst/>
          </a:prstGeom>
          <a:noFill/>
        </p:spPr>
        <p:txBody>
          <a:bodyPr wrap="square" lIns="0" rIns="0" tIns="0" bIns="0">
            <a:spAutoFit/>
          </a:bodyPr>
          <a:lstStyle/>
          <a:p>
            <a:pPr>
              <a:spcAft>
                <a:spcPts val="0"/>
              </a:spcAft>
              <a:defRPr sz="1700" b="0">
                <a:solidFill>
                  <a:srgbClr val="666666"/>
                </a:solidFill>
                <a:latin typeface="Arial"/>
              </a:defRPr>
            </a:pPr>
            <a:r>
              <a:t>How a higher net wage changes work–leisure choices</a:t>
            </a:r>
          </a:p>
        </p:txBody>
      </p:sp>
      <p:pic>
        <p:nvPicPr>
          <p:cNvPr id="540" name="Picture 539" descr="template_chart2.png"/>
          <p:cNvPicPr>
            <a:picLocks noChangeAspect="1"/>
          </p:cNvPicPr>
          <p:nvPr/>
        </p:nvPicPr>
        <p:blipFill>
          <a:blip r:embed="rId4"/>
          <a:stretch>
            <a:fillRect/>
          </a:stretch>
        </p:blipFill>
        <p:spPr>
          <a:xfrm>
            <a:off x="731520" y="2103120"/>
            <a:ext cx="7223760" cy="3555473"/>
          </a:xfrm>
          <a:prstGeom prst="rect">
            <a:avLst/>
          </a:prstGeom>
        </p:spPr>
      </p:pic>
      <p:sp>
        <p:nvSpPr>
          <p:cNvPr id="541" name="Rectangle 540"/>
          <p:cNvSpPr/>
          <p:nvPr/>
        </p:nvSpPr>
        <p:spPr>
          <a:xfrm>
            <a:off x="8229600" y="2103120"/>
            <a:ext cx="3200400" cy="484632"/>
          </a:xfrm>
          <a:prstGeom prst="rect">
            <a:avLst/>
          </a:prstGeom>
          <a:solidFill>
            <a:srgbClr val="BA1B4D"/>
          </a:solid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TextBox 541"/>
          <p:cNvSpPr txBox="1"/>
          <p:nvPr/>
        </p:nvSpPr>
        <p:spPr>
          <a:xfrm>
            <a:off x="8394192" y="2203703"/>
            <a:ext cx="2871216" cy="283464"/>
          </a:xfrm>
          <a:prstGeom prst="rect">
            <a:avLst/>
          </a:prstGeom>
          <a:noFill/>
        </p:spPr>
        <p:txBody>
          <a:bodyPr wrap="square" lIns="0" rIns="0" tIns="0" bIns="0">
            <a:spAutoFit/>
          </a:bodyPr>
          <a:lstStyle/>
          <a:p>
            <a:pPr>
              <a:spcAft>
                <a:spcPts val="0"/>
              </a:spcAft>
              <a:defRPr sz="1600" b="1">
                <a:solidFill>
                  <a:srgbClr val="FFFFFF"/>
                </a:solidFill>
                <a:latin typeface="Arial"/>
              </a:defRPr>
            </a:pPr>
            <a:r>
              <a:t>SUBSTITUTION EFFECT</a:t>
            </a:r>
          </a:p>
        </p:txBody>
      </p:sp>
      <p:sp>
        <p:nvSpPr>
          <p:cNvPr id="543" name="Rectangle 542"/>
          <p:cNvSpPr/>
          <p:nvPr/>
        </p:nvSpPr>
        <p:spPr>
          <a:xfrm>
            <a:off x="8229600" y="2587752"/>
            <a:ext cx="3200400" cy="996696"/>
          </a:xfrm>
          <a:prstGeom prst="rect">
            <a:avLst/>
          </a:prstGeom>
          <a:no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TextBox 543"/>
          <p:cNvSpPr txBox="1"/>
          <p:nvPr/>
        </p:nvSpPr>
        <p:spPr>
          <a:xfrm>
            <a:off x="8458200" y="2779776"/>
            <a:ext cx="2743200" cy="694944"/>
          </a:xfrm>
          <a:prstGeom prst="rect">
            <a:avLst/>
          </a:prstGeom>
          <a:noFill/>
        </p:spPr>
        <p:txBody>
          <a:bodyPr wrap="square" lIns="0" rIns="0" tIns="0" bIns="0">
            <a:spAutoFit/>
          </a:bodyPr>
          <a:lstStyle/>
          <a:p>
            <a:pPr>
              <a:spcAft>
                <a:spcPts val="0"/>
              </a:spcAft>
              <a:defRPr sz="2100" b="1">
                <a:solidFill>
                  <a:srgbClr val="3D3840"/>
                </a:solidFill>
                <a:latin typeface="Arial"/>
              </a:defRPr>
            </a:pPr>
            <a:r>
              <a:t>Higher net wage</a:t>
            </a:r>
          </a:p>
          <a:p>
            <a:pPr>
              <a:spcAft>
                <a:spcPts val="0"/>
              </a:spcAft>
              <a:defRPr sz="2100" b="1">
                <a:solidFill>
                  <a:srgbClr val="3D3840"/>
                </a:solidFill>
                <a:latin typeface="Arial"/>
              </a:defRPr>
            </a:pPr>
            <a:r>
              <a:t>→ more work</a:t>
            </a:r>
          </a:p>
        </p:txBody>
      </p:sp>
      <p:sp>
        <p:nvSpPr>
          <p:cNvPr id="545" name="Rectangle 544"/>
          <p:cNvSpPr/>
          <p:nvPr/>
        </p:nvSpPr>
        <p:spPr>
          <a:xfrm>
            <a:off x="8229600" y="3776472"/>
            <a:ext cx="3200400" cy="484632"/>
          </a:xfrm>
          <a:prstGeom prst="rect">
            <a:avLst/>
          </a:prstGeom>
          <a:solidFill>
            <a:srgbClr val="BA1B4D"/>
          </a:solid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8394192" y="3877056"/>
            <a:ext cx="2871216" cy="283464"/>
          </a:xfrm>
          <a:prstGeom prst="rect">
            <a:avLst/>
          </a:prstGeom>
          <a:noFill/>
        </p:spPr>
        <p:txBody>
          <a:bodyPr wrap="square" lIns="0" rIns="0" tIns="0" bIns="0">
            <a:spAutoFit/>
          </a:bodyPr>
          <a:lstStyle/>
          <a:p>
            <a:pPr>
              <a:spcAft>
                <a:spcPts val="0"/>
              </a:spcAft>
              <a:defRPr sz="1600" b="1">
                <a:solidFill>
                  <a:srgbClr val="FFFFFF"/>
                </a:solidFill>
                <a:latin typeface="Arial"/>
              </a:defRPr>
            </a:pPr>
            <a:r>
              <a:t>INCOME EFFECT</a:t>
            </a:r>
          </a:p>
        </p:txBody>
      </p:sp>
      <p:sp>
        <p:nvSpPr>
          <p:cNvPr id="547" name="Rectangle 546"/>
          <p:cNvSpPr/>
          <p:nvPr/>
        </p:nvSpPr>
        <p:spPr>
          <a:xfrm>
            <a:off x="8229600" y="4261104"/>
            <a:ext cx="3200400" cy="996696"/>
          </a:xfrm>
          <a:prstGeom prst="rect">
            <a:avLst/>
          </a:prstGeom>
          <a:no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8458200" y="4453128"/>
            <a:ext cx="2743200" cy="694944"/>
          </a:xfrm>
          <a:prstGeom prst="rect">
            <a:avLst/>
          </a:prstGeom>
          <a:noFill/>
        </p:spPr>
        <p:txBody>
          <a:bodyPr wrap="square" lIns="0" rIns="0" tIns="0" bIns="0">
            <a:spAutoFit/>
          </a:bodyPr>
          <a:lstStyle/>
          <a:p>
            <a:pPr>
              <a:spcAft>
                <a:spcPts val="0"/>
              </a:spcAft>
              <a:defRPr sz="2100" b="1">
                <a:solidFill>
                  <a:srgbClr val="3D3840"/>
                </a:solidFill>
                <a:latin typeface="Arial"/>
              </a:defRPr>
            </a:pPr>
            <a:r>
              <a:t>Higher income</a:t>
            </a:r>
          </a:p>
          <a:p>
            <a:pPr>
              <a:spcAft>
                <a:spcPts val="0"/>
              </a:spcAft>
              <a:defRPr sz="2100" b="1">
                <a:solidFill>
                  <a:srgbClr val="3D3840"/>
                </a:solidFill>
                <a:latin typeface="Arial"/>
              </a:defRPr>
            </a:pPr>
            <a:r>
              <a:t>→ more leisure</a:t>
            </a:r>
          </a:p>
        </p:txBody>
      </p:sp>
      <p:sp>
        <p:nvSpPr>
          <p:cNvPr id="549" name="TextBox 548"/>
          <p:cNvSpPr txBox="1"/>
          <p:nvPr/>
        </p:nvSpPr>
        <p:spPr>
          <a:xfrm>
            <a:off x="932688" y="5669280"/>
            <a:ext cx="10424160" cy="274320"/>
          </a:xfrm>
          <a:prstGeom prst="rect">
            <a:avLst/>
          </a:prstGeom>
          <a:noFill/>
        </p:spPr>
        <p:txBody>
          <a:bodyPr wrap="square" lIns="0" rIns="0" tIns="0" bIns="0">
            <a:spAutoFit/>
          </a:bodyPr>
          <a:lstStyle/>
          <a:p>
            <a:pPr>
              <a:spcAft>
                <a:spcPts val="0"/>
              </a:spcAft>
              <a:defRPr sz="1900" b="1">
                <a:solidFill>
                  <a:srgbClr val="BA1B4D"/>
                </a:solidFill>
                <a:latin typeface="Arial"/>
              </a:defRPr>
            </a:pPr>
            <a:r>
              <a:t>Participation in employment ≠ hours worked by existing employees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4"/>
          <p:cNvSpPr/>
          <p:nvPr/>
        </p:nvSpPr>
        <p:spPr>
          <a:xfrm>
            <a:off x="0" y="0"/>
            <a:ext cx="12192000" cy="67151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6" name="Google Shape;566;p34"/>
          <p:cNvSpPr/>
          <p:nvPr/>
        </p:nvSpPr>
        <p:spPr>
          <a:xfrm>
            <a:off x="5596237" y="0"/>
            <a:ext cx="1727427" cy="67151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7" name="Google Shape;567;p34"/>
          <p:cNvSpPr txBox="1"/>
          <p:nvPr/>
        </p:nvSpPr>
        <p:spPr>
          <a:xfrm>
            <a:off x="2775026" y="90318"/>
            <a:ext cx="2151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Policy background</a:t>
            </a:r>
            <a:endParaRPr sz="1400">
              <a:solidFill>
                <a:schemeClr val="lt1"/>
              </a:solidFill>
              <a:latin typeface="Arial"/>
              <a:ea typeface="Arial"/>
              <a:cs typeface="Arial"/>
              <a:sym typeface="Arial"/>
            </a:endParaRPr>
          </a:p>
        </p:txBody>
      </p:sp>
      <p:sp>
        <p:nvSpPr>
          <p:cNvPr id="568" name="Google Shape;568;p34"/>
          <p:cNvSpPr txBox="1"/>
          <p:nvPr/>
        </p:nvSpPr>
        <p:spPr>
          <a:xfrm>
            <a:off x="5705965" y="90318"/>
            <a:ext cx="150797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Economic efficiency</a:t>
            </a:r>
            <a:endParaRPr sz="1400">
              <a:solidFill>
                <a:schemeClr val="lt1"/>
              </a:solidFill>
              <a:latin typeface="Arial"/>
              <a:ea typeface="Arial"/>
              <a:cs typeface="Arial"/>
              <a:sym typeface="Arial"/>
            </a:endParaRPr>
          </a:p>
        </p:txBody>
      </p:sp>
      <p:sp>
        <p:nvSpPr>
          <p:cNvPr id="569" name="Google Shape;569;p34"/>
          <p:cNvSpPr txBox="1"/>
          <p:nvPr/>
        </p:nvSpPr>
        <p:spPr>
          <a:xfrm>
            <a:off x="7993346"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Distributional equity</a:t>
            </a:r>
            <a:endParaRPr sz="1400">
              <a:solidFill>
                <a:schemeClr val="lt1"/>
              </a:solidFill>
              <a:latin typeface="Arial"/>
              <a:ea typeface="Arial"/>
              <a:cs typeface="Arial"/>
              <a:sym typeface="Arial"/>
            </a:endParaRPr>
          </a:p>
        </p:txBody>
      </p:sp>
      <p:sp>
        <p:nvSpPr>
          <p:cNvPr id="570" name="Google Shape;570;p34"/>
          <p:cNvSpPr txBox="1"/>
          <p:nvPr/>
        </p:nvSpPr>
        <p:spPr>
          <a:xfrm>
            <a:off x="10253501" y="90318"/>
            <a:ext cx="128965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300">
                <a:solidFill>
                  <a:schemeClr val="lt1"/>
                </a:solidFill>
                <a:latin typeface="Arial"/>
                <a:ea typeface="Arial"/>
                <a:cs typeface="Arial"/>
                <a:sym typeface="Arial"/>
              </a:rPr>
              <a:t>Fiscal sustainability</a:t>
            </a:r>
            <a:endParaRPr sz="1400">
              <a:solidFill>
                <a:schemeClr val="lt1"/>
              </a:solidFill>
              <a:latin typeface="Arial"/>
              <a:ea typeface="Arial"/>
              <a:cs typeface="Arial"/>
              <a:sym typeface="Arial"/>
            </a:endParaRPr>
          </a:p>
        </p:txBody>
      </p:sp>
      <p:cxnSp>
        <p:nvCxnSpPr>
          <p:cNvPr id="571" name="Google Shape;571;p34"/>
          <p:cNvCxnSpPr/>
          <p:nvPr/>
        </p:nvCxnSpPr>
        <p:spPr>
          <a:xfrm>
            <a:off x="618938" y="1444007"/>
            <a:ext cx="11573062" cy="0"/>
          </a:xfrm>
          <a:prstGeom prst="straightConnector1">
            <a:avLst/>
          </a:prstGeom>
          <a:noFill/>
          <a:ln cap="flat" cmpd="sng" w="9525">
            <a:solidFill>
              <a:schemeClr val="accent1"/>
            </a:solidFill>
            <a:prstDash val="solid"/>
            <a:miter lim="800000"/>
            <a:headEnd len="sm" w="sm" type="none"/>
            <a:tailEnd len="sm" w="sm" type="none"/>
          </a:ln>
        </p:spPr>
      </p:cxnSp>
      <p:sp>
        <p:nvSpPr>
          <p:cNvPr id="572" name="Google Shape;572;p34"/>
          <p:cNvSpPr txBox="1"/>
          <p:nvPr/>
        </p:nvSpPr>
        <p:spPr>
          <a:xfrm>
            <a:off x="577440" y="947427"/>
            <a:ext cx="10728449"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accent1"/>
              </a:buClr>
              <a:buSzPts val="1920"/>
              <a:buFont typeface="Noto Sans Symbols"/>
              <a:buChar char="■"/>
            </a:pPr>
            <a:r>
              <a:rPr b="1" lang="en" sz="2400">
                <a:solidFill>
                  <a:schemeClr val="accent1"/>
                </a:solidFill>
                <a:latin typeface="Arial"/>
                <a:ea typeface="Arial"/>
                <a:cs typeface="Arial"/>
                <a:sym typeface="Arial"/>
              </a:rPr>
              <a:t>Laffer curve: behavioural gains and fiscal effects</a:t>
            </a:r>
            <a:endParaRPr b="1" sz="2400">
              <a:solidFill>
                <a:schemeClr val="accent1"/>
              </a:solidFill>
              <a:latin typeface="Arial"/>
              <a:ea typeface="Arial"/>
              <a:cs typeface="Arial"/>
              <a:sym typeface="Arial"/>
            </a:endParaRPr>
          </a:p>
        </p:txBody>
      </p:sp>
      <p:sp>
        <p:nvSpPr>
          <p:cNvPr id="573" name="Google Shape;573;p34"/>
          <p:cNvSpPr/>
          <p:nvPr/>
        </p:nvSpPr>
        <p:spPr>
          <a:xfrm>
            <a:off x="11566098" y="6300679"/>
            <a:ext cx="333982" cy="333980"/>
          </a:xfrm>
          <a:prstGeom prst="ellipse">
            <a:avLst/>
          </a:prstGeom>
          <a:noFill/>
          <a:ln cap="flat" cmpd="sng" w="9525">
            <a:solidFill>
              <a:schemeClr val="accent1">
                <a:alpha val="66666"/>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4" name="Google Shape;574;p34"/>
          <p:cNvSpPr txBox="1"/>
          <p:nvPr>
            <p:ph idx="12" type="sldNum"/>
          </p:nvPr>
        </p:nvSpPr>
        <p:spPr>
          <a:xfrm>
            <a:off x="11425352" y="6290983"/>
            <a:ext cx="615471"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3</a:t>
            </a:r>
            <a:endParaRPr b="1">
              <a:solidFill>
                <a:schemeClr val="accent1"/>
              </a:solidFill>
              <a:latin typeface="Arial"/>
              <a:ea typeface="Arial"/>
              <a:cs typeface="Arial"/>
              <a:sym typeface="Arial"/>
            </a:endParaRPr>
          </a:p>
        </p:txBody>
      </p:sp>
      <p:pic>
        <p:nvPicPr>
          <p:cNvPr id="583" name="Google Shape;583;p34"/>
          <p:cNvPicPr preferRelativeResize="0"/>
          <p:nvPr/>
        </p:nvPicPr>
        <p:blipFill rotWithShape="1">
          <a:blip r:embed="rId3">
            <a:alphaModFix/>
          </a:blip>
          <a:srcRect b="0" l="0" r="0" t="0"/>
          <a:stretch/>
        </p:blipFill>
        <p:spPr>
          <a:xfrm>
            <a:off x="657492" y="93765"/>
            <a:ext cx="797795" cy="448456"/>
          </a:xfrm>
          <a:prstGeom prst="rect">
            <a:avLst/>
          </a:prstGeom>
          <a:noFill/>
          <a:ln>
            <a:noFill/>
          </a:ln>
        </p:spPr>
      </p:pic>
      <p:sp>
        <p:nvSpPr>
          <p:cNvPr id="584" name="TextBox 583"/>
          <p:cNvSpPr txBox="1"/>
          <p:nvPr/>
        </p:nvSpPr>
        <p:spPr>
          <a:xfrm>
            <a:off x="713232" y="6016752"/>
            <a:ext cx="10607040" cy="228600"/>
          </a:xfrm>
          <a:prstGeom prst="rect">
            <a:avLst/>
          </a:prstGeom>
          <a:noFill/>
        </p:spPr>
        <p:txBody>
          <a:bodyPr wrap="square" lIns="0" rIns="0" tIns="0" bIns="0">
            <a:spAutoFit/>
          </a:bodyPr>
          <a:lstStyle/>
          <a:p>
            <a:pPr>
              <a:spcAft>
                <a:spcPts val="0"/>
              </a:spcAft>
              <a:defRPr sz="1000" b="0">
                <a:solidFill>
                  <a:srgbClr val="666666"/>
                </a:solidFill>
                <a:latin typeface="Arial"/>
              </a:defRPr>
            </a:pPr>
            <a:r>
              <a:t>Sources: Hemming and Kay (1980); OBR (2024), paras. 3.9–3.10. Diagram: theoretical illustration; OBR figures: forecasts.</a:t>
            </a:r>
          </a:p>
        </p:txBody>
      </p:sp>
      <p:sp>
        <p:nvSpPr>
          <p:cNvPr id="585" name="TextBox 584"/>
          <p:cNvSpPr txBox="1"/>
          <p:nvPr/>
        </p:nvSpPr>
        <p:spPr>
          <a:xfrm>
            <a:off x="777240" y="1700784"/>
            <a:ext cx="6858000" cy="320040"/>
          </a:xfrm>
          <a:prstGeom prst="rect">
            <a:avLst/>
          </a:prstGeom>
          <a:noFill/>
        </p:spPr>
        <p:txBody>
          <a:bodyPr wrap="square" lIns="0" rIns="0" tIns="0" bIns="0">
            <a:spAutoFit/>
          </a:bodyPr>
          <a:lstStyle/>
          <a:p>
            <a:pPr>
              <a:spcAft>
                <a:spcPts val="0"/>
              </a:spcAft>
              <a:defRPr sz="1700" b="0">
                <a:solidFill>
                  <a:srgbClr val="666666"/>
                </a:solidFill>
                <a:latin typeface="Arial"/>
              </a:defRPr>
            </a:pPr>
            <a:r>
              <a:t>Tax revenue = tax rate × taxable base</a:t>
            </a:r>
          </a:p>
        </p:txBody>
      </p:sp>
      <p:pic>
        <p:nvPicPr>
          <p:cNvPr id="586" name="Picture 585" descr="template_chart3.png"/>
          <p:cNvPicPr>
            <a:picLocks noChangeAspect="1"/>
          </p:cNvPicPr>
          <p:nvPr/>
        </p:nvPicPr>
        <p:blipFill>
          <a:blip r:embed="rId5"/>
          <a:stretch>
            <a:fillRect/>
          </a:stretch>
        </p:blipFill>
        <p:spPr>
          <a:xfrm>
            <a:off x="731520" y="2103120"/>
            <a:ext cx="7223760" cy="3559112"/>
          </a:xfrm>
          <a:prstGeom prst="rect">
            <a:avLst/>
          </a:prstGeom>
        </p:spPr>
      </p:pic>
      <p:sp>
        <p:nvSpPr>
          <p:cNvPr id="587" name="Rectangle 586"/>
          <p:cNvSpPr/>
          <p:nvPr/>
        </p:nvSpPr>
        <p:spPr>
          <a:xfrm>
            <a:off x="8229600" y="2103120"/>
            <a:ext cx="3200400" cy="530352"/>
          </a:xfrm>
          <a:prstGeom prst="rect">
            <a:avLst/>
          </a:prstGeom>
          <a:solidFill>
            <a:srgbClr val="BA1B4D"/>
          </a:solid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TextBox 587"/>
          <p:cNvSpPr txBox="1"/>
          <p:nvPr/>
        </p:nvSpPr>
        <p:spPr>
          <a:xfrm>
            <a:off x="8394192" y="2212848"/>
            <a:ext cx="2834640" cy="292608"/>
          </a:xfrm>
          <a:prstGeom prst="rect">
            <a:avLst/>
          </a:prstGeom>
          <a:noFill/>
        </p:spPr>
        <p:txBody>
          <a:bodyPr wrap="square" lIns="0" rIns="0" tIns="0" bIns="0">
            <a:spAutoFit/>
          </a:bodyPr>
          <a:lstStyle/>
          <a:p>
            <a:pPr>
              <a:spcAft>
                <a:spcPts val="0"/>
              </a:spcAft>
              <a:defRPr sz="1700" b="1">
                <a:solidFill>
                  <a:srgbClr val="FFFFFF"/>
                </a:solidFill>
                <a:latin typeface="Arial"/>
              </a:defRPr>
            </a:pPr>
            <a:r>
              <a:t>OBR FORECAST</a:t>
            </a:r>
          </a:p>
        </p:txBody>
      </p:sp>
      <p:sp>
        <p:nvSpPr>
          <p:cNvPr id="589" name="Rectangle 588"/>
          <p:cNvSpPr/>
          <p:nvPr/>
        </p:nvSpPr>
        <p:spPr>
          <a:xfrm>
            <a:off x="8229600" y="2633472"/>
            <a:ext cx="3200400" cy="2871216"/>
          </a:xfrm>
          <a:prstGeom prst="rect">
            <a:avLst/>
          </a:prstGeom>
          <a:noFill/>
          <a:ln w="8255">
            <a:solidFill>
              <a:srgbClr val="BA1B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TextBox 589"/>
          <p:cNvSpPr txBox="1"/>
          <p:nvPr/>
        </p:nvSpPr>
        <p:spPr>
          <a:xfrm>
            <a:off x="8485632" y="2834640"/>
            <a:ext cx="2743200" cy="585216"/>
          </a:xfrm>
          <a:prstGeom prst="rect">
            <a:avLst/>
          </a:prstGeom>
          <a:noFill/>
        </p:spPr>
        <p:txBody>
          <a:bodyPr wrap="square" lIns="0" rIns="0" tIns="0" bIns="0">
            <a:spAutoFit/>
          </a:bodyPr>
          <a:lstStyle/>
          <a:p>
            <a:pPr>
              <a:spcAft>
                <a:spcPts val="0"/>
              </a:spcAft>
              <a:defRPr sz="2900" b="1">
                <a:solidFill>
                  <a:srgbClr val="BA1B4D"/>
                </a:solidFill>
                <a:latin typeface="Arial"/>
              </a:defRPr>
            </a:pPr>
            <a:r>
              <a:t>98,000 FTEs</a:t>
            </a:r>
          </a:p>
        </p:txBody>
      </p:sp>
      <p:sp>
        <p:nvSpPr>
          <p:cNvPr id="591" name="TextBox 590"/>
          <p:cNvSpPr txBox="1"/>
          <p:nvPr/>
        </p:nvSpPr>
        <p:spPr>
          <a:xfrm>
            <a:off x="8503920" y="3502152"/>
            <a:ext cx="2688336" cy="429768"/>
          </a:xfrm>
          <a:prstGeom prst="rect">
            <a:avLst/>
          </a:prstGeom>
          <a:noFill/>
        </p:spPr>
        <p:txBody>
          <a:bodyPr wrap="square" lIns="0" rIns="0" tIns="0" bIns="0">
            <a:spAutoFit/>
          </a:bodyPr>
          <a:lstStyle/>
          <a:p>
            <a:pPr>
              <a:spcAft>
                <a:spcPts val="0"/>
              </a:spcAft>
              <a:defRPr sz="1600" b="0">
                <a:solidFill>
                  <a:srgbClr val="666666"/>
                </a:solidFill>
                <a:latin typeface="Arial"/>
              </a:defRPr>
            </a:pPr>
            <a:r>
              <a:t>Additional labour supply</a:t>
            </a:r>
          </a:p>
        </p:txBody>
      </p:sp>
      <p:sp>
        <p:nvSpPr>
          <p:cNvPr id="592" name="TextBox 591"/>
          <p:cNvSpPr txBox="1"/>
          <p:nvPr/>
        </p:nvSpPr>
        <p:spPr>
          <a:xfrm>
            <a:off x="8485632" y="4078224"/>
            <a:ext cx="2743200" cy="576072"/>
          </a:xfrm>
          <a:prstGeom prst="rect">
            <a:avLst/>
          </a:prstGeom>
          <a:noFill/>
        </p:spPr>
        <p:txBody>
          <a:bodyPr wrap="square" lIns="0" rIns="0" tIns="0" bIns="0">
            <a:spAutoFit/>
          </a:bodyPr>
          <a:lstStyle/>
          <a:p>
            <a:pPr>
              <a:spcAft>
                <a:spcPts val="0"/>
              </a:spcAft>
              <a:defRPr sz="3400" b="1">
                <a:solidFill>
                  <a:srgbClr val="BA1B4D"/>
                </a:solidFill>
                <a:latin typeface="Arial"/>
              </a:defRPr>
            </a:pPr>
            <a:r>
              <a:t>≈20%</a:t>
            </a:r>
          </a:p>
        </p:txBody>
      </p:sp>
      <p:sp>
        <p:nvSpPr>
          <p:cNvPr id="593" name="TextBox 592"/>
          <p:cNvSpPr txBox="1"/>
          <p:nvPr/>
        </p:nvSpPr>
        <p:spPr>
          <a:xfrm>
            <a:off x="8503920" y="4736592"/>
            <a:ext cx="2688336" cy="594360"/>
          </a:xfrm>
          <a:prstGeom prst="rect">
            <a:avLst/>
          </a:prstGeom>
          <a:noFill/>
        </p:spPr>
        <p:txBody>
          <a:bodyPr wrap="square" lIns="0" rIns="0" tIns="0" bIns="0">
            <a:spAutoFit/>
          </a:bodyPr>
          <a:lstStyle/>
          <a:p>
            <a:pPr>
              <a:spcAft>
                <a:spcPts val="0"/>
              </a:spcAft>
              <a:defRPr sz="1700" b="0">
                <a:solidFill>
                  <a:srgbClr val="666666"/>
                </a:solidFill>
                <a:latin typeface="Arial"/>
              </a:defRPr>
            </a:pPr>
            <a:r>
              <a:t>of static fiscal cost recovered</a:t>
            </a:r>
          </a:p>
        </p:txBody>
      </p:sp>
      <p:sp>
        <p:nvSpPr>
          <p:cNvPr id="594" name="TextBox 593"/>
          <p:cNvSpPr txBox="1"/>
          <p:nvPr/>
        </p:nvSpPr>
        <p:spPr>
          <a:xfrm>
            <a:off x="932688" y="5669280"/>
            <a:ext cx="10424160" cy="274320"/>
          </a:xfrm>
          <a:prstGeom prst="rect">
            <a:avLst/>
          </a:prstGeom>
          <a:noFill/>
        </p:spPr>
        <p:txBody>
          <a:bodyPr wrap="square" lIns="0" rIns="0" tIns="0" bIns="0">
            <a:spAutoFit/>
          </a:bodyPr>
          <a:lstStyle/>
          <a:p>
            <a:pPr>
              <a:spcAft>
                <a:spcPts val="0"/>
              </a:spcAft>
              <a:defRPr sz="2000" b="1">
                <a:solidFill>
                  <a:srgbClr val="BA1B4D"/>
                </a:solidFill>
                <a:latin typeface="Arial"/>
              </a:defRPr>
            </a:pPr>
            <a:r>
              <a:t>Stronger work incentives, supported by sustainable financing</a:t>
            </a: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自定义 2853">
      <a:dk1>
        <a:srgbClr val="000000"/>
      </a:dk1>
      <a:lt1>
        <a:srgbClr val="FFFFFF"/>
      </a:lt1>
      <a:dk2>
        <a:srgbClr val="44546A"/>
      </a:dk2>
      <a:lt2>
        <a:srgbClr val="E7E6E6"/>
      </a:lt2>
      <a:accent1>
        <a:srgbClr val="BA1B4D"/>
      </a:accent1>
      <a:accent2>
        <a:srgbClr val="E06E33"/>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