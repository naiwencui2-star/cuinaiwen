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Pence retained</c:v>
                </c:pt>
              </c:strCache>
            </c:strRef>
          </c:tx>
          <c:dPt>
            <c:idx val="0"/>
            <c:spPr>
              <a:solidFill>
                <a:srgbClr val="A5A5A5"/>
              </a:solidFill>
              <a:ln>
                <a:noFill/>
              </a:ln>
            </c:spPr>
          </c:dPt>
          <c:dPt>
            <c:idx val="1"/>
            <c:spPr>
              <a:solidFill>
                <a:srgbClr val="E06E33"/>
              </a:solidFill>
              <a:ln>
                <a:noFill/>
              </a:ln>
            </c:spPr>
          </c:dPt>
          <c:dPt>
            <c:idx val="2"/>
            <c:spPr>
              <a:solidFill>
                <a:srgbClr val="BA1B4D"/>
              </a:solidFill>
              <a:ln>
                <a:noFill/>
              </a:ln>
            </c:spPr>
          </c:dPt>
          <c:cat>
            <c:strRef>
              <c:f>Sheet1!$A$2:$A$4</c:f>
              <c:strCache>
                <c:ptCount val="3"/>
                <c:pt idx="0">
                  <c:v>Before 6 Jan 2024</c:v>
                </c:pt>
                <c:pt idx="1">
                  <c:v>6 Jan–5 Apr 2024</c:v>
                </c:pt>
                <c:pt idx="2">
                  <c:v>From 6 Apr 2024</c:v>
                </c:pt>
              </c:strCache>
            </c:strRef>
          </c:cat>
          <c:val>
            <c:numRef>
              <c:f>Sheet1!$B$2:$B$4</c:f>
              <c:numCache>
                <c:formatCode>General</c:formatCode>
                <c:ptCount val="3"/>
                <c:pt idx="0">
                  <c:v>68</c:v>
                </c:pt>
                <c:pt idx="1">
                  <c:v>70</c:v>
                </c:pt>
                <c:pt idx="2">
                  <c:v>72</c:v>
                </c:pt>
              </c:numCache>
            </c:numRef>
          </c:val>
        </c:ser>
        <c:dLbls>
          <c:numFmt formatCode="0&quot;p&quot;" sourceLinked="0"/>
          <c:txPr>
            <a:bodyPr/>
            <a:lstStyle/>
            <a:p>
              <a:pPr>
                <a:defRPr sz="24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80.0"/>
          <c:min val="0.0"/>
        </c:scaling>
        <c:delete val="0"/>
        <c:axPos val="l"/>
        <c:majorGridlines/>
        <c:majorTickMark val="out"/>
        <c:minorTickMark val="none"/>
        <c:tickLblPos val="nextTo"/>
        <c:txPr>
          <a:bodyPr/>
          <a:lstStyle/>
          <a:p>
            <a:pPr>
              <a:defRPr sz="12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MEMBER C — SLIDE 1</a:t>
            </a:r>
          </a:p>
          <a:p>
            <a:r>
              <a:t>Target: 35 seconds.</a:t>
            </a:r>
          </a:p>
          <a:p/>
          <a:p>
            <a:r>
              <a:t>My part explains how the National Insurance cuts affect economic efficiency. First, they increase the reward from additional work. With income tax fixed at twenty per cent, employees retain sixty-eight, seventy and then seventy-two pence from each extra pound earned. The combined increase is about five point nine per cent. This calculation applies to earnings within the main National Insurance band. It shows how the policy strengthens financial incentives.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MEMBER C — SLIDE 2</a:t>
            </a:r>
          </a:p>
          <a:p>
            <a:r>
              <a:t>Target: 35 seconds.</a:t>
            </a:r>
          </a:p>
          <a:p/>
          <a:p>
            <a:r>
              <a:t>However, two effects influence working hours. The substitution effect makes leisure more expensive because an hour away from work now sacrifices more income. This encourages additional work. The income effect operates in the opposite direction: higher disposable income allows people to enjoy more leisure. The final response depends on their relative strength. We should also distinguish entering employment from changing hours among existing workers.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MEMBER C — SLIDE 3</a:t>
            </a:r>
          </a:p>
          <a:p>
            <a:r>
              <a:t>Target: 35 seconds.</a:t>
            </a:r>
          </a:p>
          <a:p/>
          <a:p>
            <a:r>
              <a:t>Finally, the Laffer curve links tax rates with the taxable base. Stronger work incentives can expand that base and recover some lost revenue. The OBR projected a labour-supply increase equivalent to ninety-eight thousand full-time workers and approximately twenty per cent recovery of the March measures’ static fiscal cost. My conclusion is that the cuts have a credible incentive rationale, while their overall value also depends on sustainable financing.</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667512"/>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mplate_logo.png"/>
          <p:cNvPicPr>
            <a:picLocks noChangeAspect="1"/>
          </p:cNvPicPr>
          <p:nvPr/>
        </p:nvPicPr>
        <p:blipFill>
          <a:blip r:embed="rId2"/>
          <a:stretch>
            <a:fillRect/>
          </a:stretch>
        </p:blipFill>
        <p:spPr>
          <a:xfrm>
            <a:off x="658368" y="91440"/>
            <a:ext cx="795528" cy="448056"/>
          </a:xfrm>
          <a:prstGeom prst="rect">
            <a:avLst/>
          </a:prstGeom>
        </p:spPr>
      </p:pic>
      <p:sp>
        <p:nvSpPr>
          <p:cNvPr id="4" name="TextBox 3"/>
          <p:cNvSpPr txBox="1"/>
          <p:nvPr/>
        </p:nvSpPr>
        <p:spPr>
          <a:xfrm>
            <a:off x="1828800" y="155448"/>
            <a:ext cx="4572000" cy="320040"/>
          </a:xfrm>
          <a:prstGeom prst="rect">
            <a:avLst/>
          </a:prstGeom>
          <a:noFill/>
        </p:spPr>
        <p:txBody>
          <a:bodyPr wrap="square" lIns="0" rIns="0" tIns="0" bIns="0">
            <a:spAutoFit/>
          </a:bodyPr>
          <a:lstStyle/>
          <a:p>
            <a:pPr>
              <a:spcAft>
                <a:spcPts val="700"/>
              </a:spcAft>
              <a:defRPr sz="1500" b="1">
                <a:solidFill>
                  <a:srgbClr val="FFFFFF"/>
                </a:solidFill>
                <a:latin typeface="Arial"/>
              </a:defRPr>
            </a:pPr>
            <a:r>
              <a:t>ECONOMIC EFFICIENCY  |  MEMBER C</a:t>
            </a:r>
          </a:p>
        </p:txBody>
      </p:sp>
      <p:sp>
        <p:nvSpPr>
          <p:cNvPr id="5" name="TextBox 4"/>
          <p:cNvSpPr txBox="1"/>
          <p:nvPr/>
        </p:nvSpPr>
        <p:spPr>
          <a:xfrm>
            <a:off x="8229600" y="155448"/>
            <a:ext cx="3291840" cy="320040"/>
          </a:xfrm>
          <a:prstGeom prst="rect">
            <a:avLst/>
          </a:prstGeom>
          <a:noFill/>
        </p:spPr>
        <p:txBody>
          <a:bodyPr wrap="square" lIns="0" rIns="0" tIns="0" bIns="0">
            <a:spAutoFit/>
          </a:bodyPr>
          <a:lstStyle/>
          <a:p>
            <a:pPr>
              <a:spcAft>
                <a:spcPts val="700"/>
              </a:spcAft>
              <a:defRPr sz="1400" b="0">
                <a:solidFill>
                  <a:srgbClr val="FFFFFF"/>
                </a:solidFill>
                <a:latin typeface="Arial"/>
              </a:defRPr>
            </a:pPr>
            <a:r>
              <a:t>01  WORK INCENTIVES</a:t>
            </a:r>
          </a:p>
        </p:txBody>
      </p:sp>
      <p:sp>
        <p:nvSpPr>
          <p:cNvPr id="6" name="TextBox 5"/>
          <p:cNvSpPr txBox="1"/>
          <p:nvPr/>
        </p:nvSpPr>
        <p:spPr>
          <a:xfrm>
            <a:off x="594360" y="932688"/>
            <a:ext cx="10972800" cy="502920"/>
          </a:xfrm>
          <a:prstGeom prst="rect">
            <a:avLst/>
          </a:prstGeom>
          <a:noFill/>
        </p:spPr>
        <p:txBody>
          <a:bodyPr wrap="square" lIns="0" rIns="0" tIns="0" bIns="0">
            <a:spAutoFit/>
          </a:bodyPr>
          <a:lstStyle/>
          <a:p>
            <a:pPr>
              <a:spcAft>
                <a:spcPts val="700"/>
              </a:spcAft>
              <a:defRPr sz="2800" b="1">
                <a:solidFill>
                  <a:srgbClr val="BA1B4D"/>
                </a:solidFill>
                <a:latin typeface="Arial"/>
              </a:defRPr>
            </a:pPr>
            <a:r>
              <a:t>Lower NICs increase the reward from extra work</a:t>
            </a:r>
          </a:p>
        </p:txBody>
      </p:sp>
      <p:sp>
        <p:nvSpPr>
          <p:cNvPr id="7" name="Rectangle 6"/>
          <p:cNvSpPr/>
          <p:nvPr/>
        </p:nvSpPr>
        <p:spPr>
          <a:xfrm>
            <a:off x="621792" y="1463040"/>
            <a:ext cx="10972800" cy="10972"/>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263640"/>
            <a:ext cx="10424160" cy="438912"/>
          </a:xfrm>
          <a:prstGeom prst="rect">
            <a:avLst/>
          </a:prstGeom>
          <a:noFill/>
        </p:spPr>
        <p:txBody>
          <a:bodyPr wrap="square" lIns="0" rIns="0" tIns="0" bIns="0">
            <a:spAutoFit/>
          </a:bodyPr>
          <a:lstStyle/>
          <a:p>
            <a:pPr>
              <a:spcAft>
                <a:spcPts val="700"/>
              </a:spcAft>
              <a:defRPr sz="1000" b="0">
                <a:solidFill>
                  <a:srgbClr val="66717D"/>
                </a:solidFill>
                <a:latin typeface="Arial"/>
              </a:defRPr>
            </a:pPr>
            <a:r>
              <a:t>Source: Author’s calculations using HMRC (2024) rates. Income tax held at 20%; main NICs band; other deductions excluded.</a:t>
            </a:r>
          </a:p>
        </p:txBody>
      </p:sp>
      <p:sp>
        <p:nvSpPr>
          <p:cNvPr id="9" name="Rectangle 8"/>
          <p:cNvSpPr/>
          <p:nvPr/>
        </p:nvSpPr>
        <p:spPr>
          <a:xfrm>
            <a:off x="11567160" y="6309360"/>
            <a:ext cx="329184" cy="329184"/>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0" y="6318504"/>
            <a:ext cx="228600" cy="256032"/>
          </a:xfrm>
          <a:prstGeom prst="rect">
            <a:avLst/>
          </a:prstGeom>
          <a:noFill/>
        </p:spPr>
        <p:txBody>
          <a:bodyPr wrap="square" lIns="0" rIns="0" tIns="0" bIns="0">
            <a:spAutoFit/>
          </a:bodyPr>
          <a:lstStyle/>
          <a:p>
            <a:pPr>
              <a:spcAft>
                <a:spcPts val="700"/>
              </a:spcAft>
              <a:defRPr sz="1200" b="1">
                <a:solidFill>
                  <a:srgbClr val="FFFFFF"/>
                </a:solidFill>
                <a:latin typeface="Arial"/>
              </a:defRPr>
            </a:pPr>
            <a:r>
              <a:t>1</a:t>
            </a:r>
          </a:p>
        </p:txBody>
      </p:sp>
      <p:graphicFrame>
        <p:nvGraphicFramePr>
          <p:cNvPr id="11" name="Chart 10"/>
          <p:cNvGraphicFramePr>
            <a:graphicFrameLocks noGrp="1"/>
          </p:cNvGraphicFramePr>
          <p:nvPr/>
        </p:nvGraphicFramePr>
        <p:xfrm>
          <a:off x="777240" y="1874519"/>
          <a:ext cx="6629400" cy="3566160"/>
        </p:xfrm>
        <a:graphic>
          <a:graphicData uri="http://schemas.openxmlformats.org/drawingml/2006/chart">
            <c:chart xmlns:c="http://schemas.openxmlformats.org/drawingml/2006/chart" r:id="rId3"/>
          </a:graphicData>
        </a:graphic>
      </p:graphicFrame>
      <p:sp>
        <p:nvSpPr>
          <p:cNvPr id="12" name="TextBox 11"/>
          <p:cNvSpPr txBox="1"/>
          <p:nvPr/>
        </p:nvSpPr>
        <p:spPr>
          <a:xfrm>
            <a:off x="960120" y="1691640"/>
            <a:ext cx="6217920" cy="320040"/>
          </a:xfrm>
          <a:prstGeom prst="rect">
            <a:avLst/>
          </a:prstGeom>
          <a:noFill/>
        </p:spPr>
        <p:txBody>
          <a:bodyPr wrap="square" lIns="0" rIns="0" tIns="0" bIns="0">
            <a:spAutoFit/>
          </a:bodyPr>
          <a:lstStyle/>
          <a:p>
            <a:pPr>
              <a:spcAft>
                <a:spcPts val="700"/>
              </a:spcAft>
              <a:defRPr sz="1600" b="0">
                <a:solidFill>
                  <a:srgbClr val="66717D"/>
                </a:solidFill>
                <a:latin typeface="Arial"/>
              </a:defRPr>
            </a:pPr>
            <a:r>
              <a:t>Take-home pay from each additional £1 earned</a:t>
            </a:r>
          </a:p>
        </p:txBody>
      </p:sp>
      <p:sp>
        <p:nvSpPr>
          <p:cNvPr id="13" name="Rectangle 12"/>
          <p:cNvSpPr/>
          <p:nvPr/>
        </p:nvSpPr>
        <p:spPr>
          <a:xfrm>
            <a:off x="7909560" y="1938528"/>
            <a:ext cx="3611880" cy="3493008"/>
          </a:xfrm>
          <a:prstGeom prst="rect">
            <a:avLst/>
          </a:prstGeom>
          <a:solidFill>
            <a:srgbClr val="F9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240280"/>
            <a:ext cx="2926080" cy="822960"/>
          </a:xfrm>
          <a:prstGeom prst="rect">
            <a:avLst/>
          </a:prstGeom>
          <a:noFill/>
        </p:spPr>
        <p:txBody>
          <a:bodyPr wrap="square" lIns="0" rIns="0" tIns="0" bIns="0">
            <a:spAutoFit/>
          </a:bodyPr>
          <a:lstStyle/>
          <a:p>
            <a:pPr>
              <a:spcAft>
                <a:spcPts val="700"/>
              </a:spcAft>
              <a:defRPr sz="4800" b="1">
                <a:solidFill>
                  <a:srgbClr val="BA1B4D"/>
                </a:solidFill>
                <a:latin typeface="Arial"/>
              </a:defRPr>
            </a:pPr>
            <a:r>
              <a:t>+5.9%</a:t>
            </a:r>
          </a:p>
        </p:txBody>
      </p:sp>
      <p:sp>
        <p:nvSpPr>
          <p:cNvPr id="15" name="TextBox 14"/>
          <p:cNvSpPr txBox="1"/>
          <p:nvPr/>
        </p:nvSpPr>
        <p:spPr>
          <a:xfrm>
            <a:off x="8229600" y="3246120"/>
            <a:ext cx="2880360" cy="1005840"/>
          </a:xfrm>
          <a:prstGeom prst="rect">
            <a:avLst/>
          </a:prstGeom>
          <a:noFill/>
        </p:spPr>
        <p:txBody>
          <a:bodyPr wrap="square" lIns="0" rIns="0" tIns="0" bIns="0">
            <a:spAutoFit/>
          </a:bodyPr>
          <a:lstStyle/>
          <a:p>
            <a:pPr>
              <a:spcAft>
                <a:spcPts val="700"/>
              </a:spcAft>
              <a:defRPr sz="2100" b="1">
                <a:solidFill>
                  <a:srgbClr val="253345"/>
                </a:solidFill>
                <a:latin typeface="Arial"/>
              </a:defRPr>
            </a:pPr>
            <a:r>
              <a:t>Higher marginal</a:t>
            </a:r>
          </a:p>
          <a:p>
            <a:pPr>
              <a:spcAft>
                <a:spcPts val="700"/>
              </a:spcAft>
              <a:defRPr sz="2100" b="1">
                <a:solidFill>
                  <a:srgbClr val="253345"/>
                </a:solidFill>
                <a:latin typeface="Arial"/>
              </a:defRPr>
            </a:pPr>
            <a:r>
              <a:t>take-home pay</a:t>
            </a:r>
          </a:p>
        </p:txBody>
      </p:sp>
      <p:sp>
        <p:nvSpPr>
          <p:cNvPr id="16" name="TextBox 15"/>
          <p:cNvSpPr txBox="1"/>
          <p:nvPr/>
        </p:nvSpPr>
        <p:spPr>
          <a:xfrm>
            <a:off x="8229600" y="4572000"/>
            <a:ext cx="2926080" cy="594360"/>
          </a:xfrm>
          <a:prstGeom prst="rect">
            <a:avLst/>
          </a:prstGeom>
          <a:noFill/>
        </p:spPr>
        <p:txBody>
          <a:bodyPr wrap="square" lIns="0" rIns="0" tIns="0" bIns="0">
            <a:spAutoFit/>
          </a:bodyPr>
          <a:lstStyle/>
          <a:p>
            <a:pPr>
              <a:spcAft>
                <a:spcPts val="700"/>
              </a:spcAft>
              <a:defRPr sz="1800" b="0">
                <a:solidFill>
                  <a:srgbClr val="66717D"/>
                </a:solidFill>
                <a:latin typeface="Arial"/>
              </a:defRPr>
            </a:pPr>
            <a:r>
              <a:t>(72 − 68) ÷ 68 × 100</a:t>
            </a:r>
          </a:p>
        </p:txBody>
      </p:sp>
      <p:sp>
        <p:nvSpPr>
          <p:cNvPr id="17" name="TextBox 16"/>
          <p:cNvSpPr txBox="1"/>
          <p:nvPr/>
        </p:nvSpPr>
        <p:spPr>
          <a:xfrm>
            <a:off x="896112" y="5577840"/>
            <a:ext cx="9875520" cy="365760"/>
          </a:xfrm>
          <a:prstGeom prst="rect">
            <a:avLst/>
          </a:prstGeom>
          <a:noFill/>
        </p:spPr>
        <p:txBody>
          <a:bodyPr wrap="square" lIns="0" rIns="0" tIns="0" bIns="0">
            <a:spAutoFit/>
          </a:bodyPr>
          <a:lstStyle/>
          <a:p>
            <a:pPr>
              <a:spcAft>
                <a:spcPts val="700"/>
              </a:spcAft>
              <a:defRPr sz="2300" b="1">
                <a:solidFill>
                  <a:srgbClr val="BA1B4D"/>
                </a:solidFill>
                <a:latin typeface="Arial"/>
              </a:defRPr>
            </a:pPr>
            <a:r>
              <a:t>NICs main rate: 12% → 10%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667512"/>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mplate_logo.png"/>
          <p:cNvPicPr>
            <a:picLocks noChangeAspect="1"/>
          </p:cNvPicPr>
          <p:nvPr/>
        </p:nvPicPr>
        <p:blipFill>
          <a:blip r:embed="rId2"/>
          <a:stretch>
            <a:fillRect/>
          </a:stretch>
        </p:blipFill>
        <p:spPr>
          <a:xfrm>
            <a:off x="658368" y="91440"/>
            <a:ext cx="795528" cy="448056"/>
          </a:xfrm>
          <a:prstGeom prst="rect">
            <a:avLst/>
          </a:prstGeom>
        </p:spPr>
      </p:pic>
      <p:sp>
        <p:nvSpPr>
          <p:cNvPr id="4" name="TextBox 3"/>
          <p:cNvSpPr txBox="1"/>
          <p:nvPr/>
        </p:nvSpPr>
        <p:spPr>
          <a:xfrm>
            <a:off x="1828800" y="155448"/>
            <a:ext cx="4572000" cy="320040"/>
          </a:xfrm>
          <a:prstGeom prst="rect">
            <a:avLst/>
          </a:prstGeom>
          <a:noFill/>
        </p:spPr>
        <p:txBody>
          <a:bodyPr wrap="square" lIns="0" rIns="0" tIns="0" bIns="0">
            <a:spAutoFit/>
          </a:bodyPr>
          <a:lstStyle/>
          <a:p>
            <a:pPr>
              <a:spcAft>
                <a:spcPts val="700"/>
              </a:spcAft>
              <a:defRPr sz="1500" b="1">
                <a:solidFill>
                  <a:srgbClr val="FFFFFF"/>
                </a:solidFill>
                <a:latin typeface="Arial"/>
              </a:defRPr>
            </a:pPr>
            <a:r>
              <a:t>ECONOMIC EFFICIENCY  |  MEMBER C</a:t>
            </a:r>
          </a:p>
        </p:txBody>
      </p:sp>
      <p:sp>
        <p:nvSpPr>
          <p:cNvPr id="5" name="TextBox 4"/>
          <p:cNvSpPr txBox="1"/>
          <p:nvPr/>
        </p:nvSpPr>
        <p:spPr>
          <a:xfrm>
            <a:off x="8229600" y="155448"/>
            <a:ext cx="3291840" cy="320040"/>
          </a:xfrm>
          <a:prstGeom prst="rect">
            <a:avLst/>
          </a:prstGeom>
          <a:noFill/>
        </p:spPr>
        <p:txBody>
          <a:bodyPr wrap="square" lIns="0" rIns="0" tIns="0" bIns="0">
            <a:spAutoFit/>
          </a:bodyPr>
          <a:lstStyle/>
          <a:p>
            <a:pPr>
              <a:spcAft>
                <a:spcPts val="700"/>
              </a:spcAft>
              <a:defRPr sz="1400" b="0">
                <a:solidFill>
                  <a:srgbClr val="FFFFFF"/>
                </a:solidFill>
                <a:latin typeface="Arial"/>
              </a:defRPr>
            </a:pPr>
            <a:r>
              <a:t>02  LABOUR SUPPLY</a:t>
            </a:r>
          </a:p>
        </p:txBody>
      </p:sp>
      <p:sp>
        <p:nvSpPr>
          <p:cNvPr id="6" name="TextBox 5"/>
          <p:cNvSpPr txBox="1"/>
          <p:nvPr/>
        </p:nvSpPr>
        <p:spPr>
          <a:xfrm>
            <a:off x="594360" y="932688"/>
            <a:ext cx="10972800" cy="502920"/>
          </a:xfrm>
          <a:prstGeom prst="rect">
            <a:avLst/>
          </a:prstGeom>
          <a:noFill/>
        </p:spPr>
        <p:txBody>
          <a:bodyPr wrap="square" lIns="0" rIns="0" tIns="0" bIns="0">
            <a:spAutoFit/>
          </a:bodyPr>
          <a:lstStyle/>
          <a:p>
            <a:pPr>
              <a:spcAft>
                <a:spcPts val="700"/>
              </a:spcAft>
              <a:defRPr sz="2800" b="1">
                <a:solidFill>
                  <a:srgbClr val="BA1B4D"/>
                </a:solidFill>
                <a:latin typeface="Arial"/>
              </a:defRPr>
            </a:pPr>
            <a:r>
              <a:t>Two effects shape the labour-supply response</a:t>
            </a:r>
          </a:p>
        </p:txBody>
      </p:sp>
      <p:sp>
        <p:nvSpPr>
          <p:cNvPr id="7" name="Rectangle 6"/>
          <p:cNvSpPr/>
          <p:nvPr/>
        </p:nvSpPr>
        <p:spPr>
          <a:xfrm>
            <a:off x="621792" y="1463040"/>
            <a:ext cx="10972800" cy="10972"/>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263640"/>
            <a:ext cx="10424160" cy="438912"/>
          </a:xfrm>
          <a:prstGeom prst="rect">
            <a:avLst/>
          </a:prstGeom>
          <a:noFill/>
        </p:spPr>
        <p:txBody>
          <a:bodyPr wrap="square" lIns="0" rIns="0" tIns="0" bIns="0">
            <a:spAutoFit/>
          </a:bodyPr>
          <a:lstStyle/>
          <a:p>
            <a:pPr>
              <a:spcAft>
                <a:spcPts val="700"/>
              </a:spcAft>
              <a:defRPr sz="1000" b="0">
                <a:solidFill>
                  <a:srgbClr val="66717D"/>
                </a:solidFill>
                <a:latin typeface="Arial"/>
              </a:defRPr>
            </a:pPr>
            <a:r>
              <a:t>Source: Meghir and Phillips (2010). Author’s theoretical illustration.</a:t>
            </a:r>
          </a:p>
        </p:txBody>
      </p:sp>
      <p:sp>
        <p:nvSpPr>
          <p:cNvPr id="9" name="Rectangle 8"/>
          <p:cNvSpPr/>
          <p:nvPr/>
        </p:nvSpPr>
        <p:spPr>
          <a:xfrm>
            <a:off x="11567160" y="6309360"/>
            <a:ext cx="329184" cy="329184"/>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0" y="6318504"/>
            <a:ext cx="228600" cy="256032"/>
          </a:xfrm>
          <a:prstGeom prst="rect">
            <a:avLst/>
          </a:prstGeom>
          <a:noFill/>
        </p:spPr>
        <p:txBody>
          <a:bodyPr wrap="square" lIns="0" rIns="0" tIns="0" bIns="0">
            <a:spAutoFit/>
          </a:bodyPr>
          <a:lstStyle/>
          <a:p>
            <a:pPr>
              <a:spcAft>
                <a:spcPts val="700"/>
              </a:spcAft>
              <a:defRPr sz="1200" b="1">
                <a:solidFill>
                  <a:srgbClr val="FFFFFF"/>
                </a:solidFill>
                <a:latin typeface="Arial"/>
              </a:defRPr>
            </a:pPr>
            <a:r>
              <a:t>2</a:t>
            </a:r>
          </a:p>
        </p:txBody>
      </p:sp>
      <p:pic>
        <p:nvPicPr>
          <p:cNvPr id="11" name="Picture 10" descr="figure2_theory_revised.png"/>
          <p:cNvPicPr>
            <a:picLocks noChangeAspect="1"/>
          </p:cNvPicPr>
          <p:nvPr/>
        </p:nvPicPr>
        <p:blipFill>
          <a:blip r:embed="rId3"/>
          <a:stretch>
            <a:fillRect/>
          </a:stretch>
        </p:blipFill>
        <p:spPr>
          <a:xfrm>
            <a:off x="685800" y="1938528"/>
            <a:ext cx="6995160" cy="3175041"/>
          </a:xfrm>
          <a:prstGeom prst="rect">
            <a:avLst/>
          </a:prstGeom>
        </p:spPr>
      </p:pic>
      <p:sp>
        <p:nvSpPr>
          <p:cNvPr id="12" name="Rectangle 11"/>
          <p:cNvSpPr/>
          <p:nvPr/>
        </p:nvSpPr>
        <p:spPr>
          <a:xfrm>
            <a:off x="7973568" y="1847088"/>
            <a:ext cx="3566160" cy="1417320"/>
          </a:xfrm>
          <a:prstGeom prst="rect">
            <a:avLst/>
          </a:prstGeom>
          <a:solidFill>
            <a:srgbClr val="F9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011680"/>
            <a:ext cx="3017520" cy="320040"/>
          </a:xfrm>
          <a:prstGeom prst="rect">
            <a:avLst/>
          </a:prstGeom>
          <a:noFill/>
        </p:spPr>
        <p:txBody>
          <a:bodyPr wrap="square" lIns="0" rIns="0" tIns="0" bIns="0">
            <a:spAutoFit/>
          </a:bodyPr>
          <a:lstStyle/>
          <a:p>
            <a:pPr>
              <a:spcAft>
                <a:spcPts val="700"/>
              </a:spcAft>
              <a:defRPr sz="1700" b="1">
                <a:solidFill>
                  <a:srgbClr val="BA1B4D"/>
                </a:solidFill>
                <a:latin typeface="Arial"/>
              </a:defRPr>
            </a:pPr>
            <a:r>
              <a:t>SUBSTITUTION EFFECT</a:t>
            </a:r>
          </a:p>
        </p:txBody>
      </p:sp>
      <p:sp>
        <p:nvSpPr>
          <p:cNvPr id="14" name="TextBox 13"/>
          <p:cNvSpPr txBox="1"/>
          <p:nvPr/>
        </p:nvSpPr>
        <p:spPr>
          <a:xfrm>
            <a:off x="8229600" y="2487168"/>
            <a:ext cx="2926080" cy="731520"/>
          </a:xfrm>
          <a:prstGeom prst="rect">
            <a:avLst/>
          </a:prstGeom>
          <a:noFill/>
        </p:spPr>
        <p:txBody>
          <a:bodyPr wrap="square" lIns="0" rIns="0" tIns="0" bIns="0">
            <a:spAutoFit/>
          </a:bodyPr>
          <a:lstStyle/>
          <a:p>
            <a:pPr>
              <a:spcAft>
                <a:spcPts val="700"/>
              </a:spcAft>
              <a:defRPr sz="2000" b="1">
                <a:solidFill>
                  <a:srgbClr val="253345"/>
                </a:solidFill>
                <a:latin typeface="Arial"/>
              </a:defRPr>
            </a:pPr>
            <a:r>
              <a:t>Higher net wage</a:t>
            </a:r>
          </a:p>
          <a:p>
            <a:pPr>
              <a:spcAft>
                <a:spcPts val="700"/>
              </a:spcAft>
              <a:defRPr sz="2000" b="1">
                <a:solidFill>
                  <a:srgbClr val="253345"/>
                </a:solidFill>
                <a:latin typeface="Arial"/>
              </a:defRPr>
            </a:pPr>
            <a:r>
              <a:t>→ more work</a:t>
            </a:r>
          </a:p>
        </p:txBody>
      </p:sp>
      <p:sp>
        <p:nvSpPr>
          <p:cNvPr id="15" name="Rectangle 14"/>
          <p:cNvSpPr/>
          <p:nvPr/>
        </p:nvSpPr>
        <p:spPr>
          <a:xfrm>
            <a:off x="7973568" y="3493008"/>
            <a:ext cx="3566160" cy="1417320"/>
          </a:xfrm>
          <a:prstGeom prst="rect">
            <a:avLst/>
          </a:prstGeom>
          <a:solidFill>
            <a:srgbClr val="FF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3657600"/>
            <a:ext cx="3017520" cy="320040"/>
          </a:xfrm>
          <a:prstGeom prst="rect">
            <a:avLst/>
          </a:prstGeom>
          <a:noFill/>
        </p:spPr>
        <p:txBody>
          <a:bodyPr wrap="square" lIns="0" rIns="0" tIns="0" bIns="0">
            <a:spAutoFit/>
          </a:bodyPr>
          <a:lstStyle/>
          <a:p>
            <a:pPr>
              <a:spcAft>
                <a:spcPts val="700"/>
              </a:spcAft>
              <a:defRPr sz="1700" b="1">
                <a:solidFill>
                  <a:srgbClr val="E06E33"/>
                </a:solidFill>
                <a:latin typeface="Arial"/>
              </a:defRPr>
            </a:pPr>
            <a:r>
              <a:t>INCOME EFFECT</a:t>
            </a:r>
          </a:p>
        </p:txBody>
      </p:sp>
      <p:sp>
        <p:nvSpPr>
          <p:cNvPr id="17" name="TextBox 16"/>
          <p:cNvSpPr txBox="1"/>
          <p:nvPr/>
        </p:nvSpPr>
        <p:spPr>
          <a:xfrm>
            <a:off x="8229600" y="4133087"/>
            <a:ext cx="2926080" cy="731520"/>
          </a:xfrm>
          <a:prstGeom prst="rect">
            <a:avLst/>
          </a:prstGeom>
          <a:noFill/>
        </p:spPr>
        <p:txBody>
          <a:bodyPr wrap="square" lIns="0" rIns="0" tIns="0" bIns="0">
            <a:spAutoFit/>
          </a:bodyPr>
          <a:lstStyle/>
          <a:p>
            <a:pPr>
              <a:spcAft>
                <a:spcPts val="700"/>
              </a:spcAft>
              <a:defRPr sz="2000" b="1">
                <a:solidFill>
                  <a:srgbClr val="253345"/>
                </a:solidFill>
                <a:latin typeface="Arial"/>
              </a:defRPr>
            </a:pPr>
            <a:r>
              <a:t>Higher income</a:t>
            </a:r>
          </a:p>
          <a:p>
            <a:pPr>
              <a:spcAft>
                <a:spcPts val="700"/>
              </a:spcAft>
              <a:defRPr sz="2000" b="1">
                <a:solidFill>
                  <a:srgbClr val="253345"/>
                </a:solidFill>
                <a:latin typeface="Arial"/>
              </a:defRPr>
            </a:pPr>
            <a:r>
              <a:t>→ more leisure</a:t>
            </a:r>
          </a:p>
        </p:txBody>
      </p:sp>
      <p:sp>
        <p:nvSpPr>
          <p:cNvPr id="18" name="TextBox 17"/>
          <p:cNvSpPr txBox="1"/>
          <p:nvPr/>
        </p:nvSpPr>
        <p:spPr>
          <a:xfrm>
            <a:off x="914400" y="5623560"/>
            <a:ext cx="10698480" cy="365760"/>
          </a:xfrm>
          <a:prstGeom prst="rect">
            <a:avLst/>
          </a:prstGeom>
          <a:noFill/>
        </p:spPr>
        <p:txBody>
          <a:bodyPr wrap="square" lIns="0" rIns="0" tIns="0" bIns="0">
            <a:spAutoFit/>
          </a:bodyPr>
          <a:lstStyle/>
          <a:p>
            <a:pPr>
              <a:spcAft>
                <a:spcPts val="700"/>
              </a:spcAft>
              <a:defRPr sz="2200" b="1">
                <a:solidFill>
                  <a:srgbClr val="BA1B4D"/>
                </a:solidFill>
                <a:latin typeface="Arial"/>
              </a:defRPr>
            </a:pPr>
            <a:r>
              <a:t>Two margins: entering employment  |  adjusting working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667512"/>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mplate_logo.png"/>
          <p:cNvPicPr>
            <a:picLocks noChangeAspect="1"/>
          </p:cNvPicPr>
          <p:nvPr/>
        </p:nvPicPr>
        <p:blipFill>
          <a:blip r:embed="rId2"/>
          <a:stretch>
            <a:fillRect/>
          </a:stretch>
        </p:blipFill>
        <p:spPr>
          <a:xfrm>
            <a:off x="658368" y="91440"/>
            <a:ext cx="795528" cy="448056"/>
          </a:xfrm>
          <a:prstGeom prst="rect">
            <a:avLst/>
          </a:prstGeom>
        </p:spPr>
      </p:pic>
      <p:sp>
        <p:nvSpPr>
          <p:cNvPr id="4" name="TextBox 3"/>
          <p:cNvSpPr txBox="1"/>
          <p:nvPr/>
        </p:nvSpPr>
        <p:spPr>
          <a:xfrm>
            <a:off x="1828800" y="155448"/>
            <a:ext cx="4572000" cy="320040"/>
          </a:xfrm>
          <a:prstGeom prst="rect">
            <a:avLst/>
          </a:prstGeom>
          <a:noFill/>
        </p:spPr>
        <p:txBody>
          <a:bodyPr wrap="square" lIns="0" rIns="0" tIns="0" bIns="0">
            <a:spAutoFit/>
          </a:bodyPr>
          <a:lstStyle/>
          <a:p>
            <a:pPr>
              <a:spcAft>
                <a:spcPts val="700"/>
              </a:spcAft>
              <a:defRPr sz="1500" b="1">
                <a:solidFill>
                  <a:srgbClr val="FFFFFF"/>
                </a:solidFill>
                <a:latin typeface="Arial"/>
              </a:defRPr>
            </a:pPr>
            <a:r>
              <a:t>ECONOMIC EFFICIENCY  |  MEMBER C</a:t>
            </a:r>
          </a:p>
        </p:txBody>
      </p:sp>
      <p:sp>
        <p:nvSpPr>
          <p:cNvPr id="5" name="TextBox 4"/>
          <p:cNvSpPr txBox="1"/>
          <p:nvPr/>
        </p:nvSpPr>
        <p:spPr>
          <a:xfrm>
            <a:off x="8229600" y="155448"/>
            <a:ext cx="3291840" cy="320040"/>
          </a:xfrm>
          <a:prstGeom prst="rect">
            <a:avLst/>
          </a:prstGeom>
          <a:noFill/>
        </p:spPr>
        <p:txBody>
          <a:bodyPr wrap="square" lIns="0" rIns="0" tIns="0" bIns="0">
            <a:spAutoFit/>
          </a:bodyPr>
          <a:lstStyle/>
          <a:p>
            <a:pPr>
              <a:spcAft>
                <a:spcPts val="700"/>
              </a:spcAft>
              <a:defRPr sz="1400" b="0">
                <a:solidFill>
                  <a:srgbClr val="FFFFFF"/>
                </a:solidFill>
                <a:latin typeface="Arial"/>
              </a:defRPr>
            </a:pPr>
            <a:r>
              <a:t>03  REVENUE &amp; EFFICIENCY</a:t>
            </a:r>
          </a:p>
        </p:txBody>
      </p:sp>
      <p:sp>
        <p:nvSpPr>
          <p:cNvPr id="6" name="TextBox 5"/>
          <p:cNvSpPr txBox="1"/>
          <p:nvPr/>
        </p:nvSpPr>
        <p:spPr>
          <a:xfrm>
            <a:off x="594360" y="932688"/>
            <a:ext cx="10972800" cy="502920"/>
          </a:xfrm>
          <a:prstGeom prst="rect">
            <a:avLst/>
          </a:prstGeom>
          <a:noFill/>
        </p:spPr>
        <p:txBody>
          <a:bodyPr wrap="square" lIns="0" rIns="0" tIns="0" bIns="0">
            <a:spAutoFit/>
          </a:bodyPr>
          <a:lstStyle/>
          <a:p>
            <a:pPr>
              <a:spcAft>
                <a:spcPts val="700"/>
              </a:spcAft>
              <a:defRPr sz="2800" b="1">
                <a:solidFill>
                  <a:srgbClr val="BA1B4D"/>
                </a:solidFill>
                <a:latin typeface="Arial"/>
              </a:defRPr>
            </a:pPr>
            <a:r>
              <a:t>Behavioural gains can partly recover the fiscal cost</a:t>
            </a:r>
          </a:p>
        </p:txBody>
      </p:sp>
      <p:sp>
        <p:nvSpPr>
          <p:cNvPr id="7" name="Rectangle 6"/>
          <p:cNvSpPr/>
          <p:nvPr/>
        </p:nvSpPr>
        <p:spPr>
          <a:xfrm>
            <a:off x="621792" y="1463040"/>
            <a:ext cx="10972800" cy="10972"/>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263640"/>
            <a:ext cx="10424160" cy="438912"/>
          </a:xfrm>
          <a:prstGeom prst="rect">
            <a:avLst/>
          </a:prstGeom>
          <a:noFill/>
        </p:spPr>
        <p:txBody>
          <a:bodyPr wrap="square" lIns="0" rIns="0" tIns="0" bIns="0">
            <a:spAutoFit/>
          </a:bodyPr>
          <a:lstStyle/>
          <a:p>
            <a:pPr>
              <a:spcAft>
                <a:spcPts val="700"/>
              </a:spcAft>
              <a:defRPr sz="1000" b="0">
                <a:solidFill>
                  <a:srgbClr val="66717D"/>
                </a:solidFill>
                <a:latin typeface="Arial"/>
              </a:defRPr>
            </a:pPr>
            <a:r>
              <a:t>Sources: Hemming and Kay (1980); OBR (2024), paras. 3.9–3.10. March 2024 measures; projected effects.</a:t>
            </a:r>
          </a:p>
        </p:txBody>
      </p:sp>
      <p:sp>
        <p:nvSpPr>
          <p:cNvPr id="9" name="Rectangle 8"/>
          <p:cNvSpPr/>
          <p:nvPr/>
        </p:nvSpPr>
        <p:spPr>
          <a:xfrm>
            <a:off x="11567160" y="6309360"/>
            <a:ext cx="329184" cy="329184"/>
          </a:xfrm>
          <a:prstGeom prst="rect">
            <a:avLst/>
          </a:prstGeom>
          <a:solidFill>
            <a:srgbClr val="BA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0" y="6318504"/>
            <a:ext cx="228600" cy="256032"/>
          </a:xfrm>
          <a:prstGeom prst="rect">
            <a:avLst/>
          </a:prstGeom>
          <a:noFill/>
        </p:spPr>
        <p:txBody>
          <a:bodyPr wrap="square" lIns="0" rIns="0" tIns="0" bIns="0">
            <a:spAutoFit/>
          </a:bodyPr>
          <a:lstStyle/>
          <a:p>
            <a:pPr>
              <a:spcAft>
                <a:spcPts val="700"/>
              </a:spcAft>
              <a:defRPr sz="1200" b="1">
                <a:solidFill>
                  <a:srgbClr val="FFFFFF"/>
                </a:solidFill>
                <a:latin typeface="Arial"/>
              </a:defRPr>
            </a:pPr>
            <a:r>
              <a:t>3</a:t>
            </a:r>
          </a:p>
        </p:txBody>
      </p:sp>
      <p:pic>
        <p:nvPicPr>
          <p:cNvPr id="11" name="Picture 10" descr="Figure3_Laffer_Curve_Revised.png"/>
          <p:cNvPicPr>
            <a:picLocks noChangeAspect="1"/>
          </p:cNvPicPr>
          <p:nvPr/>
        </p:nvPicPr>
        <p:blipFill>
          <a:blip r:embed="rId3"/>
          <a:stretch>
            <a:fillRect/>
          </a:stretch>
        </p:blipFill>
        <p:spPr>
          <a:xfrm>
            <a:off x="731520" y="1938528"/>
            <a:ext cx="6675120" cy="2550150"/>
          </a:xfrm>
          <a:prstGeom prst="rect">
            <a:avLst/>
          </a:prstGeom>
        </p:spPr>
      </p:pic>
      <p:sp>
        <p:nvSpPr>
          <p:cNvPr id="12" name="Rectangle 11"/>
          <p:cNvSpPr/>
          <p:nvPr/>
        </p:nvSpPr>
        <p:spPr>
          <a:xfrm>
            <a:off x="7909560" y="1801368"/>
            <a:ext cx="3611880" cy="3474720"/>
          </a:xfrm>
          <a:prstGeom prst="rect">
            <a:avLst/>
          </a:prstGeom>
          <a:solidFill>
            <a:srgbClr val="F9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1965960"/>
            <a:ext cx="3017520" cy="320040"/>
          </a:xfrm>
          <a:prstGeom prst="rect">
            <a:avLst/>
          </a:prstGeom>
          <a:noFill/>
        </p:spPr>
        <p:txBody>
          <a:bodyPr wrap="square" lIns="0" rIns="0" tIns="0" bIns="0">
            <a:spAutoFit/>
          </a:bodyPr>
          <a:lstStyle/>
          <a:p>
            <a:pPr>
              <a:spcAft>
                <a:spcPts val="700"/>
              </a:spcAft>
              <a:defRPr sz="1600" b="1">
                <a:solidFill>
                  <a:srgbClr val="BA1B4D"/>
                </a:solidFill>
                <a:latin typeface="Arial"/>
              </a:defRPr>
            </a:pPr>
            <a:r>
              <a:t>OBR FORECAST</a:t>
            </a:r>
          </a:p>
        </p:txBody>
      </p:sp>
      <p:sp>
        <p:nvSpPr>
          <p:cNvPr id="14" name="TextBox 13"/>
          <p:cNvSpPr txBox="1"/>
          <p:nvPr/>
        </p:nvSpPr>
        <p:spPr>
          <a:xfrm>
            <a:off x="8183879" y="2487168"/>
            <a:ext cx="3017520" cy="640080"/>
          </a:xfrm>
          <a:prstGeom prst="rect">
            <a:avLst/>
          </a:prstGeom>
          <a:noFill/>
        </p:spPr>
        <p:txBody>
          <a:bodyPr wrap="square" lIns="0" rIns="0" tIns="0" bIns="0">
            <a:spAutoFit/>
          </a:bodyPr>
          <a:lstStyle/>
          <a:p>
            <a:pPr>
              <a:spcAft>
                <a:spcPts val="700"/>
              </a:spcAft>
              <a:defRPr sz="3100" b="1">
                <a:solidFill>
                  <a:srgbClr val="BA1B4D"/>
                </a:solidFill>
                <a:latin typeface="Arial"/>
              </a:defRPr>
            </a:pPr>
            <a:r>
              <a:t>98,000 FTEs</a:t>
            </a:r>
          </a:p>
        </p:txBody>
      </p:sp>
      <p:sp>
        <p:nvSpPr>
          <p:cNvPr id="15" name="TextBox 14"/>
          <p:cNvSpPr txBox="1"/>
          <p:nvPr/>
        </p:nvSpPr>
        <p:spPr>
          <a:xfrm>
            <a:off x="8183879" y="3108960"/>
            <a:ext cx="3017520" cy="457200"/>
          </a:xfrm>
          <a:prstGeom prst="rect">
            <a:avLst/>
          </a:prstGeom>
          <a:noFill/>
        </p:spPr>
        <p:txBody>
          <a:bodyPr wrap="square" lIns="0" rIns="0" tIns="0" bIns="0">
            <a:spAutoFit/>
          </a:bodyPr>
          <a:lstStyle/>
          <a:p>
            <a:pPr>
              <a:spcAft>
                <a:spcPts val="700"/>
              </a:spcAft>
              <a:defRPr sz="1800" b="0">
                <a:solidFill>
                  <a:srgbClr val="253345"/>
                </a:solidFill>
                <a:latin typeface="Arial"/>
              </a:defRPr>
            </a:pPr>
            <a:r>
              <a:t>Additional labour supply</a:t>
            </a:r>
          </a:p>
        </p:txBody>
      </p:sp>
      <p:sp>
        <p:nvSpPr>
          <p:cNvPr id="16" name="TextBox 15"/>
          <p:cNvSpPr txBox="1"/>
          <p:nvPr/>
        </p:nvSpPr>
        <p:spPr>
          <a:xfrm>
            <a:off x="8183879" y="3803904"/>
            <a:ext cx="2926080" cy="640080"/>
          </a:xfrm>
          <a:prstGeom prst="rect">
            <a:avLst/>
          </a:prstGeom>
          <a:noFill/>
        </p:spPr>
        <p:txBody>
          <a:bodyPr wrap="square" lIns="0" rIns="0" tIns="0" bIns="0">
            <a:spAutoFit/>
          </a:bodyPr>
          <a:lstStyle/>
          <a:p>
            <a:pPr>
              <a:spcAft>
                <a:spcPts val="700"/>
              </a:spcAft>
              <a:defRPr sz="3600" b="1">
                <a:solidFill>
                  <a:srgbClr val="E06E33"/>
                </a:solidFill>
                <a:latin typeface="Arial"/>
              </a:defRPr>
            </a:pPr>
            <a:r>
              <a:t>≈20%</a:t>
            </a:r>
          </a:p>
        </p:txBody>
      </p:sp>
      <p:sp>
        <p:nvSpPr>
          <p:cNvPr id="17" name="TextBox 16"/>
          <p:cNvSpPr txBox="1"/>
          <p:nvPr/>
        </p:nvSpPr>
        <p:spPr>
          <a:xfrm>
            <a:off x="8183879" y="4498848"/>
            <a:ext cx="2926080" cy="594360"/>
          </a:xfrm>
          <a:prstGeom prst="rect">
            <a:avLst/>
          </a:prstGeom>
          <a:noFill/>
        </p:spPr>
        <p:txBody>
          <a:bodyPr wrap="square" lIns="0" rIns="0" tIns="0" bIns="0">
            <a:spAutoFit/>
          </a:bodyPr>
          <a:lstStyle/>
          <a:p>
            <a:pPr>
              <a:spcAft>
                <a:spcPts val="700"/>
              </a:spcAft>
              <a:defRPr sz="1800" b="0">
                <a:solidFill>
                  <a:srgbClr val="253345"/>
                </a:solidFill>
                <a:latin typeface="Arial"/>
              </a:defRPr>
            </a:pPr>
            <a:r>
              <a:t>of static fiscal cost recovered</a:t>
            </a:r>
          </a:p>
        </p:txBody>
      </p:sp>
      <p:sp>
        <p:nvSpPr>
          <p:cNvPr id="18" name="TextBox 17"/>
          <p:cNvSpPr txBox="1"/>
          <p:nvPr/>
        </p:nvSpPr>
        <p:spPr>
          <a:xfrm>
            <a:off x="868680" y="5056632"/>
            <a:ext cx="6400800" cy="411480"/>
          </a:xfrm>
          <a:prstGeom prst="rect">
            <a:avLst/>
          </a:prstGeom>
          <a:noFill/>
        </p:spPr>
        <p:txBody>
          <a:bodyPr wrap="square" lIns="0" rIns="0" tIns="0" bIns="0">
            <a:spAutoFit/>
          </a:bodyPr>
          <a:lstStyle/>
          <a:p>
            <a:pPr>
              <a:spcAft>
                <a:spcPts val="700"/>
              </a:spcAft>
              <a:defRPr sz="2100" b="0">
                <a:solidFill>
                  <a:srgbClr val="66717D"/>
                </a:solidFill>
                <a:latin typeface="Arial"/>
              </a:defRPr>
            </a:pPr>
            <a:r>
              <a:t>Revenue = tax rate × taxable base</a:t>
            </a:r>
          </a:p>
        </p:txBody>
      </p:sp>
      <p:sp>
        <p:nvSpPr>
          <p:cNvPr id="19" name="TextBox 18"/>
          <p:cNvSpPr txBox="1"/>
          <p:nvPr/>
        </p:nvSpPr>
        <p:spPr>
          <a:xfrm>
            <a:off x="868680" y="5650992"/>
            <a:ext cx="10515600" cy="365760"/>
          </a:xfrm>
          <a:prstGeom prst="rect">
            <a:avLst/>
          </a:prstGeom>
          <a:noFill/>
        </p:spPr>
        <p:txBody>
          <a:bodyPr wrap="square" lIns="0" rIns="0" tIns="0" bIns="0">
            <a:spAutoFit/>
          </a:bodyPr>
          <a:lstStyle/>
          <a:p>
            <a:pPr>
              <a:spcAft>
                <a:spcPts val="700"/>
              </a:spcAft>
              <a:defRPr sz="2500" b="1">
                <a:solidFill>
                  <a:srgbClr val="BA1B4D"/>
                </a:solidFill>
                <a:latin typeface="Arial"/>
              </a:defRPr>
            </a:pPr>
            <a:r>
              <a:t>Stronger work incentives + sustainable financing</a:t>
            </a: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自定义 2853">
      <a:dk1>
        <a:srgbClr val="000000"/>
      </a:dk1>
      <a:lt1>
        <a:srgbClr val="FFFFFF"/>
      </a:lt1>
      <a:dk2>
        <a:srgbClr val="44546A"/>
      </a:dk2>
      <a:lt2>
        <a:srgbClr val="E7E6E6"/>
      </a:lt2>
      <a:accent1>
        <a:srgbClr val="BA1B4D"/>
      </a:accent1>
      <a:accent2>
        <a:srgbClr val="E06E3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