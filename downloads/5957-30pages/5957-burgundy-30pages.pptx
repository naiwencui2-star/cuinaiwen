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可编辑模板：文字、色块、线条、表格和图示均可直接修改。沿用原稿酒红 #7A202C、玫瑰红 #A34450、浅粉 #D4A59A。示例围绕原始两页租赁纠纷内容展开；方括号内是待替换的占位内容。</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可编辑模板：文字、色块、线条、表格和图示均可直接修改。沿用原稿酒红 #7A202C、玫瑰红 #A34450、浅粉 #D4A59A。示例围绕原始两页租赁纠纷内容展开；方括号内是待替换的占位内容。</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可编辑模板：文字、色块、线条、表格和图示均可直接修改。沿用原稿酒红 #7A202C、玫瑰红 #A34450、浅粉 #D4A59A。示例围绕原始两页租赁纠纷内容展开；方括号内是待替换的占位内容。</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可编辑模板：文字、色块、线条、表格和图示均可直接修改。沿用原稿酒红 #7A202C、玫瑰红 #A34450、浅粉 #D4A59A。示例围绕原始两页租赁纠纷内容展开；方括号内是待替换的占位内容。</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content from slide 1 of 5957汇报.pptx. The legal relationships, two dates and both issues are retained. Forfeiture cannot be justified simply because of subletting or noise; the breach, forfeiture clause and notice requirements must be addressed. The renewal issue turns on the valid determination of new rent. No new legal authorities or factual findings have been added.</a:t>
            </a:r>
          </a:p>
          <a:p>
            <a:r>
              <a:t>沿用最初两页的内容结构，保留原色并进行排版精修。</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可编辑模板：文字、色块、线条、表格和图示均可直接修改。沿用原稿酒红 #7A202C、玫瑰红 #A34450、浅粉 #D4A59A。示例围绕原始两页租赁纠纷内容展开；方括号内是待替换的占位内容。</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可编辑模板：文字、色块、线条、表格和图示均可直接修改。沿用原稿酒红 #7A202C、玫瑰红 #A34450、浅粉 #D4A59A。示例围绕原始两页租赁纠纷内容展开；方括号内是待替换的占位内容。</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可编辑模板：文字、色块、线条、表格和图示均可直接修改。沿用原稿酒红 #7A202C、玫瑰红 #A34450、浅粉 #D4A59A。示例围绕原始两页租赁纠纷内容展开；方括号内是待替换的占位内容。</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可编辑模板：文字、色块、线条、表格和图示均可直接修改。沿用原稿酒红 #7A202C、玫瑰红 #A34450、浅粉 #D4A59A。示例围绕原始两页租赁纠纷内容展开；方括号内是待替换的占位内容。</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可编辑模板：文字、色块、线条、表格和图示均可直接修改。沿用原稿酒红 #7A202C、玫瑰红 #A34450、浅粉 #D4A59A。示例围绕原始两页租赁纠纷内容展开；方括号内是待替换的占位内容。</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可编辑模板：文字、色块、线条、表格和图示均可直接修改。沿用原稿酒红 #7A202C、玫瑰红 #A34450、浅粉 #D4A59A。示例围绕原始两页租赁纠纷内容展开；方括号内是待替换的占位内容。</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可编辑模板：文字、色块、线条、表格和图示均可直接修改。沿用原稿酒红 #7A202C、玫瑰红 #A34450、浅粉 #D4A59A。示例围绕原始两页租赁纠纷内容展开；方括号内是待替换的占位内容。</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可编辑模板：文字、色块、线条、表格和图示均可直接修改。沿用原稿酒红 #7A202C、玫瑰红 #A34450、浅粉 #D4A59A。示例围绕原始两页租赁纠纷内容展开；方括号内是待替换的占位内容。</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可编辑模板：文字、色块、线条、表格和图示均可直接修改。沿用原稿酒红 #7A202C、玫瑰红 #A34450、浅粉 #D4A59A。示例围绕原始两页租赁纠纷内容展开；方括号内是待替换的占位内容。</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可编辑模板：文字、色块、线条、表格和图示均可直接修改。沿用原稿酒红 #7A202C、玫瑰红 #A34450、浅粉 #D4A59A。示例围绕原始两页租赁纠纷内容展开；方括号内是待替换的占位内容。</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可编辑模板：文字、色块、线条、表格和图示均可直接修改。沿用原稿酒红 #7A202C、玫瑰红 #A34450、浅粉 #D4A59A。示例围绕原始两页租赁纠纷内容展开；方括号内是待替换的占位内容。</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可编辑模板：文字、色块、线条、表格和图示均可直接修改。沿用原稿酒红 #7A202C、玫瑰红 #A34450、浅粉 #D4A59A。示例围绕原始两页租赁纠纷内容展开；方括号内是待替换的占位内容。</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可编辑模板：文字、色块、线条、表格和图示均可直接修改。沿用原稿酒红 #7A202C、玫瑰红 #A34450、浅粉 #D4A59A。示例围绕原始两页租赁纠纷内容展开；方括号内是待替换的占位内容。</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可编辑模板：文字、色块、线条、表格和图示均可直接修改。沿用原稿酒红 #7A202C、玫瑰红 #A34450、浅粉 #D4A59A。示例围绕原始两页租赁纠纷内容展开；方括号内是待替换的占位内容。</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 2 wording:</a:t>
            </a:r>
          </a:p>
          <a:p>
            <a:r>
              <a:t>Frederick's Position: Subletting breach: Angela sublet to Charles without consent, potentially violating the tenancy agreement. Noise nuisance: Late-night noise complaints indicate breach of quiet enjoyment / covenant to use premises in a tenant-like manner. Forfeiture right: If the lease contains a forfeiture clause, Frederick may lawfully terminate early and re-enter. Renewal negotiation: Upon expiry, Frederick is not obliged to renew on the same terms; new rent is negotiable.</a:t>
            </a:r>
          </a:p>
          <a:p>
            <a:r>
              <a:t>Angela's Position: No proven breach: A complaint alone is not proof of breach; noise must be substantiated and material. Subletting may be permitted: The tenancy agreement may not prohibit subletting, or consent may have been implied. Procedural fairness: Frederick must comply with all statutory notice requirements before forfeiting; defective procedure invalidates forfeiture. Renewal right: If the agreement provides for renewal, or if a fair new rent can be determined, Angela may be entitled to enforce renewal.</a:t>
            </a:r>
          </a:p>
          <a:p>
            <a:r>
              <a:t>Conditional Conclusions (Member 1): (a) Frederick can only lawfully recover possession if he proves a valid breach and strictly complies with all contractual and statutory requirements for forfeiture. (b) Angela's right to enforce renewal turns on whether a new rent can be validly determined — the noise complaint is background, not decisive.</a:t>
            </a:r>
          </a:p>
          <a:p>
            <a:r>
              <a:t>沿用最初两页的内容结构，保留原色并进行排版精修。</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可编辑模板：文字、色块、线条、表格和图示均可直接修改。沿用原稿酒红 #7A202C、玫瑰红 #A34450、浅粉 #D4A59A。示例围绕原始两页租赁纠纷内容展开；方括号内是待替换的占位内容。</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可编辑模板：文字、色块、线条、表格和图示均可直接修改。沿用原稿酒红 #7A202C、玫瑰红 #A34450、浅粉 #D4A59A。示例围绕原始两页租赁纠纷内容展开；方括号内是待替换的占位内容。</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可编辑模板：文字、色块、线条、表格和图示均可直接修改。沿用原稿酒红 #7A202C、玫瑰红 #A34450、浅粉 #D4A59A。示例围绕原始两页租赁纠纷内容展开；方括号内是待替换的占位内容。</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可编辑模板：文字、色块、线条、表格和图示均可直接修改。沿用原稿酒红 #7A202C、玫瑰红 #A34450、浅粉 #D4A59A。示例围绕原始两页租赁纠纷内容展开；方括号内是待替换的占位内容。</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可编辑模板：文字、色块、线条、表格和图示均可直接修改。沿用原稿酒红 #7A202C、玫瑰红 #A34450、浅粉 #D4A59A。示例围绕原始两页租赁纠纷内容展开；方括号内是待替换的占位内容。</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可编辑模板：文字、色块、线条、表格和图示均可直接修改。沿用原稿酒红 #7A202C、玫瑰红 #A34450、浅粉 #D4A59A。示例围绕原始两页租赁纠纷内容展开；方括号内是待替换的占位内容。</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可编辑模板：文字、色块、线条、表格和图示均可直接修改。沿用原稿酒红 #7A202C、玫瑰红 #A34450、浅粉 #D4A59A。示例围绕原始两页租赁纠纷内容展开；方括号内是待替换的占位内容。</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可编辑模板：文字、色块、线条、表格和图示均可直接修改。沿用原稿酒红 #7A202C、玫瑰红 #A34450、浅粉 #D4A59A。示例围绕原始两页租赁纠纷内容展开；方括号内是待替换的占位内容。</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可编辑模板：文字、色块、线条、表格和图示均可直接修改。沿用原稿酒红 #7A202C、玫瑰红 #A34450、浅粉 #D4A59A。示例围绕原始两页租赁纠纷内容展开；方括号内是待替换的占位内容。</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可编辑模板：文字、色块、线条、表格和图示均可直接修改。沿用原稿酒红 #7A202C、玫瑰红 #A34450、浅粉 #D4A59A。示例围绕原始两页租赁纠纷内容展开；方括号内是待替换的占位内容。</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621792" y="6437376"/>
            <a:ext cx="10945368"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630936" y="6556248"/>
            <a:ext cx="5486400" cy="237744"/>
          </a:xfrm>
          <a:prstGeom prst="rect">
            <a:avLst/>
          </a:prstGeom>
          <a:noFill/>
          <a:effectLst/>
        </p:spPr>
        <p:txBody>
          <a:bodyPr wrap="square" lIns="0" rIns="0" tIns="0" bIns="0">
            <a:spAutoFit/>
          </a:bodyPr>
          <a:lstStyle/>
          <a:p>
            <a:pPr>
              <a:lnSpc>
                <a:spcPct val="113000"/>
              </a:lnSpc>
              <a:spcAft>
                <a:spcPts val="0"/>
              </a:spcAft>
              <a:defRPr sz="800" b="1">
                <a:solidFill>
                  <a:srgbClr val="666064"/>
                </a:solidFill>
                <a:latin typeface="Noto Sans"/>
              </a:defRPr>
            </a:pPr>
            <a:r>
              <a:rPr>
                <a:ea typeface="Noto Sans CJK SC"/>
              </a:rPr>
              <a:t>5957  /  TENANCY DISPUTE</a:t>
            </a:r>
          </a:p>
        </p:txBody>
      </p:sp>
      <p:sp>
        <p:nvSpPr>
          <p:cNvPr id="4" name="TextBox 3"/>
          <p:cNvSpPr txBox="1"/>
          <p:nvPr/>
        </p:nvSpPr>
        <p:spPr>
          <a:xfrm>
            <a:off x="10149840" y="6537960"/>
            <a:ext cx="1399032" cy="201168"/>
          </a:xfrm>
          <a:prstGeom prst="rect">
            <a:avLst/>
          </a:prstGeom>
          <a:noFill/>
          <a:effectLst/>
        </p:spPr>
        <p:txBody>
          <a:bodyPr wrap="square" lIns="0" rIns="0" tIns="0" bIns="0">
            <a:spAutoFit/>
          </a:bodyPr>
          <a:lstStyle/>
          <a:p>
            <a:pPr algn="r">
              <a:lnSpc>
                <a:spcPct val="113000"/>
              </a:lnSpc>
              <a:spcAft>
                <a:spcPts val="0"/>
              </a:spcAft>
              <a:defRPr sz="800" b="0">
                <a:solidFill>
                  <a:srgbClr val="666064"/>
                </a:solidFill>
                <a:latin typeface="Noto Sans"/>
              </a:defRPr>
            </a:pPr>
            <a:r>
              <a:rPr>
                <a:ea typeface="Noto Sans CJK SC"/>
              </a:rPr>
              <a:t>01  /  30</a:t>
            </a:r>
          </a:p>
        </p:txBody>
      </p:sp>
      <p:sp>
        <p:nvSpPr>
          <p:cNvPr id="5" name="Rectangle 4"/>
          <p:cNvSpPr/>
          <p:nvPr/>
        </p:nvSpPr>
        <p:spPr>
          <a:xfrm>
            <a:off x="8321040" y="0"/>
            <a:ext cx="3870929" cy="6428232"/>
          </a:xfrm>
          <a:prstGeom prst="rect">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85800" y="630936"/>
            <a:ext cx="7315200" cy="237744"/>
          </a:xfrm>
          <a:prstGeom prst="rect">
            <a:avLst/>
          </a:prstGeom>
          <a:noFill/>
          <a:effectLst/>
        </p:spPr>
        <p:txBody>
          <a:bodyPr wrap="square" lIns="0" rIns="0" tIns="0" bIns="0">
            <a:spAutoFit/>
          </a:bodyPr>
          <a:lstStyle/>
          <a:p>
            <a:pPr>
              <a:lnSpc>
                <a:spcPct val="113000"/>
              </a:lnSpc>
              <a:spcAft>
                <a:spcPts val="0"/>
              </a:spcAft>
              <a:defRPr sz="1000" b="1">
                <a:solidFill>
                  <a:srgbClr val="A34450"/>
                </a:solidFill>
                <a:latin typeface="Noto Sans"/>
              </a:defRPr>
            </a:pPr>
            <a:r>
              <a:rPr>
                <a:ea typeface="Noto Sans CJK SC"/>
              </a:rPr>
              <a:t>5957  /  LEGAL CASE BRIEFING</a:t>
            </a:r>
          </a:p>
        </p:txBody>
      </p:sp>
      <p:cxnSp>
        <p:nvCxnSpPr>
          <p:cNvPr id="7" name="Connector 6"/>
          <p:cNvCxnSpPr/>
          <p:nvPr/>
        </p:nvCxnSpPr>
        <p:spPr>
          <a:xfrm>
            <a:off x="704088" y="1554480"/>
            <a:ext cx="786384" cy="0"/>
          </a:xfrm>
          <a:prstGeom prst="line">
            <a:avLst/>
          </a:prstGeom>
          <a:ln w="25400">
            <a:solidFill>
              <a:srgbClr val="7A202C"/>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630936" y="1920240"/>
            <a:ext cx="7406640" cy="2011680"/>
          </a:xfrm>
          <a:prstGeom prst="rect">
            <a:avLst/>
          </a:prstGeom>
          <a:noFill/>
          <a:effectLst/>
        </p:spPr>
        <p:txBody>
          <a:bodyPr wrap="square" lIns="0" rIns="0" tIns="0" bIns="0">
            <a:spAutoFit/>
          </a:bodyPr>
          <a:lstStyle/>
          <a:p>
            <a:pPr>
              <a:lnSpc>
                <a:spcPct val="113000"/>
              </a:lnSpc>
              <a:spcAft>
                <a:spcPts val="0"/>
              </a:spcAft>
              <a:defRPr sz="5400" b="0">
                <a:solidFill>
                  <a:srgbClr val="7A202C"/>
                </a:solidFill>
                <a:latin typeface="Noto Serif"/>
              </a:defRPr>
            </a:pPr>
            <a:r>
              <a:rPr>
                <a:ea typeface="Noto Sans CJK SC"/>
              </a:rPr>
              <a:t>Tenancy</a:t>
            </a:r>
          </a:p>
          <a:p>
            <a:pPr>
              <a:lnSpc>
                <a:spcPct val="113000"/>
              </a:lnSpc>
              <a:spcAft>
                <a:spcPts val="0"/>
              </a:spcAft>
              <a:defRPr sz="5400" b="0">
                <a:solidFill>
                  <a:srgbClr val="7A202C"/>
                </a:solidFill>
                <a:latin typeface="Noto Serif"/>
              </a:defRPr>
            </a:pPr>
            <a:r>
              <a:rPr>
                <a:ea typeface="Noto Sans CJK SC"/>
              </a:rPr>
              <a:t>Dispute</a:t>
            </a:r>
          </a:p>
        </p:txBody>
      </p:sp>
      <p:sp>
        <p:nvSpPr>
          <p:cNvPr id="9" name="TextBox 8"/>
          <p:cNvSpPr txBox="1"/>
          <p:nvPr/>
        </p:nvSpPr>
        <p:spPr>
          <a:xfrm>
            <a:off x="704088" y="4133087"/>
            <a:ext cx="7223760" cy="475488"/>
          </a:xfrm>
          <a:prstGeom prst="rect">
            <a:avLst/>
          </a:prstGeom>
          <a:noFill/>
          <a:effectLst/>
        </p:spPr>
        <p:txBody>
          <a:bodyPr wrap="square" lIns="0" rIns="0" tIns="0" bIns="0">
            <a:spAutoFit/>
          </a:bodyPr>
          <a:lstStyle/>
          <a:p>
            <a:pPr>
              <a:lnSpc>
                <a:spcPct val="113000"/>
              </a:lnSpc>
              <a:spcAft>
                <a:spcPts val="0"/>
              </a:spcAft>
              <a:defRPr sz="2000" b="0">
                <a:solidFill>
                  <a:srgbClr val="1E191C"/>
                </a:solidFill>
                <a:latin typeface="Noto Sans"/>
              </a:defRPr>
            </a:pPr>
            <a:r>
              <a:rPr>
                <a:ea typeface="Noto Sans CJK SC"/>
              </a:rPr>
              <a:t>Facts, relationships &amp; legal arguments</a:t>
            </a:r>
          </a:p>
        </p:txBody>
      </p:sp>
      <p:sp>
        <p:nvSpPr>
          <p:cNvPr id="10" name="TextBox 9"/>
          <p:cNvSpPr txBox="1"/>
          <p:nvPr/>
        </p:nvSpPr>
        <p:spPr>
          <a:xfrm>
            <a:off x="713232" y="4837176"/>
            <a:ext cx="7223760" cy="347472"/>
          </a:xfrm>
          <a:prstGeom prst="rect">
            <a:avLst/>
          </a:prstGeom>
          <a:noFill/>
          <a:effectLst/>
        </p:spPr>
        <p:txBody>
          <a:bodyPr wrap="square" lIns="0" rIns="0" tIns="0" bIns="0">
            <a:spAutoFit/>
          </a:bodyPr>
          <a:lstStyle/>
          <a:p>
            <a:pPr>
              <a:lnSpc>
                <a:spcPct val="113000"/>
              </a:lnSpc>
              <a:spcAft>
                <a:spcPts val="0"/>
              </a:spcAft>
              <a:defRPr sz="1500" b="0">
                <a:solidFill>
                  <a:srgbClr val="666064"/>
                </a:solidFill>
                <a:latin typeface="Noto Sans"/>
              </a:defRPr>
            </a:pPr>
            <a:r>
              <a:rPr>
                <a:ea typeface="Noto Sans CJK SC"/>
              </a:rPr>
              <a:t>Forfeiture  /  Possession  /  Renewal</a:t>
            </a:r>
          </a:p>
        </p:txBody>
      </p:sp>
      <p:sp>
        <p:nvSpPr>
          <p:cNvPr id="11" name="TextBox 10"/>
          <p:cNvSpPr txBox="1"/>
          <p:nvPr/>
        </p:nvSpPr>
        <p:spPr>
          <a:xfrm>
            <a:off x="713232" y="5879592"/>
            <a:ext cx="7315200" cy="237744"/>
          </a:xfrm>
          <a:prstGeom prst="rect">
            <a:avLst/>
          </a:prstGeom>
          <a:noFill/>
          <a:effectLst/>
        </p:spPr>
        <p:txBody>
          <a:bodyPr wrap="square" lIns="0" rIns="0" tIns="0" bIns="0">
            <a:spAutoFit/>
          </a:bodyPr>
          <a:lstStyle/>
          <a:p>
            <a:pPr>
              <a:lnSpc>
                <a:spcPct val="113000"/>
              </a:lnSpc>
              <a:spcAft>
                <a:spcPts val="0"/>
              </a:spcAft>
              <a:defRPr sz="1000" b="1">
                <a:solidFill>
                  <a:srgbClr val="A34450"/>
                </a:solidFill>
                <a:latin typeface="Noto Sans"/>
              </a:defRPr>
            </a:pPr>
            <a:r>
              <a:rPr>
                <a:ea typeface="Noto Sans CJK SC"/>
              </a:rPr>
              <a:t>FREDERICK   ·   ANGELA   ·   CHARLES</a:t>
            </a:r>
          </a:p>
        </p:txBody>
      </p:sp>
      <p:sp>
        <p:nvSpPr>
          <p:cNvPr id="12" name="TextBox 11"/>
          <p:cNvSpPr txBox="1"/>
          <p:nvPr/>
        </p:nvSpPr>
        <p:spPr>
          <a:xfrm>
            <a:off x="8668512" y="1600200"/>
            <a:ext cx="832104" cy="576072"/>
          </a:xfrm>
          <a:prstGeom prst="rect">
            <a:avLst/>
          </a:prstGeom>
          <a:noFill/>
          <a:effectLst/>
        </p:spPr>
        <p:txBody>
          <a:bodyPr wrap="square" lIns="0" rIns="0" tIns="0" bIns="0">
            <a:spAutoFit/>
          </a:bodyPr>
          <a:lstStyle/>
          <a:p>
            <a:pPr>
              <a:lnSpc>
                <a:spcPct val="113000"/>
              </a:lnSpc>
              <a:spcAft>
                <a:spcPts val="0"/>
              </a:spcAft>
              <a:defRPr sz="3100" b="0">
                <a:solidFill>
                  <a:srgbClr val="DBACB5"/>
                </a:solidFill>
                <a:latin typeface="Noto Serif"/>
              </a:defRPr>
            </a:pPr>
            <a:r>
              <a:rPr>
                <a:ea typeface="Noto Sans CJK SC"/>
              </a:rPr>
              <a:t>01</a:t>
            </a:r>
          </a:p>
        </p:txBody>
      </p:sp>
      <p:sp>
        <p:nvSpPr>
          <p:cNvPr id="13" name="TextBox 12"/>
          <p:cNvSpPr txBox="1"/>
          <p:nvPr/>
        </p:nvSpPr>
        <p:spPr>
          <a:xfrm>
            <a:off x="9692640" y="1801368"/>
            <a:ext cx="2057400" cy="237744"/>
          </a:xfrm>
          <a:prstGeom prst="rect">
            <a:avLst/>
          </a:prstGeom>
          <a:noFill/>
          <a:effectLst/>
        </p:spPr>
        <p:txBody>
          <a:bodyPr wrap="square" lIns="0" rIns="0" tIns="0" bIns="0">
            <a:spAutoFit/>
          </a:bodyPr>
          <a:lstStyle/>
          <a:p>
            <a:pPr>
              <a:lnSpc>
                <a:spcPct val="113000"/>
              </a:lnSpc>
              <a:spcAft>
                <a:spcPts val="0"/>
              </a:spcAft>
              <a:defRPr sz="1100" b="1">
                <a:solidFill>
                  <a:srgbClr val="FFFFFF"/>
                </a:solidFill>
                <a:latin typeface="Noto Sans"/>
              </a:defRPr>
            </a:pPr>
            <a:r>
              <a:rPr>
                <a:ea typeface="Noto Sans CJK SC"/>
              </a:rPr>
              <a:t>FACTS</a:t>
            </a:r>
          </a:p>
        </p:txBody>
      </p:sp>
      <p:cxnSp>
        <p:nvCxnSpPr>
          <p:cNvPr id="14" name="Connector 13"/>
          <p:cNvCxnSpPr/>
          <p:nvPr/>
        </p:nvCxnSpPr>
        <p:spPr>
          <a:xfrm>
            <a:off x="8677656" y="2505456"/>
            <a:ext cx="2862072" cy="0"/>
          </a:xfrm>
          <a:prstGeom prst="line">
            <a:avLst/>
          </a:prstGeom>
          <a:ln w="8255">
            <a:solidFill>
              <a:srgbClr val="A25562"/>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8668512" y="2962656"/>
            <a:ext cx="832104" cy="576072"/>
          </a:xfrm>
          <a:prstGeom prst="rect">
            <a:avLst/>
          </a:prstGeom>
          <a:noFill/>
          <a:effectLst/>
        </p:spPr>
        <p:txBody>
          <a:bodyPr wrap="square" lIns="0" rIns="0" tIns="0" bIns="0">
            <a:spAutoFit/>
          </a:bodyPr>
          <a:lstStyle/>
          <a:p>
            <a:pPr>
              <a:lnSpc>
                <a:spcPct val="113000"/>
              </a:lnSpc>
              <a:spcAft>
                <a:spcPts val="0"/>
              </a:spcAft>
              <a:defRPr sz="3100" b="0">
                <a:solidFill>
                  <a:srgbClr val="DBACB5"/>
                </a:solidFill>
                <a:latin typeface="Noto Serif"/>
              </a:defRPr>
            </a:pPr>
            <a:r>
              <a:rPr>
                <a:ea typeface="Noto Sans CJK SC"/>
              </a:rPr>
              <a:t>02</a:t>
            </a:r>
          </a:p>
        </p:txBody>
      </p:sp>
      <p:sp>
        <p:nvSpPr>
          <p:cNvPr id="16" name="TextBox 15"/>
          <p:cNvSpPr txBox="1"/>
          <p:nvPr/>
        </p:nvSpPr>
        <p:spPr>
          <a:xfrm>
            <a:off x="9692640" y="3163824"/>
            <a:ext cx="2057400" cy="237744"/>
          </a:xfrm>
          <a:prstGeom prst="rect">
            <a:avLst/>
          </a:prstGeom>
          <a:noFill/>
          <a:effectLst/>
        </p:spPr>
        <p:txBody>
          <a:bodyPr wrap="square" lIns="0" rIns="0" tIns="0" bIns="0">
            <a:spAutoFit/>
          </a:bodyPr>
          <a:lstStyle/>
          <a:p>
            <a:pPr>
              <a:lnSpc>
                <a:spcPct val="113000"/>
              </a:lnSpc>
              <a:spcAft>
                <a:spcPts val="0"/>
              </a:spcAft>
              <a:defRPr sz="1100" b="1">
                <a:solidFill>
                  <a:srgbClr val="FFFFFF"/>
                </a:solidFill>
                <a:latin typeface="Noto Sans"/>
              </a:defRPr>
            </a:pPr>
            <a:r>
              <a:rPr>
                <a:ea typeface="Noto Sans CJK SC"/>
              </a:rPr>
              <a:t>ISSUES</a:t>
            </a:r>
          </a:p>
        </p:txBody>
      </p:sp>
      <p:cxnSp>
        <p:nvCxnSpPr>
          <p:cNvPr id="17" name="Connector 16"/>
          <p:cNvCxnSpPr/>
          <p:nvPr/>
        </p:nvCxnSpPr>
        <p:spPr>
          <a:xfrm>
            <a:off x="8677656" y="3867912"/>
            <a:ext cx="2862072" cy="0"/>
          </a:xfrm>
          <a:prstGeom prst="line">
            <a:avLst/>
          </a:prstGeom>
          <a:ln w="8255">
            <a:solidFill>
              <a:srgbClr val="A25562"/>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8668512" y="4325112"/>
            <a:ext cx="832104" cy="576072"/>
          </a:xfrm>
          <a:prstGeom prst="rect">
            <a:avLst/>
          </a:prstGeom>
          <a:noFill/>
          <a:effectLst/>
        </p:spPr>
        <p:txBody>
          <a:bodyPr wrap="square" lIns="0" rIns="0" tIns="0" bIns="0">
            <a:spAutoFit/>
          </a:bodyPr>
          <a:lstStyle/>
          <a:p>
            <a:pPr>
              <a:lnSpc>
                <a:spcPct val="113000"/>
              </a:lnSpc>
              <a:spcAft>
                <a:spcPts val="0"/>
              </a:spcAft>
              <a:defRPr sz="3100" b="0">
                <a:solidFill>
                  <a:srgbClr val="DBACB5"/>
                </a:solidFill>
                <a:latin typeface="Noto Serif"/>
              </a:defRPr>
            </a:pPr>
            <a:r>
              <a:rPr>
                <a:ea typeface="Noto Sans CJK SC"/>
              </a:rPr>
              <a:t>03</a:t>
            </a:r>
          </a:p>
        </p:txBody>
      </p:sp>
      <p:sp>
        <p:nvSpPr>
          <p:cNvPr id="19" name="TextBox 18"/>
          <p:cNvSpPr txBox="1"/>
          <p:nvPr/>
        </p:nvSpPr>
        <p:spPr>
          <a:xfrm>
            <a:off x="9692640" y="4526280"/>
            <a:ext cx="2057400" cy="237744"/>
          </a:xfrm>
          <a:prstGeom prst="rect">
            <a:avLst/>
          </a:prstGeom>
          <a:noFill/>
          <a:effectLst/>
        </p:spPr>
        <p:txBody>
          <a:bodyPr wrap="square" lIns="0" rIns="0" tIns="0" bIns="0">
            <a:spAutoFit/>
          </a:bodyPr>
          <a:lstStyle/>
          <a:p>
            <a:pPr>
              <a:lnSpc>
                <a:spcPct val="113000"/>
              </a:lnSpc>
              <a:spcAft>
                <a:spcPts val="0"/>
              </a:spcAft>
              <a:defRPr sz="1100" b="1">
                <a:solidFill>
                  <a:srgbClr val="FFFFFF"/>
                </a:solidFill>
                <a:latin typeface="Noto Sans"/>
              </a:defRPr>
            </a:pPr>
            <a:r>
              <a:rPr>
                <a:ea typeface="Noto Sans CJK SC"/>
              </a:rPr>
              <a:t>ARGUMENTS</a:t>
            </a:r>
          </a:p>
        </p:txBody>
      </p:sp>
      <p:cxnSp>
        <p:nvCxnSpPr>
          <p:cNvPr id="20" name="Connector 19"/>
          <p:cNvCxnSpPr/>
          <p:nvPr/>
        </p:nvCxnSpPr>
        <p:spPr>
          <a:xfrm>
            <a:off x="8677656" y="5230368"/>
            <a:ext cx="2862072" cy="0"/>
          </a:xfrm>
          <a:prstGeom prst="line">
            <a:avLst/>
          </a:prstGeom>
          <a:ln w="8255">
            <a:solidFill>
              <a:srgbClr val="A25562"/>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621792" y="6437376"/>
            <a:ext cx="10945368"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630936" y="6556248"/>
            <a:ext cx="5486400" cy="237744"/>
          </a:xfrm>
          <a:prstGeom prst="rect">
            <a:avLst/>
          </a:prstGeom>
          <a:noFill/>
          <a:effectLst/>
        </p:spPr>
        <p:txBody>
          <a:bodyPr wrap="square" lIns="0" rIns="0" tIns="0" bIns="0">
            <a:spAutoFit/>
          </a:bodyPr>
          <a:lstStyle/>
          <a:p>
            <a:pPr>
              <a:lnSpc>
                <a:spcPct val="113000"/>
              </a:lnSpc>
              <a:spcAft>
                <a:spcPts val="0"/>
              </a:spcAft>
              <a:defRPr sz="800" b="1">
                <a:solidFill>
                  <a:srgbClr val="666064"/>
                </a:solidFill>
                <a:latin typeface="Noto Sans"/>
              </a:defRPr>
            </a:pPr>
            <a:r>
              <a:rPr>
                <a:ea typeface="Noto Sans CJK SC"/>
              </a:rPr>
              <a:t>5957  /  TENANCY DISPUTE</a:t>
            </a:r>
          </a:p>
        </p:txBody>
      </p:sp>
      <p:sp>
        <p:nvSpPr>
          <p:cNvPr id="4" name="TextBox 3"/>
          <p:cNvSpPr txBox="1"/>
          <p:nvPr/>
        </p:nvSpPr>
        <p:spPr>
          <a:xfrm>
            <a:off x="10149840" y="6537960"/>
            <a:ext cx="1399032" cy="201168"/>
          </a:xfrm>
          <a:prstGeom prst="rect">
            <a:avLst/>
          </a:prstGeom>
          <a:noFill/>
          <a:effectLst/>
        </p:spPr>
        <p:txBody>
          <a:bodyPr wrap="square" lIns="0" rIns="0" tIns="0" bIns="0">
            <a:spAutoFit/>
          </a:bodyPr>
          <a:lstStyle/>
          <a:p>
            <a:pPr algn="r">
              <a:lnSpc>
                <a:spcPct val="113000"/>
              </a:lnSpc>
              <a:spcAft>
                <a:spcPts val="0"/>
              </a:spcAft>
              <a:defRPr sz="800" b="0">
                <a:solidFill>
                  <a:srgbClr val="666064"/>
                </a:solidFill>
                <a:latin typeface="Noto Sans"/>
              </a:defRPr>
            </a:pPr>
            <a:r>
              <a:rPr>
                <a:ea typeface="Noto Sans CJK SC"/>
              </a:rPr>
              <a:t>02  /  30</a:t>
            </a:r>
          </a:p>
        </p:txBody>
      </p:sp>
      <p:sp>
        <p:nvSpPr>
          <p:cNvPr id="5" name="TextBox 4"/>
          <p:cNvSpPr txBox="1"/>
          <p:nvPr/>
        </p:nvSpPr>
        <p:spPr>
          <a:xfrm>
            <a:off x="630936" y="347472"/>
            <a:ext cx="9144000" cy="237744"/>
          </a:xfrm>
          <a:prstGeom prst="rect">
            <a:avLst/>
          </a:prstGeom>
          <a:noFill/>
          <a:effectLst/>
        </p:spPr>
        <p:txBody>
          <a:bodyPr wrap="square" lIns="0" rIns="0" tIns="0" bIns="0">
            <a:spAutoFit/>
          </a:bodyPr>
          <a:lstStyle/>
          <a:p>
            <a:pPr>
              <a:lnSpc>
                <a:spcPct val="113000"/>
              </a:lnSpc>
              <a:spcAft>
                <a:spcPts val="0"/>
              </a:spcAft>
              <a:defRPr sz="900" b="1">
                <a:solidFill>
                  <a:srgbClr val="A34450"/>
                </a:solidFill>
                <a:latin typeface="Noto Sans"/>
              </a:defRPr>
            </a:pPr>
            <a:r>
              <a:rPr>
                <a:ea typeface="Noto Sans CJK SC"/>
              </a:rPr>
              <a:t>CONTENTS</a:t>
            </a:r>
          </a:p>
        </p:txBody>
      </p:sp>
      <p:sp>
        <p:nvSpPr>
          <p:cNvPr id="6" name="TextBox 5"/>
          <p:cNvSpPr txBox="1"/>
          <p:nvPr/>
        </p:nvSpPr>
        <p:spPr>
          <a:xfrm>
            <a:off x="603504" y="758952"/>
            <a:ext cx="10972800" cy="612648"/>
          </a:xfrm>
          <a:prstGeom prst="rect">
            <a:avLst/>
          </a:prstGeom>
          <a:noFill/>
          <a:effectLst/>
        </p:spPr>
        <p:txBody>
          <a:bodyPr wrap="square" lIns="0" rIns="0" tIns="0" bIns="0">
            <a:spAutoFit/>
          </a:bodyPr>
          <a:lstStyle/>
          <a:p>
            <a:pPr>
              <a:lnSpc>
                <a:spcPct val="113000"/>
              </a:lnSpc>
              <a:spcAft>
                <a:spcPts val="0"/>
              </a:spcAft>
              <a:defRPr sz="3000" b="0">
                <a:solidFill>
                  <a:srgbClr val="7A202C"/>
                </a:solidFill>
                <a:latin typeface="Noto Serif"/>
              </a:defRPr>
            </a:pPr>
            <a:r>
              <a:rPr>
                <a:ea typeface="Noto Sans CJK SC"/>
              </a:rPr>
              <a:t>Briefing roadmap</a:t>
            </a:r>
          </a:p>
        </p:txBody>
      </p:sp>
      <p:cxnSp>
        <p:nvCxnSpPr>
          <p:cNvPr id="7" name="Connector 6"/>
          <p:cNvCxnSpPr/>
          <p:nvPr/>
        </p:nvCxnSpPr>
        <p:spPr>
          <a:xfrm>
            <a:off x="621792" y="1490472"/>
            <a:ext cx="10945368" cy="0"/>
          </a:xfrm>
          <a:prstGeom prst="line">
            <a:avLst/>
          </a:prstGeom>
          <a:ln w="10795">
            <a:solidFill>
              <a:srgbClr val="D4A59A"/>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685800" y="1920240"/>
            <a:ext cx="914400" cy="640080"/>
          </a:xfrm>
          <a:prstGeom prst="rect">
            <a:avLst/>
          </a:prstGeom>
          <a:noFill/>
          <a:effectLst/>
        </p:spPr>
        <p:txBody>
          <a:bodyPr wrap="square" lIns="0" rIns="0" tIns="0" bIns="0">
            <a:spAutoFit/>
          </a:bodyPr>
          <a:lstStyle/>
          <a:p>
            <a:pPr>
              <a:lnSpc>
                <a:spcPct val="113000"/>
              </a:lnSpc>
              <a:spcAft>
                <a:spcPts val="0"/>
              </a:spcAft>
              <a:defRPr sz="3400" b="0">
                <a:solidFill>
                  <a:srgbClr val="7A202C"/>
                </a:solidFill>
                <a:latin typeface="Noto Serif"/>
              </a:defRPr>
            </a:pPr>
            <a:r>
              <a:rPr>
                <a:ea typeface="Noto Sans CJK SC"/>
              </a:rPr>
              <a:t>01</a:t>
            </a:r>
          </a:p>
        </p:txBody>
      </p:sp>
      <p:sp>
        <p:nvSpPr>
          <p:cNvPr id="9" name="TextBox 8"/>
          <p:cNvSpPr txBox="1"/>
          <p:nvPr/>
        </p:nvSpPr>
        <p:spPr>
          <a:xfrm>
            <a:off x="1828800" y="1956816"/>
            <a:ext cx="5166360" cy="393192"/>
          </a:xfrm>
          <a:prstGeom prst="rect">
            <a:avLst/>
          </a:prstGeom>
          <a:noFill/>
          <a:effectLst/>
        </p:spPr>
        <p:txBody>
          <a:bodyPr wrap="square" lIns="0" rIns="0" tIns="0" bIns="0">
            <a:spAutoFit/>
          </a:bodyPr>
          <a:lstStyle/>
          <a:p>
            <a:pPr>
              <a:lnSpc>
                <a:spcPct val="113000"/>
              </a:lnSpc>
              <a:spcAft>
                <a:spcPts val="0"/>
              </a:spcAft>
              <a:defRPr sz="2300" b="0">
                <a:solidFill>
                  <a:srgbClr val="7A202C"/>
                </a:solidFill>
                <a:latin typeface="Noto Serif"/>
              </a:defRPr>
            </a:pPr>
            <a:r>
              <a:rPr>
                <a:ea typeface="Noto Sans CJK SC"/>
              </a:rPr>
              <a:t>Facts &amp; relationships</a:t>
            </a:r>
          </a:p>
        </p:txBody>
      </p:sp>
      <p:sp>
        <p:nvSpPr>
          <p:cNvPr id="10" name="TextBox 9"/>
          <p:cNvSpPr txBox="1"/>
          <p:nvPr/>
        </p:nvSpPr>
        <p:spPr>
          <a:xfrm>
            <a:off x="6995160" y="2029968"/>
            <a:ext cx="4389120" cy="521207"/>
          </a:xfrm>
          <a:prstGeom prst="rect">
            <a:avLst/>
          </a:prstGeom>
          <a:noFill/>
          <a:effectLst/>
        </p:spPr>
        <p:txBody>
          <a:bodyPr wrap="square" lIns="0" rIns="0" tIns="0" bIns="0">
            <a:spAutoFit/>
          </a:bodyPr>
          <a:lstStyle/>
          <a:p>
            <a:pPr>
              <a:lnSpc>
                <a:spcPct val="113000"/>
              </a:lnSpc>
              <a:spcAft>
                <a:spcPts val="0"/>
              </a:spcAft>
              <a:defRPr sz="1500" b="0">
                <a:solidFill>
                  <a:srgbClr val="666064"/>
                </a:solidFill>
                <a:latin typeface="Noto Sans"/>
              </a:defRPr>
            </a:pPr>
            <a:r>
              <a:rPr>
                <a:ea typeface="Noto Sans CJK SC"/>
              </a:rPr>
              <a:t>The parties, agreements and chronology</a:t>
            </a:r>
          </a:p>
        </p:txBody>
      </p:sp>
      <p:cxnSp>
        <p:nvCxnSpPr>
          <p:cNvPr id="11" name="Connector 10"/>
          <p:cNvCxnSpPr/>
          <p:nvPr/>
        </p:nvCxnSpPr>
        <p:spPr>
          <a:xfrm>
            <a:off x="1837943" y="2697480"/>
            <a:ext cx="9637777" cy="0"/>
          </a:xfrm>
          <a:prstGeom prst="line">
            <a:avLst/>
          </a:prstGeom>
          <a:ln w="889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85800" y="2907792"/>
            <a:ext cx="914400" cy="640080"/>
          </a:xfrm>
          <a:prstGeom prst="rect">
            <a:avLst/>
          </a:prstGeom>
          <a:noFill/>
          <a:effectLst/>
        </p:spPr>
        <p:txBody>
          <a:bodyPr wrap="square" lIns="0" rIns="0" tIns="0" bIns="0">
            <a:spAutoFit/>
          </a:bodyPr>
          <a:lstStyle/>
          <a:p>
            <a:pPr>
              <a:lnSpc>
                <a:spcPct val="113000"/>
              </a:lnSpc>
              <a:spcAft>
                <a:spcPts val="0"/>
              </a:spcAft>
              <a:defRPr sz="3400" b="0">
                <a:solidFill>
                  <a:srgbClr val="7A202C"/>
                </a:solidFill>
                <a:latin typeface="Noto Serif"/>
              </a:defRPr>
            </a:pPr>
            <a:r>
              <a:rPr>
                <a:ea typeface="Noto Sans CJK SC"/>
              </a:rPr>
              <a:t>02</a:t>
            </a:r>
          </a:p>
        </p:txBody>
      </p:sp>
      <p:sp>
        <p:nvSpPr>
          <p:cNvPr id="13" name="TextBox 12"/>
          <p:cNvSpPr txBox="1"/>
          <p:nvPr/>
        </p:nvSpPr>
        <p:spPr>
          <a:xfrm>
            <a:off x="1828800" y="2944368"/>
            <a:ext cx="5166360" cy="393192"/>
          </a:xfrm>
          <a:prstGeom prst="rect">
            <a:avLst/>
          </a:prstGeom>
          <a:noFill/>
          <a:effectLst/>
        </p:spPr>
        <p:txBody>
          <a:bodyPr wrap="square" lIns="0" rIns="0" tIns="0" bIns="0">
            <a:spAutoFit/>
          </a:bodyPr>
          <a:lstStyle/>
          <a:p>
            <a:pPr>
              <a:lnSpc>
                <a:spcPct val="113000"/>
              </a:lnSpc>
              <a:spcAft>
                <a:spcPts val="0"/>
              </a:spcAft>
              <a:defRPr sz="2300" b="0">
                <a:solidFill>
                  <a:srgbClr val="7A202C"/>
                </a:solidFill>
                <a:latin typeface="Noto Serif"/>
              </a:defRPr>
            </a:pPr>
            <a:r>
              <a:rPr>
                <a:ea typeface="Noto Sans CJK SC"/>
              </a:rPr>
              <a:t>Issues &amp; framework</a:t>
            </a:r>
          </a:p>
        </p:txBody>
      </p:sp>
      <p:sp>
        <p:nvSpPr>
          <p:cNvPr id="14" name="TextBox 13"/>
          <p:cNvSpPr txBox="1"/>
          <p:nvPr/>
        </p:nvSpPr>
        <p:spPr>
          <a:xfrm>
            <a:off x="6995160" y="3017520"/>
            <a:ext cx="4389120" cy="521207"/>
          </a:xfrm>
          <a:prstGeom prst="rect">
            <a:avLst/>
          </a:prstGeom>
          <a:noFill/>
          <a:effectLst/>
        </p:spPr>
        <p:txBody>
          <a:bodyPr wrap="square" lIns="0" rIns="0" tIns="0" bIns="0">
            <a:spAutoFit/>
          </a:bodyPr>
          <a:lstStyle/>
          <a:p>
            <a:pPr>
              <a:lnSpc>
                <a:spcPct val="113000"/>
              </a:lnSpc>
              <a:spcAft>
                <a:spcPts val="0"/>
              </a:spcAft>
              <a:defRPr sz="1500" b="0">
                <a:solidFill>
                  <a:srgbClr val="666064"/>
                </a:solidFill>
                <a:latin typeface="Noto Sans"/>
              </a:defRPr>
            </a:pPr>
            <a:r>
              <a:rPr>
                <a:ea typeface="Noto Sans CJK SC"/>
              </a:rPr>
              <a:t>Forfeiture before expiry; renewal at expiry</a:t>
            </a:r>
          </a:p>
        </p:txBody>
      </p:sp>
      <p:cxnSp>
        <p:nvCxnSpPr>
          <p:cNvPr id="15" name="Connector 14"/>
          <p:cNvCxnSpPr/>
          <p:nvPr/>
        </p:nvCxnSpPr>
        <p:spPr>
          <a:xfrm>
            <a:off x="1837943" y="3685032"/>
            <a:ext cx="9637777" cy="0"/>
          </a:xfrm>
          <a:prstGeom prst="line">
            <a:avLst/>
          </a:prstGeom>
          <a:ln w="889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685800" y="3895344"/>
            <a:ext cx="914400" cy="640080"/>
          </a:xfrm>
          <a:prstGeom prst="rect">
            <a:avLst/>
          </a:prstGeom>
          <a:noFill/>
          <a:effectLst/>
        </p:spPr>
        <p:txBody>
          <a:bodyPr wrap="square" lIns="0" rIns="0" tIns="0" bIns="0">
            <a:spAutoFit/>
          </a:bodyPr>
          <a:lstStyle/>
          <a:p>
            <a:pPr>
              <a:lnSpc>
                <a:spcPct val="113000"/>
              </a:lnSpc>
              <a:spcAft>
                <a:spcPts val="0"/>
              </a:spcAft>
              <a:defRPr sz="3400" b="0">
                <a:solidFill>
                  <a:srgbClr val="7A202C"/>
                </a:solidFill>
                <a:latin typeface="Noto Serif"/>
              </a:defRPr>
            </a:pPr>
            <a:r>
              <a:rPr>
                <a:ea typeface="Noto Sans CJK SC"/>
              </a:rPr>
              <a:t>03</a:t>
            </a:r>
          </a:p>
        </p:txBody>
      </p:sp>
      <p:sp>
        <p:nvSpPr>
          <p:cNvPr id="17" name="TextBox 16"/>
          <p:cNvSpPr txBox="1"/>
          <p:nvPr/>
        </p:nvSpPr>
        <p:spPr>
          <a:xfrm>
            <a:off x="1828800" y="3931920"/>
            <a:ext cx="5166360" cy="393192"/>
          </a:xfrm>
          <a:prstGeom prst="rect">
            <a:avLst/>
          </a:prstGeom>
          <a:noFill/>
          <a:effectLst/>
        </p:spPr>
        <p:txBody>
          <a:bodyPr wrap="square" lIns="0" rIns="0" tIns="0" bIns="0">
            <a:spAutoFit/>
          </a:bodyPr>
          <a:lstStyle/>
          <a:p>
            <a:pPr>
              <a:lnSpc>
                <a:spcPct val="113000"/>
              </a:lnSpc>
              <a:spcAft>
                <a:spcPts val="0"/>
              </a:spcAft>
              <a:defRPr sz="2300" b="0">
                <a:solidFill>
                  <a:srgbClr val="7A202C"/>
                </a:solidFill>
                <a:latin typeface="Noto Serif"/>
              </a:defRPr>
            </a:pPr>
            <a:r>
              <a:rPr>
                <a:ea typeface="Noto Sans CJK SC"/>
              </a:rPr>
              <a:t>Arguments &amp; evaluation</a:t>
            </a:r>
          </a:p>
        </p:txBody>
      </p:sp>
      <p:sp>
        <p:nvSpPr>
          <p:cNvPr id="18" name="TextBox 17"/>
          <p:cNvSpPr txBox="1"/>
          <p:nvPr/>
        </p:nvSpPr>
        <p:spPr>
          <a:xfrm>
            <a:off x="6995160" y="4005072"/>
            <a:ext cx="4389120" cy="521207"/>
          </a:xfrm>
          <a:prstGeom prst="rect">
            <a:avLst/>
          </a:prstGeom>
          <a:noFill/>
          <a:effectLst/>
        </p:spPr>
        <p:txBody>
          <a:bodyPr wrap="square" lIns="0" rIns="0" tIns="0" bIns="0">
            <a:spAutoFit/>
          </a:bodyPr>
          <a:lstStyle/>
          <a:p>
            <a:pPr>
              <a:lnSpc>
                <a:spcPct val="113000"/>
              </a:lnSpc>
              <a:spcAft>
                <a:spcPts val="0"/>
              </a:spcAft>
              <a:defRPr sz="1500" b="0">
                <a:solidFill>
                  <a:srgbClr val="666064"/>
                </a:solidFill>
                <a:latin typeface="Noto Sans"/>
              </a:defRPr>
            </a:pPr>
            <a:r>
              <a:rPr>
                <a:ea typeface="Noto Sans CJK SC"/>
              </a:rPr>
              <a:t>Competing positions and evidence to review</a:t>
            </a:r>
          </a:p>
        </p:txBody>
      </p:sp>
      <p:cxnSp>
        <p:nvCxnSpPr>
          <p:cNvPr id="19" name="Connector 18"/>
          <p:cNvCxnSpPr/>
          <p:nvPr/>
        </p:nvCxnSpPr>
        <p:spPr>
          <a:xfrm>
            <a:off x="1837943" y="4672583"/>
            <a:ext cx="9637777" cy="0"/>
          </a:xfrm>
          <a:prstGeom prst="line">
            <a:avLst/>
          </a:prstGeom>
          <a:ln w="889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20" name="TextBox 19"/>
          <p:cNvSpPr txBox="1"/>
          <p:nvPr/>
        </p:nvSpPr>
        <p:spPr>
          <a:xfrm>
            <a:off x="685800" y="4882896"/>
            <a:ext cx="914400" cy="640080"/>
          </a:xfrm>
          <a:prstGeom prst="rect">
            <a:avLst/>
          </a:prstGeom>
          <a:noFill/>
          <a:effectLst/>
        </p:spPr>
        <p:txBody>
          <a:bodyPr wrap="square" lIns="0" rIns="0" tIns="0" bIns="0">
            <a:spAutoFit/>
          </a:bodyPr>
          <a:lstStyle/>
          <a:p>
            <a:pPr>
              <a:lnSpc>
                <a:spcPct val="113000"/>
              </a:lnSpc>
              <a:spcAft>
                <a:spcPts val="0"/>
              </a:spcAft>
              <a:defRPr sz="3400" b="0">
                <a:solidFill>
                  <a:srgbClr val="7A202C"/>
                </a:solidFill>
                <a:latin typeface="Noto Serif"/>
              </a:defRPr>
            </a:pPr>
            <a:r>
              <a:rPr>
                <a:ea typeface="Noto Sans CJK SC"/>
              </a:rPr>
              <a:t>04</a:t>
            </a:r>
          </a:p>
        </p:txBody>
      </p:sp>
      <p:sp>
        <p:nvSpPr>
          <p:cNvPr id="21" name="TextBox 20"/>
          <p:cNvSpPr txBox="1"/>
          <p:nvPr/>
        </p:nvSpPr>
        <p:spPr>
          <a:xfrm>
            <a:off x="1828800" y="4919472"/>
            <a:ext cx="5166360" cy="393192"/>
          </a:xfrm>
          <a:prstGeom prst="rect">
            <a:avLst/>
          </a:prstGeom>
          <a:noFill/>
          <a:effectLst/>
        </p:spPr>
        <p:txBody>
          <a:bodyPr wrap="square" lIns="0" rIns="0" tIns="0" bIns="0">
            <a:spAutoFit/>
          </a:bodyPr>
          <a:lstStyle/>
          <a:p>
            <a:pPr>
              <a:lnSpc>
                <a:spcPct val="113000"/>
              </a:lnSpc>
              <a:spcAft>
                <a:spcPts val="0"/>
              </a:spcAft>
              <a:defRPr sz="2300" b="0">
                <a:solidFill>
                  <a:srgbClr val="7A202C"/>
                </a:solidFill>
                <a:latin typeface="Noto Serif"/>
              </a:defRPr>
            </a:pPr>
            <a:r>
              <a:rPr>
                <a:ea typeface="Noto Sans CJK SC"/>
              </a:rPr>
              <a:t>Conclusions &amp; handover</a:t>
            </a:r>
          </a:p>
        </p:txBody>
      </p:sp>
      <p:sp>
        <p:nvSpPr>
          <p:cNvPr id="22" name="TextBox 21"/>
          <p:cNvSpPr txBox="1"/>
          <p:nvPr/>
        </p:nvSpPr>
        <p:spPr>
          <a:xfrm>
            <a:off x="6995160" y="4992624"/>
            <a:ext cx="4389120" cy="521207"/>
          </a:xfrm>
          <a:prstGeom prst="rect">
            <a:avLst/>
          </a:prstGeom>
          <a:noFill/>
          <a:effectLst/>
        </p:spPr>
        <p:txBody>
          <a:bodyPr wrap="square" lIns="0" rIns="0" tIns="0" bIns="0">
            <a:spAutoFit/>
          </a:bodyPr>
          <a:lstStyle/>
          <a:p>
            <a:pPr>
              <a:lnSpc>
                <a:spcPct val="113000"/>
              </a:lnSpc>
              <a:spcAft>
                <a:spcPts val="0"/>
              </a:spcAft>
              <a:defRPr sz="1500" b="0">
                <a:solidFill>
                  <a:srgbClr val="666064"/>
                </a:solidFill>
                <a:latin typeface="Noto Sans"/>
              </a:defRPr>
            </a:pPr>
            <a:r>
              <a:rPr>
                <a:ea typeface="Noto Sans CJK SC"/>
              </a:rPr>
              <a:t>Conditional outcomes and next-stage analysis</a:t>
            </a:r>
          </a:p>
        </p:txBody>
      </p:sp>
      <p:cxnSp>
        <p:nvCxnSpPr>
          <p:cNvPr id="23" name="Connector 22"/>
          <p:cNvCxnSpPr/>
          <p:nvPr/>
        </p:nvCxnSpPr>
        <p:spPr>
          <a:xfrm>
            <a:off x="1837943" y="5660136"/>
            <a:ext cx="9637777" cy="0"/>
          </a:xfrm>
          <a:prstGeom prst="line">
            <a:avLst/>
          </a:prstGeom>
          <a:ln w="8890">
            <a:solidFill>
              <a:srgbClr val="E8D5D7"/>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621792" y="6437376"/>
            <a:ext cx="10945368"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630936" y="6556248"/>
            <a:ext cx="5486400" cy="237744"/>
          </a:xfrm>
          <a:prstGeom prst="rect">
            <a:avLst/>
          </a:prstGeom>
          <a:noFill/>
          <a:effectLst/>
        </p:spPr>
        <p:txBody>
          <a:bodyPr wrap="square" lIns="0" rIns="0" tIns="0" bIns="0">
            <a:spAutoFit/>
          </a:bodyPr>
          <a:lstStyle/>
          <a:p>
            <a:pPr>
              <a:lnSpc>
                <a:spcPct val="113000"/>
              </a:lnSpc>
              <a:spcAft>
                <a:spcPts val="0"/>
              </a:spcAft>
              <a:defRPr sz="800" b="1">
                <a:solidFill>
                  <a:srgbClr val="666064"/>
                </a:solidFill>
                <a:latin typeface="Noto Sans"/>
              </a:defRPr>
            </a:pPr>
            <a:r>
              <a:rPr>
                <a:ea typeface="Noto Sans CJK SC"/>
              </a:rPr>
              <a:t>5957  /  TENANCY DISPUTE</a:t>
            </a:r>
          </a:p>
        </p:txBody>
      </p:sp>
      <p:sp>
        <p:nvSpPr>
          <p:cNvPr id="4" name="TextBox 3"/>
          <p:cNvSpPr txBox="1"/>
          <p:nvPr/>
        </p:nvSpPr>
        <p:spPr>
          <a:xfrm>
            <a:off x="10149840" y="6537960"/>
            <a:ext cx="1399032" cy="201168"/>
          </a:xfrm>
          <a:prstGeom prst="rect">
            <a:avLst/>
          </a:prstGeom>
          <a:noFill/>
          <a:effectLst/>
        </p:spPr>
        <p:txBody>
          <a:bodyPr wrap="square" lIns="0" rIns="0" tIns="0" bIns="0">
            <a:spAutoFit/>
          </a:bodyPr>
          <a:lstStyle/>
          <a:p>
            <a:pPr algn="r">
              <a:lnSpc>
                <a:spcPct val="113000"/>
              </a:lnSpc>
              <a:spcAft>
                <a:spcPts val="0"/>
              </a:spcAft>
              <a:defRPr sz="800" b="0">
                <a:solidFill>
                  <a:srgbClr val="666064"/>
                </a:solidFill>
                <a:latin typeface="Noto Sans"/>
              </a:defRPr>
            </a:pPr>
            <a:r>
              <a:rPr>
                <a:ea typeface="Noto Sans CJK SC"/>
              </a:rPr>
              <a:t>03  /  30</a:t>
            </a:r>
          </a:p>
        </p:txBody>
      </p:sp>
      <p:sp>
        <p:nvSpPr>
          <p:cNvPr id="5" name="TextBox 4"/>
          <p:cNvSpPr txBox="1"/>
          <p:nvPr/>
        </p:nvSpPr>
        <p:spPr>
          <a:xfrm>
            <a:off x="630936" y="347472"/>
            <a:ext cx="9144000" cy="237744"/>
          </a:xfrm>
          <a:prstGeom prst="rect">
            <a:avLst/>
          </a:prstGeom>
          <a:noFill/>
          <a:effectLst/>
        </p:spPr>
        <p:txBody>
          <a:bodyPr wrap="square" lIns="0" rIns="0" tIns="0" bIns="0">
            <a:spAutoFit/>
          </a:bodyPr>
          <a:lstStyle/>
          <a:p>
            <a:pPr>
              <a:lnSpc>
                <a:spcPct val="113000"/>
              </a:lnSpc>
              <a:spcAft>
                <a:spcPts val="0"/>
              </a:spcAft>
              <a:defRPr sz="900" b="1">
                <a:solidFill>
                  <a:srgbClr val="A34450"/>
                </a:solidFill>
                <a:latin typeface="Noto Sans"/>
              </a:defRPr>
            </a:pPr>
            <a:r>
              <a:rPr>
                <a:ea typeface="Noto Sans CJK SC"/>
              </a:rPr>
              <a:t>EXECUTIVE SUMMARY</a:t>
            </a:r>
          </a:p>
        </p:txBody>
      </p:sp>
      <p:sp>
        <p:nvSpPr>
          <p:cNvPr id="6" name="TextBox 5"/>
          <p:cNvSpPr txBox="1"/>
          <p:nvPr/>
        </p:nvSpPr>
        <p:spPr>
          <a:xfrm>
            <a:off x="603504" y="758952"/>
            <a:ext cx="10972800" cy="612648"/>
          </a:xfrm>
          <a:prstGeom prst="rect">
            <a:avLst/>
          </a:prstGeom>
          <a:noFill/>
          <a:effectLst/>
        </p:spPr>
        <p:txBody>
          <a:bodyPr wrap="square" lIns="0" rIns="0" tIns="0" bIns="0">
            <a:spAutoFit/>
          </a:bodyPr>
          <a:lstStyle/>
          <a:p>
            <a:pPr>
              <a:lnSpc>
                <a:spcPct val="113000"/>
              </a:lnSpc>
              <a:spcAft>
                <a:spcPts val="0"/>
              </a:spcAft>
              <a:defRPr sz="3000" b="0">
                <a:solidFill>
                  <a:srgbClr val="7A202C"/>
                </a:solidFill>
                <a:latin typeface="Noto Serif"/>
              </a:defRPr>
            </a:pPr>
            <a:r>
              <a:rPr>
                <a:ea typeface="Noto Sans CJK SC"/>
              </a:rPr>
              <a:t>Case at a glance</a:t>
            </a:r>
          </a:p>
        </p:txBody>
      </p:sp>
      <p:cxnSp>
        <p:nvCxnSpPr>
          <p:cNvPr id="7" name="Connector 6"/>
          <p:cNvCxnSpPr/>
          <p:nvPr/>
        </p:nvCxnSpPr>
        <p:spPr>
          <a:xfrm>
            <a:off x="621792" y="1490472"/>
            <a:ext cx="10945368" cy="0"/>
          </a:xfrm>
          <a:prstGeom prst="line">
            <a:avLst/>
          </a:prstGeom>
          <a:ln w="10795">
            <a:solidFill>
              <a:srgbClr val="D4A59A"/>
            </a:solidFill>
          </a:ln>
          <a:effectLst/>
        </p:spPr>
        <p:style>
          <a:lnRef idx="2">
            <a:schemeClr val="accent1"/>
          </a:lnRef>
          <a:fillRef idx="0">
            <a:schemeClr val="accent1"/>
          </a:fillRef>
          <a:effectRef idx="0">
            <a:schemeClr val="accent1"/>
          </a:effectRef>
          <a:fontRef idx="minor">
            <a:schemeClr val="tx1"/>
          </a:fontRef>
        </p:style>
      </p:cxnSp>
      <p:sp>
        <p:nvSpPr>
          <p:cNvPr id="8" name="Rectangle 7"/>
          <p:cNvSpPr/>
          <p:nvPr/>
        </p:nvSpPr>
        <p:spPr>
          <a:xfrm>
            <a:off x="630936" y="1947672"/>
            <a:ext cx="3447288" cy="2377440"/>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41247" y="2167128"/>
            <a:ext cx="2286000" cy="941832"/>
          </a:xfrm>
          <a:prstGeom prst="rect">
            <a:avLst/>
          </a:prstGeom>
          <a:noFill/>
          <a:effectLst/>
        </p:spPr>
        <p:txBody>
          <a:bodyPr wrap="square" lIns="0" rIns="0" tIns="0" bIns="0">
            <a:spAutoFit/>
          </a:bodyPr>
          <a:lstStyle/>
          <a:p>
            <a:pPr>
              <a:lnSpc>
                <a:spcPct val="113000"/>
              </a:lnSpc>
              <a:spcAft>
                <a:spcPts val="0"/>
              </a:spcAft>
              <a:defRPr sz="4800" b="0">
                <a:solidFill>
                  <a:srgbClr val="7A202C"/>
                </a:solidFill>
                <a:latin typeface="Noto Serif"/>
              </a:defRPr>
            </a:pPr>
            <a:r>
              <a:rPr>
                <a:ea typeface="Noto Sans CJK SC"/>
              </a:rPr>
              <a:t>03</a:t>
            </a:r>
          </a:p>
        </p:txBody>
      </p:sp>
      <p:sp>
        <p:nvSpPr>
          <p:cNvPr id="10" name="TextBox 9"/>
          <p:cNvSpPr txBox="1"/>
          <p:nvPr/>
        </p:nvSpPr>
        <p:spPr>
          <a:xfrm>
            <a:off x="877824" y="3218688"/>
            <a:ext cx="2926080" cy="237744"/>
          </a:xfrm>
          <a:prstGeom prst="rect">
            <a:avLst/>
          </a:prstGeom>
          <a:noFill/>
          <a:effectLst/>
        </p:spPr>
        <p:txBody>
          <a:bodyPr wrap="square" lIns="0" rIns="0" tIns="0" bIns="0">
            <a:spAutoFit/>
          </a:bodyPr>
          <a:lstStyle/>
          <a:p>
            <a:pPr>
              <a:lnSpc>
                <a:spcPct val="113000"/>
              </a:lnSpc>
              <a:spcAft>
                <a:spcPts val="0"/>
              </a:spcAft>
              <a:defRPr sz="1000" b="1">
                <a:solidFill>
                  <a:srgbClr val="A34450"/>
                </a:solidFill>
                <a:latin typeface="Noto Sans"/>
              </a:defRPr>
            </a:pPr>
            <a:r>
              <a:rPr>
                <a:ea typeface="Noto Sans CJK SC"/>
              </a:rPr>
              <a:t>PARTIES</a:t>
            </a:r>
          </a:p>
        </p:txBody>
      </p:sp>
      <p:sp>
        <p:nvSpPr>
          <p:cNvPr id="11" name="TextBox 10"/>
          <p:cNvSpPr txBox="1"/>
          <p:nvPr/>
        </p:nvSpPr>
        <p:spPr>
          <a:xfrm>
            <a:off x="877824" y="3611880"/>
            <a:ext cx="2953512" cy="612648"/>
          </a:xfrm>
          <a:prstGeom prst="rect">
            <a:avLst/>
          </a:prstGeom>
          <a:noFill/>
          <a:effectLst/>
        </p:spPr>
        <p:txBody>
          <a:bodyPr wrap="square" lIns="0" rIns="0" tIns="0" bIns="0">
            <a:spAutoFit/>
          </a:bodyPr>
          <a:lstStyle/>
          <a:p>
            <a:pPr>
              <a:lnSpc>
                <a:spcPct val="113000"/>
              </a:lnSpc>
              <a:spcAft>
                <a:spcPts val="0"/>
              </a:spcAft>
              <a:defRPr sz="1600" b="0">
                <a:solidFill>
                  <a:srgbClr val="1E191C"/>
                </a:solidFill>
                <a:latin typeface="Noto Sans"/>
              </a:defRPr>
            </a:pPr>
            <a:r>
              <a:rPr>
                <a:ea typeface="Noto Sans CJK SC"/>
              </a:rPr>
              <a:t>Frederick, Angela</a:t>
            </a:r>
          </a:p>
          <a:p>
            <a:pPr>
              <a:lnSpc>
                <a:spcPct val="113000"/>
              </a:lnSpc>
              <a:spcAft>
                <a:spcPts val="0"/>
              </a:spcAft>
              <a:defRPr sz="1600" b="0">
                <a:solidFill>
                  <a:srgbClr val="1E191C"/>
                </a:solidFill>
                <a:latin typeface="Noto Sans"/>
              </a:defRPr>
            </a:pPr>
            <a:r>
              <a:rPr>
                <a:ea typeface="Noto Sans CJK SC"/>
              </a:rPr>
              <a:t>and Charles</a:t>
            </a:r>
          </a:p>
        </p:txBody>
      </p:sp>
      <p:sp>
        <p:nvSpPr>
          <p:cNvPr id="12" name="Rectangle 11"/>
          <p:cNvSpPr/>
          <p:nvPr/>
        </p:nvSpPr>
        <p:spPr>
          <a:xfrm>
            <a:off x="4370832" y="1947672"/>
            <a:ext cx="3447288" cy="2377440"/>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581144" y="2167128"/>
            <a:ext cx="2286000" cy="941832"/>
          </a:xfrm>
          <a:prstGeom prst="rect">
            <a:avLst/>
          </a:prstGeom>
          <a:noFill/>
          <a:effectLst/>
        </p:spPr>
        <p:txBody>
          <a:bodyPr wrap="square" lIns="0" rIns="0" tIns="0" bIns="0">
            <a:spAutoFit/>
          </a:bodyPr>
          <a:lstStyle/>
          <a:p>
            <a:pPr>
              <a:lnSpc>
                <a:spcPct val="113000"/>
              </a:lnSpc>
              <a:spcAft>
                <a:spcPts val="0"/>
              </a:spcAft>
              <a:defRPr sz="4800" b="0">
                <a:solidFill>
                  <a:srgbClr val="7A202C"/>
                </a:solidFill>
                <a:latin typeface="Noto Serif"/>
              </a:defRPr>
            </a:pPr>
            <a:r>
              <a:rPr>
                <a:ea typeface="Noto Sans CJK SC"/>
              </a:rPr>
              <a:t>02</a:t>
            </a:r>
          </a:p>
        </p:txBody>
      </p:sp>
      <p:sp>
        <p:nvSpPr>
          <p:cNvPr id="14" name="TextBox 13"/>
          <p:cNvSpPr txBox="1"/>
          <p:nvPr/>
        </p:nvSpPr>
        <p:spPr>
          <a:xfrm>
            <a:off x="4617720" y="3218688"/>
            <a:ext cx="2926080" cy="237744"/>
          </a:xfrm>
          <a:prstGeom prst="rect">
            <a:avLst/>
          </a:prstGeom>
          <a:noFill/>
          <a:effectLst/>
        </p:spPr>
        <p:txBody>
          <a:bodyPr wrap="square" lIns="0" rIns="0" tIns="0" bIns="0">
            <a:spAutoFit/>
          </a:bodyPr>
          <a:lstStyle/>
          <a:p>
            <a:pPr>
              <a:lnSpc>
                <a:spcPct val="113000"/>
              </a:lnSpc>
              <a:spcAft>
                <a:spcPts val="0"/>
              </a:spcAft>
              <a:defRPr sz="1000" b="1">
                <a:solidFill>
                  <a:srgbClr val="A34450"/>
                </a:solidFill>
                <a:latin typeface="Noto Sans"/>
              </a:defRPr>
            </a:pPr>
            <a:r>
              <a:rPr>
                <a:ea typeface="Noto Sans CJK SC"/>
              </a:rPr>
              <a:t>AGREEMENTS</a:t>
            </a:r>
          </a:p>
        </p:txBody>
      </p:sp>
      <p:sp>
        <p:nvSpPr>
          <p:cNvPr id="15" name="TextBox 14"/>
          <p:cNvSpPr txBox="1"/>
          <p:nvPr/>
        </p:nvSpPr>
        <p:spPr>
          <a:xfrm>
            <a:off x="4617720" y="3611880"/>
            <a:ext cx="2953512" cy="612648"/>
          </a:xfrm>
          <a:prstGeom prst="rect">
            <a:avLst/>
          </a:prstGeom>
          <a:noFill/>
          <a:effectLst/>
        </p:spPr>
        <p:txBody>
          <a:bodyPr wrap="square" lIns="0" rIns="0" tIns="0" bIns="0">
            <a:spAutoFit/>
          </a:bodyPr>
          <a:lstStyle/>
          <a:p>
            <a:pPr>
              <a:lnSpc>
                <a:spcPct val="113000"/>
              </a:lnSpc>
              <a:spcAft>
                <a:spcPts val="0"/>
              </a:spcAft>
              <a:defRPr sz="1600" b="0">
                <a:solidFill>
                  <a:srgbClr val="1E191C"/>
                </a:solidFill>
                <a:latin typeface="Noto Sans"/>
              </a:defRPr>
            </a:pPr>
            <a:r>
              <a:rPr>
                <a:ea typeface="Noto Sans CJK SC"/>
              </a:rPr>
              <a:t>Head tenancy and</a:t>
            </a:r>
          </a:p>
          <a:p>
            <a:pPr>
              <a:lnSpc>
                <a:spcPct val="113000"/>
              </a:lnSpc>
              <a:spcAft>
                <a:spcPts val="0"/>
              </a:spcAft>
              <a:defRPr sz="1600" b="0">
                <a:solidFill>
                  <a:srgbClr val="1E191C"/>
                </a:solidFill>
                <a:latin typeface="Noto Sans"/>
              </a:defRPr>
            </a:pPr>
            <a:r>
              <a:rPr>
                <a:ea typeface="Noto Sans CJK SC"/>
              </a:rPr>
              <a:t>sub-tenancy</a:t>
            </a:r>
          </a:p>
        </p:txBody>
      </p:sp>
      <p:sp>
        <p:nvSpPr>
          <p:cNvPr id="16" name="Rectangle 15"/>
          <p:cNvSpPr/>
          <p:nvPr/>
        </p:nvSpPr>
        <p:spPr>
          <a:xfrm>
            <a:off x="8110727" y="1947672"/>
            <a:ext cx="3447288" cy="2377440"/>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321040" y="2167128"/>
            <a:ext cx="2286000" cy="941832"/>
          </a:xfrm>
          <a:prstGeom prst="rect">
            <a:avLst/>
          </a:prstGeom>
          <a:noFill/>
          <a:effectLst/>
        </p:spPr>
        <p:txBody>
          <a:bodyPr wrap="square" lIns="0" rIns="0" tIns="0" bIns="0">
            <a:spAutoFit/>
          </a:bodyPr>
          <a:lstStyle/>
          <a:p>
            <a:pPr>
              <a:lnSpc>
                <a:spcPct val="113000"/>
              </a:lnSpc>
              <a:spcAft>
                <a:spcPts val="0"/>
              </a:spcAft>
              <a:defRPr sz="4800" b="0">
                <a:solidFill>
                  <a:srgbClr val="7A202C"/>
                </a:solidFill>
                <a:latin typeface="Noto Serif"/>
              </a:defRPr>
            </a:pPr>
            <a:r>
              <a:rPr>
                <a:ea typeface="Noto Sans CJK SC"/>
              </a:rPr>
              <a:t>02</a:t>
            </a:r>
          </a:p>
        </p:txBody>
      </p:sp>
      <p:sp>
        <p:nvSpPr>
          <p:cNvPr id="18" name="TextBox 17"/>
          <p:cNvSpPr txBox="1"/>
          <p:nvPr/>
        </p:nvSpPr>
        <p:spPr>
          <a:xfrm>
            <a:off x="8357615" y="3218688"/>
            <a:ext cx="2926080" cy="237744"/>
          </a:xfrm>
          <a:prstGeom prst="rect">
            <a:avLst/>
          </a:prstGeom>
          <a:noFill/>
          <a:effectLst/>
        </p:spPr>
        <p:txBody>
          <a:bodyPr wrap="square" lIns="0" rIns="0" tIns="0" bIns="0">
            <a:spAutoFit/>
          </a:bodyPr>
          <a:lstStyle/>
          <a:p>
            <a:pPr>
              <a:lnSpc>
                <a:spcPct val="113000"/>
              </a:lnSpc>
              <a:spcAft>
                <a:spcPts val="0"/>
              </a:spcAft>
              <a:defRPr sz="1000" b="1">
                <a:solidFill>
                  <a:srgbClr val="A34450"/>
                </a:solidFill>
                <a:latin typeface="Noto Sans"/>
              </a:defRPr>
            </a:pPr>
            <a:r>
              <a:rPr>
                <a:ea typeface="Noto Sans CJK SC"/>
              </a:rPr>
              <a:t>CORE QUESTIONS</a:t>
            </a:r>
          </a:p>
        </p:txBody>
      </p:sp>
      <p:sp>
        <p:nvSpPr>
          <p:cNvPr id="19" name="TextBox 18"/>
          <p:cNvSpPr txBox="1"/>
          <p:nvPr/>
        </p:nvSpPr>
        <p:spPr>
          <a:xfrm>
            <a:off x="8357615" y="3611880"/>
            <a:ext cx="2953512" cy="612648"/>
          </a:xfrm>
          <a:prstGeom prst="rect">
            <a:avLst/>
          </a:prstGeom>
          <a:noFill/>
          <a:effectLst/>
        </p:spPr>
        <p:txBody>
          <a:bodyPr wrap="square" lIns="0" rIns="0" tIns="0" bIns="0">
            <a:spAutoFit/>
          </a:bodyPr>
          <a:lstStyle/>
          <a:p>
            <a:pPr>
              <a:lnSpc>
                <a:spcPct val="113000"/>
              </a:lnSpc>
              <a:spcAft>
                <a:spcPts val="0"/>
              </a:spcAft>
              <a:defRPr sz="1600" b="0">
                <a:solidFill>
                  <a:srgbClr val="1E191C"/>
                </a:solidFill>
                <a:latin typeface="Noto Sans"/>
              </a:defRPr>
            </a:pPr>
            <a:r>
              <a:rPr>
                <a:ea typeface="Noto Sans CJK SC"/>
              </a:rPr>
              <a:t>Early possession</a:t>
            </a:r>
          </a:p>
          <a:p>
            <a:pPr>
              <a:lnSpc>
                <a:spcPct val="113000"/>
              </a:lnSpc>
              <a:spcAft>
                <a:spcPts val="0"/>
              </a:spcAft>
              <a:defRPr sz="1600" b="0">
                <a:solidFill>
                  <a:srgbClr val="1E191C"/>
                </a:solidFill>
                <a:latin typeface="Noto Sans"/>
              </a:defRPr>
            </a:pPr>
            <a:r>
              <a:rPr>
                <a:ea typeface="Noto Sans CJK SC"/>
              </a:rPr>
              <a:t>and renewal</a:t>
            </a:r>
          </a:p>
        </p:txBody>
      </p:sp>
      <p:sp>
        <p:nvSpPr>
          <p:cNvPr id="20" name="Rectangle 19"/>
          <p:cNvSpPr/>
          <p:nvPr/>
        </p:nvSpPr>
        <p:spPr>
          <a:xfrm>
            <a:off x="630936" y="4754880"/>
            <a:ext cx="10936224" cy="1133856"/>
          </a:xfrm>
          <a:prstGeom prst="rect">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68680" y="4983480"/>
            <a:ext cx="9144000" cy="237744"/>
          </a:xfrm>
          <a:prstGeom prst="rect">
            <a:avLst/>
          </a:prstGeom>
          <a:noFill/>
          <a:effectLst/>
        </p:spPr>
        <p:txBody>
          <a:bodyPr wrap="square" lIns="0" rIns="0" tIns="0" bIns="0">
            <a:spAutoFit/>
          </a:bodyPr>
          <a:lstStyle/>
          <a:p>
            <a:pPr>
              <a:lnSpc>
                <a:spcPct val="113000"/>
              </a:lnSpc>
              <a:spcAft>
                <a:spcPts val="0"/>
              </a:spcAft>
              <a:defRPr sz="900" b="1">
                <a:solidFill>
                  <a:srgbClr val="E3BEC5"/>
                </a:solidFill>
                <a:latin typeface="Noto Sans"/>
              </a:defRPr>
            </a:pPr>
            <a:r>
              <a:rPr>
                <a:ea typeface="Noto Sans CJK SC"/>
              </a:rPr>
              <a:t>THE CENTRAL DISTINCTION</a:t>
            </a:r>
          </a:p>
        </p:txBody>
      </p:sp>
      <p:sp>
        <p:nvSpPr>
          <p:cNvPr id="22" name="TextBox 21"/>
          <p:cNvSpPr txBox="1"/>
          <p:nvPr/>
        </p:nvSpPr>
        <p:spPr>
          <a:xfrm>
            <a:off x="868680" y="5340096"/>
            <a:ext cx="10332720" cy="402336"/>
          </a:xfrm>
          <a:prstGeom prst="rect">
            <a:avLst/>
          </a:prstGeom>
          <a:noFill/>
          <a:effectLst/>
        </p:spPr>
        <p:txBody>
          <a:bodyPr wrap="square" lIns="0" rIns="0" tIns="0" bIns="0">
            <a:spAutoFit/>
          </a:bodyPr>
          <a:lstStyle/>
          <a:p>
            <a:pPr>
              <a:lnSpc>
                <a:spcPct val="113000"/>
              </a:lnSpc>
              <a:spcAft>
                <a:spcPts val="0"/>
              </a:spcAft>
              <a:defRPr sz="2000" b="0">
                <a:solidFill>
                  <a:srgbClr val="FFFFFF"/>
                </a:solidFill>
                <a:latin typeface="Noto Serif"/>
              </a:defRPr>
            </a:pPr>
            <a:r>
              <a:rPr>
                <a:ea typeface="Noto Sans CJK SC"/>
              </a:rPr>
              <a:t>Recovery requires breach and procedure; renewal turns on rent determination.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7A202C"/>
        </a:solidFill>
        <a:effectLst/>
      </p:bgPr>
    </p:bg>
    <p:spTree>
      <p:nvGrpSpPr>
        <p:cNvPr id="1" name=""/>
        <p:cNvGrpSpPr/>
        <p:nvPr/>
      </p:nvGrpSpPr>
      <p:grpSpPr/>
      <p:cxnSp>
        <p:nvCxnSpPr>
          <p:cNvPr id="2" name="Connector 1"/>
          <p:cNvCxnSpPr/>
          <p:nvPr/>
        </p:nvCxnSpPr>
        <p:spPr>
          <a:xfrm>
            <a:off x="621792" y="6437376"/>
            <a:ext cx="10945368" cy="0"/>
          </a:xfrm>
          <a:prstGeom prst="line">
            <a:avLst/>
          </a:prstGeom>
          <a:ln w="7620">
            <a:solidFill>
              <a:srgbClr val="9C5663"/>
            </a:solidFill>
          </a:ln>
          <a:effectLst/>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630936" y="6556248"/>
            <a:ext cx="5486400" cy="237744"/>
          </a:xfrm>
          <a:prstGeom prst="rect">
            <a:avLst/>
          </a:prstGeom>
          <a:noFill/>
          <a:effectLst/>
        </p:spPr>
        <p:txBody>
          <a:bodyPr wrap="square" lIns="0" rIns="0" tIns="0" bIns="0">
            <a:spAutoFit/>
          </a:bodyPr>
          <a:lstStyle/>
          <a:p>
            <a:pPr>
              <a:lnSpc>
                <a:spcPct val="113000"/>
              </a:lnSpc>
              <a:spcAft>
                <a:spcPts val="0"/>
              </a:spcAft>
              <a:defRPr sz="800" b="1">
                <a:solidFill>
                  <a:srgbClr val="D8BAC0"/>
                </a:solidFill>
                <a:latin typeface="Noto Sans"/>
              </a:defRPr>
            </a:pPr>
            <a:r>
              <a:rPr>
                <a:ea typeface="Noto Sans CJK SC"/>
              </a:rPr>
              <a:t>5957  /  TENANCY DISPUTE</a:t>
            </a:r>
          </a:p>
        </p:txBody>
      </p:sp>
      <p:sp>
        <p:nvSpPr>
          <p:cNvPr id="4" name="TextBox 3"/>
          <p:cNvSpPr txBox="1"/>
          <p:nvPr/>
        </p:nvSpPr>
        <p:spPr>
          <a:xfrm>
            <a:off x="10149840" y="6537960"/>
            <a:ext cx="1399032" cy="201168"/>
          </a:xfrm>
          <a:prstGeom prst="rect">
            <a:avLst/>
          </a:prstGeom>
          <a:noFill/>
          <a:effectLst/>
        </p:spPr>
        <p:txBody>
          <a:bodyPr wrap="square" lIns="0" rIns="0" tIns="0" bIns="0">
            <a:spAutoFit/>
          </a:bodyPr>
          <a:lstStyle/>
          <a:p>
            <a:pPr algn="r">
              <a:lnSpc>
                <a:spcPct val="113000"/>
              </a:lnSpc>
              <a:spcAft>
                <a:spcPts val="0"/>
              </a:spcAft>
              <a:defRPr sz="800" b="0">
                <a:solidFill>
                  <a:srgbClr val="D8BAC0"/>
                </a:solidFill>
                <a:latin typeface="Noto Sans"/>
              </a:defRPr>
            </a:pPr>
            <a:r>
              <a:rPr>
                <a:ea typeface="Noto Sans CJK SC"/>
              </a:rPr>
              <a:t>04  /  30</a:t>
            </a:r>
          </a:p>
        </p:txBody>
      </p:sp>
      <p:sp>
        <p:nvSpPr>
          <p:cNvPr id="5" name="TextBox 4"/>
          <p:cNvSpPr txBox="1"/>
          <p:nvPr/>
        </p:nvSpPr>
        <p:spPr>
          <a:xfrm>
            <a:off x="676656" y="621792"/>
            <a:ext cx="9144000" cy="237744"/>
          </a:xfrm>
          <a:prstGeom prst="rect">
            <a:avLst/>
          </a:prstGeom>
          <a:noFill/>
          <a:effectLst/>
        </p:spPr>
        <p:txBody>
          <a:bodyPr wrap="square" lIns="0" rIns="0" tIns="0" bIns="0">
            <a:spAutoFit/>
          </a:bodyPr>
          <a:lstStyle/>
          <a:p>
            <a:pPr>
              <a:lnSpc>
                <a:spcPct val="113000"/>
              </a:lnSpc>
              <a:spcAft>
                <a:spcPts val="0"/>
              </a:spcAft>
              <a:defRPr sz="900" b="1">
                <a:solidFill>
                  <a:srgbClr val="E9CDD2"/>
                </a:solidFill>
                <a:latin typeface="Noto Sans"/>
              </a:defRPr>
            </a:pPr>
            <a:r>
              <a:rPr>
                <a:ea typeface="Noto Sans CJK SC"/>
              </a:rPr>
              <a:t>CASE BRIEFING  /  SECTION 01</a:t>
            </a:r>
          </a:p>
        </p:txBody>
      </p:sp>
      <p:sp>
        <p:nvSpPr>
          <p:cNvPr id="6" name="TextBox 5"/>
          <p:cNvSpPr txBox="1"/>
          <p:nvPr/>
        </p:nvSpPr>
        <p:spPr>
          <a:xfrm>
            <a:off x="8887968" y="1271016"/>
            <a:ext cx="2423160" cy="2194560"/>
          </a:xfrm>
          <a:prstGeom prst="rect">
            <a:avLst/>
          </a:prstGeom>
          <a:noFill/>
          <a:effectLst/>
        </p:spPr>
        <p:txBody>
          <a:bodyPr wrap="square" lIns="0" rIns="0" tIns="0" bIns="0">
            <a:spAutoFit/>
          </a:bodyPr>
          <a:lstStyle/>
          <a:p>
            <a:pPr algn="r">
              <a:lnSpc>
                <a:spcPct val="113000"/>
              </a:lnSpc>
              <a:spcAft>
                <a:spcPts val="0"/>
              </a:spcAft>
              <a:defRPr sz="11200" b="0">
                <a:solidFill>
                  <a:srgbClr val="9C4858"/>
                </a:solidFill>
                <a:latin typeface="Noto Serif"/>
              </a:defRPr>
            </a:pPr>
            <a:r>
              <a:rPr>
                <a:ea typeface="Noto Sans CJK SC"/>
              </a:rPr>
              <a:t>01</a:t>
            </a:r>
          </a:p>
        </p:txBody>
      </p:sp>
      <p:cxnSp>
        <p:nvCxnSpPr>
          <p:cNvPr id="7" name="Connector 6"/>
          <p:cNvCxnSpPr/>
          <p:nvPr/>
        </p:nvCxnSpPr>
        <p:spPr>
          <a:xfrm>
            <a:off x="694944" y="2267712"/>
            <a:ext cx="813816" cy="0"/>
          </a:xfrm>
          <a:prstGeom prst="line">
            <a:avLst/>
          </a:prstGeom>
          <a:ln w="25400">
            <a:solidFill>
              <a:srgbClr val="D4A59A"/>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640080" y="2688336"/>
            <a:ext cx="9875520" cy="1170432"/>
          </a:xfrm>
          <a:prstGeom prst="rect">
            <a:avLst/>
          </a:prstGeom>
          <a:noFill/>
          <a:effectLst/>
        </p:spPr>
        <p:txBody>
          <a:bodyPr wrap="square" lIns="0" rIns="0" tIns="0" bIns="0">
            <a:spAutoFit/>
          </a:bodyPr>
          <a:lstStyle/>
          <a:p>
            <a:pPr>
              <a:lnSpc>
                <a:spcPct val="113000"/>
              </a:lnSpc>
              <a:spcAft>
                <a:spcPts val="0"/>
              </a:spcAft>
              <a:defRPr sz="4500" b="0">
                <a:solidFill>
                  <a:srgbClr val="FFFFFF"/>
                </a:solidFill>
                <a:latin typeface="Noto Serif"/>
              </a:defRPr>
            </a:pPr>
            <a:r>
              <a:rPr>
                <a:ea typeface="Noto Sans CJK SC"/>
              </a:rPr>
              <a:t>Facts &amp; relationships</a:t>
            </a:r>
          </a:p>
        </p:txBody>
      </p:sp>
      <p:sp>
        <p:nvSpPr>
          <p:cNvPr id="9" name="TextBox 8"/>
          <p:cNvSpPr txBox="1"/>
          <p:nvPr/>
        </p:nvSpPr>
        <p:spPr>
          <a:xfrm>
            <a:off x="694944" y="4343400"/>
            <a:ext cx="8686800" cy="777240"/>
          </a:xfrm>
          <a:prstGeom prst="rect">
            <a:avLst/>
          </a:prstGeom>
          <a:noFill/>
          <a:effectLst/>
        </p:spPr>
        <p:txBody>
          <a:bodyPr wrap="square" lIns="0" rIns="0" tIns="0" bIns="0">
            <a:spAutoFit/>
          </a:bodyPr>
          <a:lstStyle/>
          <a:p>
            <a:pPr>
              <a:lnSpc>
                <a:spcPct val="113000"/>
              </a:lnSpc>
              <a:spcAft>
                <a:spcPts val="0"/>
              </a:spcAft>
              <a:defRPr sz="2100" b="0">
                <a:solidFill>
                  <a:srgbClr val="E9CDD2"/>
                </a:solidFill>
                <a:latin typeface="Noto Sans"/>
              </a:defRPr>
            </a:pPr>
            <a:r>
              <a:rPr>
                <a:ea typeface="Noto Sans CJK SC"/>
              </a:rPr>
              <a:t>Who is involved, how they are connected, and what happened.</a:t>
            </a:r>
          </a:p>
        </p:txBody>
      </p:sp>
      <p:cxnSp>
        <p:nvCxnSpPr>
          <p:cNvPr id="10" name="Connector 9"/>
          <p:cNvCxnSpPr/>
          <p:nvPr/>
        </p:nvCxnSpPr>
        <p:spPr>
          <a:xfrm>
            <a:off x="9015984" y="4123944"/>
            <a:ext cx="0" cy="1728216"/>
          </a:xfrm>
          <a:prstGeom prst="line">
            <a:avLst/>
          </a:prstGeom>
          <a:ln w="8890">
            <a:solidFill>
              <a:srgbClr val="A25562"/>
            </a:solidFill>
          </a:ln>
          <a:effectLst/>
        </p:spPr>
        <p:style>
          <a:lnRef idx="2">
            <a:schemeClr val="accent1"/>
          </a:lnRef>
          <a:fillRef idx="0">
            <a:schemeClr val="accent1"/>
          </a:fillRef>
          <a:effectRef idx="0">
            <a:schemeClr val="accent1"/>
          </a:effectRef>
          <a:fontRef idx="minor">
            <a:schemeClr val="tx1"/>
          </a:fontRef>
        </p:style>
      </p:cxnSp>
      <p:cxnSp>
        <p:nvCxnSpPr>
          <p:cNvPr id="11" name="Connector 10"/>
          <p:cNvCxnSpPr/>
          <p:nvPr/>
        </p:nvCxnSpPr>
        <p:spPr>
          <a:xfrm>
            <a:off x="9674352" y="4123944"/>
            <a:ext cx="0" cy="1728216"/>
          </a:xfrm>
          <a:prstGeom prst="line">
            <a:avLst/>
          </a:prstGeom>
          <a:ln w="8890">
            <a:solidFill>
              <a:srgbClr val="A25562"/>
            </a:solidFill>
          </a:ln>
          <a:effectLst/>
        </p:spPr>
        <p:style>
          <a:lnRef idx="2">
            <a:schemeClr val="accent1"/>
          </a:lnRef>
          <a:fillRef idx="0">
            <a:schemeClr val="accent1"/>
          </a:fillRef>
          <a:effectRef idx="0">
            <a:schemeClr val="accent1"/>
          </a:effectRef>
          <a:fontRef idx="minor">
            <a:schemeClr val="tx1"/>
          </a:fontRef>
        </p:style>
      </p:cxnSp>
      <p:cxnSp>
        <p:nvCxnSpPr>
          <p:cNvPr id="12" name="Connector 11"/>
          <p:cNvCxnSpPr/>
          <p:nvPr/>
        </p:nvCxnSpPr>
        <p:spPr>
          <a:xfrm>
            <a:off x="10332719" y="4123944"/>
            <a:ext cx="0" cy="1728216"/>
          </a:xfrm>
          <a:prstGeom prst="line">
            <a:avLst/>
          </a:prstGeom>
          <a:ln w="8890">
            <a:solidFill>
              <a:srgbClr val="A25562"/>
            </a:solidFill>
          </a:ln>
          <a:effectLst/>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a:off x="10991088" y="4123944"/>
            <a:ext cx="0" cy="1728216"/>
          </a:xfrm>
          <a:prstGeom prst="line">
            <a:avLst/>
          </a:prstGeom>
          <a:ln w="8890">
            <a:solidFill>
              <a:srgbClr val="A25562"/>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 name="TextBox 4"/>
          <p:cNvSpPr txBox="1"/>
          <p:nvPr/>
        </p:nvSpPr>
        <p:spPr>
          <a:xfrm>
            <a:off x="594360" y="274320"/>
            <a:ext cx="8229600" cy="228600"/>
          </a:xfrm>
          <a:prstGeom prst="rect">
            <a:avLst/>
          </a:prstGeom>
          <a:noFill/>
          <a:effectLst/>
        </p:spPr>
        <p:txBody>
          <a:bodyPr wrap="square" lIns="0" rIns="0" tIns="0" bIns="0">
            <a:spAutoFit/>
          </a:bodyPr>
          <a:lstStyle/>
          <a:p>
            <a:pPr>
              <a:lnSpc>
                <a:spcPct val="113000"/>
              </a:lnSpc>
              <a:spcAft>
                <a:spcPts val="0"/>
              </a:spcAft>
              <a:defRPr sz="800" b="1">
                <a:solidFill>
                  <a:srgbClr val="A34450"/>
                </a:solidFill>
                <a:latin typeface="Noto Sans"/>
              </a:defRPr>
            </a:pPr>
            <a:r>
              <a:rPr>
                <a:ea typeface="Noto Sans CJK SC"/>
              </a:rPr>
              <a:t>TENANCY DISPUTE  /  CASE BRIEFING</a:t>
            </a:r>
          </a:p>
        </p:txBody>
      </p:sp>
      <p:sp>
        <p:nvSpPr>
          <p:cNvPr id="6" name="TextBox 5"/>
          <p:cNvSpPr txBox="1"/>
          <p:nvPr/>
        </p:nvSpPr>
        <p:spPr>
          <a:xfrm>
            <a:off x="576072" y="667512"/>
            <a:ext cx="11064240" cy="640080"/>
          </a:xfrm>
          <a:prstGeom prst="rect">
            <a:avLst/>
          </a:prstGeom>
          <a:noFill/>
          <a:effectLst/>
        </p:spPr>
        <p:txBody>
          <a:bodyPr wrap="square" lIns="0" rIns="0" tIns="0" bIns="0">
            <a:spAutoFit/>
          </a:bodyPr>
          <a:lstStyle/>
          <a:p>
            <a:pPr>
              <a:lnSpc>
                <a:spcPct val="113000"/>
              </a:lnSpc>
              <a:spcAft>
                <a:spcPts val="0"/>
              </a:spcAft>
              <a:defRPr sz="3000" b="0">
                <a:solidFill>
                  <a:srgbClr val="7A202C"/>
                </a:solidFill>
                <a:latin typeface="Noto Serif"/>
              </a:defRPr>
            </a:pPr>
            <a:r>
              <a:rPr>
                <a:ea typeface="Noto Sans CJK SC"/>
              </a:rPr>
              <a:t>Facts, Relationships &amp; Issues</a:t>
            </a:r>
          </a:p>
        </p:txBody>
      </p:sp>
      <p:cxnSp>
        <p:nvCxnSpPr>
          <p:cNvPr id="7" name="Connector 6"/>
          <p:cNvCxnSpPr/>
          <p:nvPr/>
        </p:nvCxnSpPr>
        <p:spPr>
          <a:xfrm>
            <a:off x="603504" y="1399032"/>
            <a:ext cx="10981944" cy="0"/>
          </a:xfrm>
          <a:prstGeom prst="line">
            <a:avLst/>
          </a:prstGeom>
          <a:ln w="12700">
            <a:solidFill>
              <a:srgbClr val="D4A59A"/>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612648" y="1682496"/>
            <a:ext cx="4754880" cy="228600"/>
          </a:xfrm>
          <a:prstGeom prst="rect">
            <a:avLst/>
          </a:prstGeom>
          <a:noFill/>
          <a:effectLst/>
        </p:spPr>
        <p:txBody>
          <a:bodyPr wrap="square" lIns="0" rIns="0" tIns="0" bIns="0">
            <a:spAutoFit/>
          </a:bodyPr>
          <a:lstStyle/>
          <a:p>
            <a:pPr>
              <a:lnSpc>
                <a:spcPct val="113000"/>
              </a:lnSpc>
              <a:spcAft>
                <a:spcPts val="0"/>
              </a:spcAft>
              <a:defRPr sz="1200" b="1">
                <a:solidFill>
                  <a:srgbClr val="7A202C"/>
                </a:solidFill>
                <a:latin typeface="Noto Sans"/>
              </a:defRPr>
            </a:pPr>
            <a:r>
              <a:rPr>
                <a:ea typeface="Noto Sans CJK SC"/>
              </a:rPr>
              <a:t>01  /  LEGAL RELATIONSHIPS</a:t>
            </a:r>
          </a:p>
        </p:txBody>
      </p:sp>
      <p:sp>
        <p:nvSpPr>
          <p:cNvPr id="9" name="Rectangle 8"/>
          <p:cNvSpPr/>
          <p:nvPr/>
        </p:nvSpPr>
        <p:spPr>
          <a:xfrm>
            <a:off x="1088136" y="2176272"/>
            <a:ext cx="3401568" cy="548640"/>
          </a:xfrm>
          <a:prstGeom prst="rect">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280160" y="2313432"/>
            <a:ext cx="3026664" cy="301752"/>
          </a:xfrm>
          <a:prstGeom prst="rect">
            <a:avLst/>
          </a:prstGeom>
          <a:noFill/>
          <a:effectLst/>
        </p:spPr>
        <p:txBody>
          <a:bodyPr wrap="square" lIns="0" rIns="0" tIns="0" bIns="0">
            <a:spAutoFit/>
          </a:bodyPr>
          <a:lstStyle/>
          <a:p>
            <a:pPr algn="ctr">
              <a:lnSpc>
                <a:spcPct val="113000"/>
              </a:lnSpc>
              <a:spcAft>
                <a:spcPts val="0"/>
              </a:spcAft>
              <a:defRPr sz="1600" b="1">
                <a:solidFill>
                  <a:srgbClr val="FFFFFF"/>
                </a:solidFill>
                <a:latin typeface="Noto Sans"/>
              </a:defRPr>
            </a:pPr>
            <a:r>
              <a:rPr>
                <a:ea typeface="Noto Sans CJK SC"/>
              </a:rPr>
              <a:t>Frederick  /  Landlord</a:t>
            </a:r>
          </a:p>
        </p:txBody>
      </p:sp>
      <p:sp>
        <p:nvSpPr>
          <p:cNvPr id="11" name="Rectangle 10"/>
          <p:cNvSpPr/>
          <p:nvPr/>
        </p:nvSpPr>
        <p:spPr>
          <a:xfrm>
            <a:off x="1088136" y="3273552"/>
            <a:ext cx="3401568" cy="548640"/>
          </a:xfrm>
          <a:prstGeom prst="rect">
            <a:avLst/>
          </a:prstGeom>
          <a:solidFill>
            <a:srgbClr val="A3445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280160" y="3410712"/>
            <a:ext cx="3026664" cy="301752"/>
          </a:xfrm>
          <a:prstGeom prst="rect">
            <a:avLst/>
          </a:prstGeom>
          <a:noFill/>
          <a:effectLst/>
        </p:spPr>
        <p:txBody>
          <a:bodyPr wrap="square" lIns="0" rIns="0" tIns="0" bIns="0">
            <a:spAutoFit/>
          </a:bodyPr>
          <a:lstStyle/>
          <a:p>
            <a:pPr algn="ctr">
              <a:lnSpc>
                <a:spcPct val="113000"/>
              </a:lnSpc>
              <a:spcAft>
                <a:spcPts val="0"/>
              </a:spcAft>
              <a:defRPr sz="1600" b="1">
                <a:solidFill>
                  <a:srgbClr val="FFFFFF"/>
                </a:solidFill>
                <a:latin typeface="Noto Sans"/>
              </a:defRPr>
            </a:pPr>
            <a:r>
              <a:rPr>
                <a:ea typeface="Noto Sans CJK SC"/>
              </a:rPr>
              <a:t>Angela  /  Tenant</a:t>
            </a:r>
          </a:p>
        </p:txBody>
      </p:sp>
      <p:sp>
        <p:nvSpPr>
          <p:cNvPr id="13" name="Rectangle 12"/>
          <p:cNvSpPr/>
          <p:nvPr/>
        </p:nvSpPr>
        <p:spPr>
          <a:xfrm>
            <a:off x="1088136" y="4370832"/>
            <a:ext cx="3401568" cy="548640"/>
          </a:xfrm>
          <a:prstGeom prst="rect">
            <a:avLst/>
          </a:prstGeom>
          <a:solidFill>
            <a:srgbClr val="D4A59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1280160" y="4507992"/>
            <a:ext cx="3026664" cy="301752"/>
          </a:xfrm>
          <a:prstGeom prst="rect">
            <a:avLst/>
          </a:prstGeom>
          <a:noFill/>
          <a:effectLst/>
        </p:spPr>
        <p:txBody>
          <a:bodyPr wrap="square" lIns="0" rIns="0" tIns="0" bIns="0">
            <a:spAutoFit/>
          </a:bodyPr>
          <a:lstStyle/>
          <a:p>
            <a:pPr algn="ctr">
              <a:lnSpc>
                <a:spcPct val="113000"/>
              </a:lnSpc>
              <a:spcAft>
                <a:spcPts val="0"/>
              </a:spcAft>
              <a:defRPr sz="1600" b="1">
                <a:solidFill>
                  <a:srgbClr val="1E191C"/>
                </a:solidFill>
                <a:latin typeface="Noto Sans"/>
              </a:defRPr>
            </a:pPr>
            <a:r>
              <a:rPr>
                <a:ea typeface="Noto Sans CJK SC"/>
              </a:rPr>
              <a:t>Charles  /  Sub-tenant</a:t>
            </a:r>
          </a:p>
        </p:txBody>
      </p:sp>
      <p:cxnSp>
        <p:nvCxnSpPr>
          <p:cNvPr id="15" name="Connector 14"/>
          <p:cNvCxnSpPr/>
          <p:nvPr/>
        </p:nvCxnSpPr>
        <p:spPr>
          <a:xfrm>
            <a:off x="2788920" y="2724912"/>
            <a:ext cx="0" cy="548640"/>
          </a:xfrm>
          <a:prstGeom prst="line">
            <a:avLst/>
          </a:prstGeom>
          <a:ln w="15240">
            <a:solidFill>
              <a:srgbClr val="A34450"/>
            </a:solidFill>
          </a:ln>
          <a:effectLst/>
        </p:spPr>
        <p:style>
          <a:lnRef idx="2">
            <a:schemeClr val="accent1"/>
          </a:lnRef>
          <a:fillRef idx="0">
            <a:schemeClr val="accent1"/>
          </a:fillRef>
          <a:effectRef idx="0">
            <a:schemeClr val="accent1"/>
          </a:effectRef>
          <a:fontRef idx="minor">
            <a:schemeClr val="tx1"/>
          </a:fontRef>
        </p:style>
      </p:cxnSp>
      <p:sp>
        <p:nvSpPr>
          <p:cNvPr id="16" name="Diamond 15"/>
          <p:cNvSpPr/>
          <p:nvPr/>
        </p:nvSpPr>
        <p:spPr>
          <a:xfrm>
            <a:off x="2747772" y="3182112"/>
            <a:ext cx="82296" cy="82296"/>
          </a:xfrm>
          <a:prstGeom prst="diamond">
            <a:avLst/>
          </a:prstGeom>
          <a:solidFill>
            <a:srgbClr val="A3445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3008376" y="2898648"/>
            <a:ext cx="2331720" cy="274320"/>
          </a:xfrm>
          <a:prstGeom prst="rect">
            <a:avLst/>
          </a:prstGeom>
          <a:noFill/>
          <a:effectLst/>
        </p:spPr>
        <p:txBody>
          <a:bodyPr wrap="square" lIns="0" rIns="0" tIns="0" bIns="0">
            <a:spAutoFit/>
          </a:bodyPr>
          <a:lstStyle/>
          <a:p>
            <a:pPr>
              <a:lnSpc>
                <a:spcPct val="113000"/>
              </a:lnSpc>
              <a:spcAft>
                <a:spcPts val="0"/>
              </a:spcAft>
              <a:defRPr sz="1050" b="0">
                <a:solidFill>
                  <a:srgbClr val="5A5A5A"/>
                </a:solidFill>
                <a:latin typeface="Noto Sans"/>
              </a:defRPr>
            </a:pPr>
            <a:r>
              <a:rPr>
                <a:ea typeface="Noto Sans CJK SC"/>
              </a:rPr>
              <a:t>Head tenancy  ·  2 years</a:t>
            </a:r>
          </a:p>
        </p:txBody>
      </p:sp>
      <p:cxnSp>
        <p:nvCxnSpPr>
          <p:cNvPr id="18" name="Connector 17"/>
          <p:cNvCxnSpPr/>
          <p:nvPr/>
        </p:nvCxnSpPr>
        <p:spPr>
          <a:xfrm>
            <a:off x="2788920" y="3822191"/>
            <a:ext cx="0" cy="548640"/>
          </a:xfrm>
          <a:prstGeom prst="line">
            <a:avLst/>
          </a:prstGeom>
          <a:ln w="15240">
            <a:solidFill>
              <a:srgbClr val="A34450"/>
            </a:solidFill>
          </a:ln>
          <a:effectLst/>
        </p:spPr>
        <p:style>
          <a:lnRef idx="2">
            <a:schemeClr val="accent1"/>
          </a:lnRef>
          <a:fillRef idx="0">
            <a:schemeClr val="accent1"/>
          </a:fillRef>
          <a:effectRef idx="0">
            <a:schemeClr val="accent1"/>
          </a:effectRef>
          <a:fontRef idx="minor">
            <a:schemeClr val="tx1"/>
          </a:fontRef>
        </p:style>
      </p:cxnSp>
      <p:sp>
        <p:nvSpPr>
          <p:cNvPr id="19" name="Diamond 18"/>
          <p:cNvSpPr/>
          <p:nvPr/>
        </p:nvSpPr>
        <p:spPr>
          <a:xfrm>
            <a:off x="2747772" y="4279392"/>
            <a:ext cx="82296" cy="82296"/>
          </a:xfrm>
          <a:prstGeom prst="diamond">
            <a:avLst/>
          </a:prstGeom>
          <a:solidFill>
            <a:srgbClr val="A3445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3008376" y="3995928"/>
            <a:ext cx="2331720" cy="274320"/>
          </a:xfrm>
          <a:prstGeom prst="rect">
            <a:avLst/>
          </a:prstGeom>
          <a:noFill/>
          <a:effectLst/>
        </p:spPr>
        <p:txBody>
          <a:bodyPr wrap="square" lIns="0" rIns="0" tIns="0" bIns="0">
            <a:spAutoFit/>
          </a:bodyPr>
          <a:lstStyle/>
          <a:p>
            <a:pPr>
              <a:lnSpc>
                <a:spcPct val="113000"/>
              </a:lnSpc>
              <a:spcAft>
                <a:spcPts val="0"/>
              </a:spcAft>
              <a:defRPr sz="1050" b="0">
                <a:solidFill>
                  <a:srgbClr val="5A5A5A"/>
                </a:solidFill>
                <a:latin typeface="Noto Sans"/>
              </a:defRPr>
            </a:pPr>
            <a:r>
              <a:rPr>
                <a:ea typeface="Noto Sans CJK SC"/>
              </a:rPr>
              <a:t>Sub-tenancy agreement</a:t>
            </a:r>
          </a:p>
        </p:txBody>
      </p:sp>
      <p:sp>
        <p:nvSpPr>
          <p:cNvPr id="21" name="TextBox 20"/>
          <p:cNvSpPr txBox="1"/>
          <p:nvPr/>
        </p:nvSpPr>
        <p:spPr>
          <a:xfrm>
            <a:off x="886968" y="5157216"/>
            <a:ext cx="4343400" cy="484632"/>
          </a:xfrm>
          <a:prstGeom prst="rect">
            <a:avLst/>
          </a:prstGeom>
          <a:noFill/>
          <a:effectLst/>
        </p:spPr>
        <p:txBody>
          <a:bodyPr wrap="square" lIns="0" rIns="0" tIns="0" bIns="0">
            <a:spAutoFit/>
          </a:bodyPr>
          <a:lstStyle/>
          <a:p>
            <a:pPr algn="ctr">
              <a:lnSpc>
                <a:spcPct val="113000"/>
              </a:lnSpc>
              <a:spcAft>
                <a:spcPts val="0"/>
              </a:spcAft>
              <a:defRPr sz="1100" b="0">
                <a:solidFill>
                  <a:srgbClr val="5A5A5A"/>
                </a:solidFill>
                <a:latin typeface="Noto Sans"/>
              </a:defRPr>
            </a:pPr>
            <a:r>
              <a:rPr>
                <a:ea typeface="Noto Sans CJK SC"/>
              </a:rPr>
              <a:t>No direct contractual relationship between</a:t>
            </a:r>
          </a:p>
          <a:p>
            <a:pPr algn="ctr">
              <a:lnSpc>
                <a:spcPct val="113000"/>
              </a:lnSpc>
              <a:spcAft>
                <a:spcPts val="0"/>
              </a:spcAft>
              <a:defRPr sz="1100" b="0">
                <a:solidFill>
                  <a:srgbClr val="5A5A5A"/>
                </a:solidFill>
                <a:latin typeface="Noto Sans"/>
              </a:defRPr>
            </a:pPr>
            <a:r>
              <a:rPr>
                <a:ea typeface="Noto Sans CJK SC"/>
              </a:rPr>
              <a:t>Frederick and Charles</a:t>
            </a:r>
          </a:p>
        </p:txBody>
      </p:sp>
      <p:sp>
        <p:nvSpPr>
          <p:cNvPr id="22" name="TextBox 21"/>
          <p:cNvSpPr txBox="1"/>
          <p:nvPr/>
        </p:nvSpPr>
        <p:spPr>
          <a:xfrm>
            <a:off x="612648" y="5660136"/>
            <a:ext cx="2743200" cy="228600"/>
          </a:xfrm>
          <a:prstGeom prst="rect">
            <a:avLst/>
          </a:prstGeom>
          <a:noFill/>
          <a:effectLst/>
        </p:spPr>
        <p:txBody>
          <a:bodyPr wrap="square" lIns="0" rIns="0" tIns="0" bIns="0">
            <a:spAutoFit/>
          </a:bodyPr>
          <a:lstStyle/>
          <a:p>
            <a:pPr>
              <a:lnSpc>
                <a:spcPct val="113000"/>
              </a:lnSpc>
              <a:spcAft>
                <a:spcPts val="0"/>
              </a:spcAft>
              <a:defRPr sz="1000" b="1">
                <a:solidFill>
                  <a:srgbClr val="7A202C"/>
                </a:solidFill>
                <a:latin typeface="Noto Sans"/>
              </a:defRPr>
            </a:pPr>
            <a:r>
              <a:rPr>
                <a:ea typeface="Noto Sans CJK SC"/>
              </a:rPr>
              <a:t>TIMELINE</a:t>
            </a:r>
          </a:p>
        </p:txBody>
      </p:sp>
      <p:cxnSp>
        <p:nvCxnSpPr>
          <p:cNvPr id="23" name="Connector 22"/>
          <p:cNvCxnSpPr/>
          <p:nvPr/>
        </p:nvCxnSpPr>
        <p:spPr>
          <a:xfrm>
            <a:off x="777240" y="5998464"/>
            <a:ext cx="4480560" cy="0"/>
          </a:xfrm>
          <a:prstGeom prst="line">
            <a:avLst/>
          </a:prstGeom>
          <a:ln w="13970">
            <a:solidFill>
              <a:srgbClr val="D4A59A"/>
            </a:solidFill>
          </a:ln>
          <a:effectLst/>
        </p:spPr>
        <p:style>
          <a:lnRef idx="2">
            <a:schemeClr val="accent1"/>
          </a:lnRef>
          <a:fillRef idx="0">
            <a:schemeClr val="accent1"/>
          </a:fillRef>
          <a:effectRef idx="0">
            <a:schemeClr val="accent1"/>
          </a:effectRef>
          <a:fontRef idx="minor">
            <a:schemeClr val="tx1"/>
          </a:fontRef>
        </p:style>
      </p:cxnSp>
      <p:sp>
        <p:nvSpPr>
          <p:cNvPr id="24" name="Oval 23"/>
          <p:cNvSpPr/>
          <p:nvPr/>
        </p:nvSpPr>
        <p:spPr>
          <a:xfrm>
            <a:off x="886968" y="5943600"/>
            <a:ext cx="109728" cy="109728"/>
          </a:xfrm>
          <a:prstGeom prst="ellipse">
            <a:avLst/>
          </a:prstGeom>
          <a:solidFill>
            <a:srgbClr val="A3445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612648" y="6153912"/>
            <a:ext cx="2103120" cy="173736"/>
          </a:xfrm>
          <a:prstGeom prst="rect">
            <a:avLst/>
          </a:prstGeom>
          <a:noFill/>
          <a:effectLst/>
        </p:spPr>
        <p:txBody>
          <a:bodyPr wrap="square" lIns="0" rIns="0" tIns="0" bIns="0">
            <a:spAutoFit/>
          </a:bodyPr>
          <a:lstStyle/>
          <a:p>
            <a:pPr>
              <a:lnSpc>
                <a:spcPct val="113000"/>
              </a:lnSpc>
              <a:spcAft>
                <a:spcPts val="0"/>
              </a:spcAft>
              <a:defRPr sz="800" b="1">
                <a:solidFill>
                  <a:srgbClr val="1E191C"/>
                </a:solidFill>
                <a:latin typeface="Noto Sans"/>
              </a:defRPr>
            </a:pPr>
            <a:r>
              <a:rPr>
                <a:ea typeface="Noto Sans CJK SC"/>
              </a:rPr>
              <a:t>1 DEC · PREVIOUS YEAR</a:t>
            </a:r>
          </a:p>
        </p:txBody>
      </p:sp>
      <p:sp>
        <p:nvSpPr>
          <p:cNvPr id="26" name="TextBox 25"/>
          <p:cNvSpPr txBox="1"/>
          <p:nvPr/>
        </p:nvSpPr>
        <p:spPr>
          <a:xfrm>
            <a:off x="612648" y="6336792"/>
            <a:ext cx="2103120" cy="164592"/>
          </a:xfrm>
          <a:prstGeom prst="rect">
            <a:avLst/>
          </a:prstGeom>
          <a:noFill/>
          <a:effectLst/>
        </p:spPr>
        <p:txBody>
          <a:bodyPr wrap="square" lIns="0" rIns="0" tIns="0" bIns="0">
            <a:spAutoFit/>
          </a:bodyPr>
          <a:lstStyle/>
          <a:p>
            <a:pPr>
              <a:lnSpc>
                <a:spcPct val="113000"/>
              </a:lnSpc>
              <a:spcAft>
                <a:spcPts val="0"/>
              </a:spcAft>
              <a:defRPr sz="800" b="0">
                <a:solidFill>
                  <a:srgbClr val="5A5A5A"/>
                </a:solidFill>
                <a:latin typeface="Noto Sans"/>
              </a:defRPr>
            </a:pPr>
            <a:r>
              <a:rPr>
                <a:ea typeface="Noto Sans CJK SC"/>
              </a:rPr>
              <a:t>Tenancy commenced</a:t>
            </a:r>
          </a:p>
        </p:txBody>
      </p:sp>
      <p:sp>
        <p:nvSpPr>
          <p:cNvPr id="27" name="Oval 26"/>
          <p:cNvSpPr/>
          <p:nvPr/>
        </p:nvSpPr>
        <p:spPr>
          <a:xfrm>
            <a:off x="4352544" y="5943600"/>
            <a:ext cx="109728" cy="109728"/>
          </a:xfrm>
          <a:prstGeom prst="ellipse">
            <a:avLst/>
          </a:prstGeom>
          <a:solidFill>
            <a:srgbClr val="A3445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3602736" y="6153912"/>
            <a:ext cx="2103120" cy="173736"/>
          </a:xfrm>
          <a:prstGeom prst="rect">
            <a:avLst/>
          </a:prstGeom>
          <a:noFill/>
          <a:effectLst/>
        </p:spPr>
        <p:txBody>
          <a:bodyPr wrap="square" lIns="0" rIns="0" tIns="0" bIns="0">
            <a:spAutoFit/>
          </a:bodyPr>
          <a:lstStyle/>
          <a:p>
            <a:pPr>
              <a:lnSpc>
                <a:spcPct val="113000"/>
              </a:lnSpc>
              <a:spcAft>
                <a:spcPts val="0"/>
              </a:spcAft>
              <a:defRPr sz="800" b="1">
                <a:solidFill>
                  <a:srgbClr val="1E191C"/>
                </a:solidFill>
                <a:latin typeface="Noto Sans"/>
              </a:defRPr>
            </a:pPr>
            <a:r>
              <a:rPr>
                <a:ea typeface="Noto Sans CJK SC"/>
              </a:rPr>
              <a:t>1 SEP · CURRENT YEAR</a:t>
            </a:r>
          </a:p>
        </p:txBody>
      </p:sp>
      <p:sp>
        <p:nvSpPr>
          <p:cNvPr id="29" name="TextBox 28"/>
          <p:cNvSpPr txBox="1"/>
          <p:nvPr/>
        </p:nvSpPr>
        <p:spPr>
          <a:xfrm>
            <a:off x="3602736" y="6336792"/>
            <a:ext cx="2103120" cy="164592"/>
          </a:xfrm>
          <a:prstGeom prst="rect">
            <a:avLst/>
          </a:prstGeom>
          <a:noFill/>
          <a:effectLst/>
        </p:spPr>
        <p:txBody>
          <a:bodyPr wrap="square" lIns="0" rIns="0" tIns="0" bIns="0">
            <a:spAutoFit/>
          </a:bodyPr>
          <a:lstStyle/>
          <a:p>
            <a:pPr>
              <a:lnSpc>
                <a:spcPct val="113000"/>
              </a:lnSpc>
              <a:spcAft>
                <a:spcPts val="0"/>
              </a:spcAft>
              <a:defRPr sz="800" b="0">
                <a:solidFill>
                  <a:srgbClr val="5A5A5A"/>
                </a:solidFill>
                <a:latin typeface="Noto Sans"/>
              </a:defRPr>
            </a:pPr>
            <a:r>
              <a:rPr>
                <a:ea typeface="Noto Sans CJK SC"/>
              </a:rPr>
              <a:t>Noise complaint received</a:t>
            </a:r>
          </a:p>
        </p:txBody>
      </p:sp>
      <p:cxnSp>
        <p:nvCxnSpPr>
          <p:cNvPr id="30" name="Connector 29"/>
          <p:cNvCxnSpPr/>
          <p:nvPr/>
        </p:nvCxnSpPr>
        <p:spPr>
          <a:xfrm>
            <a:off x="5660136" y="1691640"/>
            <a:ext cx="0" cy="4553712"/>
          </a:xfrm>
          <a:prstGeom prst="line">
            <a:avLst/>
          </a:prstGeom>
          <a:ln w="8255">
            <a:solidFill>
              <a:srgbClr val="E6D9DA"/>
            </a:solidFill>
          </a:ln>
          <a:effectLst/>
        </p:spPr>
        <p:style>
          <a:lnRef idx="2">
            <a:schemeClr val="accent1"/>
          </a:lnRef>
          <a:fillRef idx="0">
            <a:schemeClr val="accent1"/>
          </a:fillRef>
          <a:effectRef idx="0">
            <a:schemeClr val="accent1"/>
          </a:effectRef>
          <a:fontRef idx="minor">
            <a:schemeClr val="tx1"/>
          </a:fontRef>
        </p:style>
      </p:cxnSp>
      <p:sp>
        <p:nvSpPr>
          <p:cNvPr id="31" name="TextBox 30"/>
          <p:cNvSpPr txBox="1"/>
          <p:nvPr/>
        </p:nvSpPr>
        <p:spPr>
          <a:xfrm>
            <a:off x="6071616" y="1682496"/>
            <a:ext cx="5486400" cy="228600"/>
          </a:xfrm>
          <a:prstGeom prst="rect">
            <a:avLst/>
          </a:prstGeom>
          <a:noFill/>
          <a:effectLst/>
        </p:spPr>
        <p:txBody>
          <a:bodyPr wrap="square" lIns="0" rIns="0" tIns="0" bIns="0">
            <a:spAutoFit/>
          </a:bodyPr>
          <a:lstStyle/>
          <a:p>
            <a:pPr>
              <a:lnSpc>
                <a:spcPct val="113000"/>
              </a:lnSpc>
              <a:spcAft>
                <a:spcPts val="0"/>
              </a:spcAft>
              <a:defRPr sz="1200" b="1">
                <a:solidFill>
                  <a:srgbClr val="7A202C"/>
                </a:solidFill>
                <a:latin typeface="Noto Sans"/>
              </a:defRPr>
            </a:pPr>
            <a:r>
              <a:rPr>
                <a:ea typeface="Noto Sans CJK SC"/>
              </a:rPr>
              <a:t>02  /  ISSUES TO BE ADDRESSED</a:t>
            </a:r>
          </a:p>
        </p:txBody>
      </p:sp>
      <p:sp>
        <p:nvSpPr>
          <p:cNvPr id="32" name="Rectangle 31"/>
          <p:cNvSpPr/>
          <p:nvPr/>
        </p:nvSpPr>
        <p:spPr>
          <a:xfrm>
            <a:off x="6080760" y="2167128"/>
            <a:ext cx="5504688" cy="1883664"/>
          </a:xfrm>
          <a:prstGeom prst="rect">
            <a:avLst/>
          </a:prstGeom>
          <a:solidFill>
            <a:srgbClr val="F8F0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ectangle 32"/>
          <p:cNvSpPr/>
          <p:nvPr/>
        </p:nvSpPr>
        <p:spPr>
          <a:xfrm>
            <a:off x="6080760" y="2167128"/>
            <a:ext cx="41148" cy="1883664"/>
          </a:xfrm>
          <a:prstGeom prst="rect">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291072" y="2331720"/>
            <a:ext cx="484632" cy="365760"/>
          </a:xfrm>
          <a:prstGeom prst="rect">
            <a:avLst/>
          </a:prstGeom>
          <a:noFill/>
          <a:effectLst/>
        </p:spPr>
        <p:txBody>
          <a:bodyPr wrap="square" lIns="0" rIns="0" tIns="0" bIns="0">
            <a:spAutoFit/>
          </a:bodyPr>
          <a:lstStyle/>
          <a:p>
            <a:pPr>
              <a:lnSpc>
                <a:spcPct val="113000"/>
              </a:lnSpc>
              <a:spcAft>
                <a:spcPts val="0"/>
              </a:spcAft>
              <a:defRPr sz="2000" b="1">
                <a:solidFill>
                  <a:srgbClr val="7A202C"/>
                </a:solidFill>
                <a:latin typeface="Noto Serif"/>
              </a:defRPr>
            </a:pPr>
            <a:r>
              <a:rPr>
                <a:ea typeface="Noto Sans CJK SC"/>
              </a:rPr>
              <a:t>(a)</a:t>
            </a:r>
          </a:p>
        </p:txBody>
      </p:sp>
      <p:sp>
        <p:nvSpPr>
          <p:cNvPr id="35" name="TextBox 34"/>
          <p:cNvSpPr txBox="1"/>
          <p:nvPr/>
        </p:nvSpPr>
        <p:spPr>
          <a:xfrm>
            <a:off x="6858000" y="2368296"/>
            <a:ext cx="4480560" cy="228600"/>
          </a:xfrm>
          <a:prstGeom prst="rect">
            <a:avLst/>
          </a:prstGeom>
          <a:noFill/>
          <a:effectLst/>
        </p:spPr>
        <p:txBody>
          <a:bodyPr wrap="square" lIns="0" rIns="0" tIns="0" bIns="0">
            <a:spAutoFit/>
          </a:bodyPr>
          <a:lstStyle/>
          <a:p>
            <a:pPr>
              <a:lnSpc>
                <a:spcPct val="113000"/>
              </a:lnSpc>
              <a:spcAft>
                <a:spcPts val="0"/>
              </a:spcAft>
              <a:defRPr sz="1000" b="1">
                <a:solidFill>
                  <a:srgbClr val="7A202C"/>
                </a:solidFill>
                <a:latin typeface="Noto Sans"/>
              </a:defRPr>
            </a:pPr>
            <a:r>
              <a:rPr>
                <a:ea typeface="Noto Sans CJK SC"/>
              </a:rPr>
              <a:t>FORFEITURE BEFORE EXPIRY</a:t>
            </a:r>
          </a:p>
        </p:txBody>
      </p:sp>
      <p:sp>
        <p:nvSpPr>
          <p:cNvPr id="36" name="TextBox 35"/>
          <p:cNvSpPr txBox="1"/>
          <p:nvPr/>
        </p:nvSpPr>
        <p:spPr>
          <a:xfrm>
            <a:off x="6858000" y="2734056"/>
            <a:ext cx="4425696" cy="630936"/>
          </a:xfrm>
          <a:prstGeom prst="rect">
            <a:avLst/>
          </a:prstGeom>
          <a:noFill/>
          <a:effectLst/>
        </p:spPr>
        <p:txBody>
          <a:bodyPr wrap="square" lIns="0" rIns="0" tIns="0" bIns="0">
            <a:spAutoFit/>
          </a:bodyPr>
          <a:lstStyle/>
          <a:p>
            <a:pPr>
              <a:lnSpc>
                <a:spcPct val="113000"/>
              </a:lnSpc>
              <a:spcAft>
                <a:spcPts val="0"/>
              </a:spcAft>
              <a:defRPr sz="1500" b="0">
                <a:solidFill>
                  <a:srgbClr val="1E191C"/>
                </a:solidFill>
                <a:latin typeface="Noto Sans"/>
              </a:defRPr>
            </a:pPr>
            <a:r>
              <a:rPr>
                <a:ea typeface="Noto Sans CJK SC"/>
              </a:rPr>
              <a:t>Can Frederick lawfully forfeit the tenancy and recover possession before expiry?</a:t>
            </a:r>
          </a:p>
        </p:txBody>
      </p:sp>
      <p:sp>
        <p:nvSpPr>
          <p:cNvPr id="37" name="TextBox 36"/>
          <p:cNvSpPr txBox="1"/>
          <p:nvPr/>
        </p:nvSpPr>
        <p:spPr>
          <a:xfrm>
            <a:off x="6858000" y="3401568"/>
            <a:ext cx="4425696" cy="530352"/>
          </a:xfrm>
          <a:prstGeom prst="rect">
            <a:avLst/>
          </a:prstGeom>
          <a:noFill/>
          <a:effectLst/>
        </p:spPr>
        <p:txBody>
          <a:bodyPr wrap="square" lIns="0" rIns="0" tIns="0" bIns="0">
            <a:spAutoFit/>
          </a:bodyPr>
          <a:lstStyle/>
          <a:p>
            <a:pPr>
              <a:lnSpc>
                <a:spcPct val="113000"/>
              </a:lnSpc>
              <a:spcAft>
                <a:spcPts val="0"/>
              </a:spcAft>
              <a:defRPr sz="1150" b="0">
                <a:solidFill>
                  <a:srgbClr val="5A5A5A"/>
                </a:solidFill>
                <a:latin typeface="Noto Sans"/>
              </a:defRPr>
            </a:pPr>
            <a:r>
              <a:rPr>
                <a:ea typeface="Noto Sans CJK SC"/>
              </a:rPr>
              <a:t>A breach must be established, forfeiture clauses complied with, and the required notice validly served.</a:t>
            </a:r>
          </a:p>
        </p:txBody>
      </p:sp>
      <p:sp>
        <p:nvSpPr>
          <p:cNvPr id="38" name="Rectangle 37"/>
          <p:cNvSpPr/>
          <p:nvPr/>
        </p:nvSpPr>
        <p:spPr>
          <a:xfrm>
            <a:off x="6080760" y="4270248"/>
            <a:ext cx="5504688" cy="1883664"/>
          </a:xfrm>
          <a:prstGeom prst="rect">
            <a:avLst/>
          </a:prstGeom>
          <a:solidFill>
            <a:srgbClr val="F8F0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ectangle 38"/>
          <p:cNvSpPr/>
          <p:nvPr/>
        </p:nvSpPr>
        <p:spPr>
          <a:xfrm>
            <a:off x="6080760" y="4270248"/>
            <a:ext cx="41148" cy="1883664"/>
          </a:xfrm>
          <a:prstGeom prst="rect">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6291072" y="4434840"/>
            <a:ext cx="484632" cy="365760"/>
          </a:xfrm>
          <a:prstGeom prst="rect">
            <a:avLst/>
          </a:prstGeom>
          <a:noFill/>
          <a:effectLst/>
        </p:spPr>
        <p:txBody>
          <a:bodyPr wrap="square" lIns="0" rIns="0" tIns="0" bIns="0">
            <a:spAutoFit/>
          </a:bodyPr>
          <a:lstStyle/>
          <a:p>
            <a:pPr>
              <a:lnSpc>
                <a:spcPct val="113000"/>
              </a:lnSpc>
              <a:spcAft>
                <a:spcPts val="0"/>
              </a:spcAft>
              <a:defRPr sz="2000" b="1">
                <a:solidFill>
                  <a:srgbClr val="7A202C"/>
                </a:solidFill>
                <a:latin typeface="Noto Serif"/>
              </a:defRPr>
            </a:pPr>
            <a:r>
              <a:rPr>
                <a:ea typeface="Noto Sans CJK SC"/>
              </a:rPr>
              <a:t>(b)</a:t>
            </a:r>
          </a:p>
        </p:txBody>
      </p:sp>
      <p:sp>
        <p:nvSpPr>
          <p:cNvPr id="41" name="TextBox 40"/>
          <p:cNvSpPr txBox="1"/>
          <p:nvPr/>
        </p:nvSpPr>
        <p:spPr>
          <a:xfrm>
            <a:off x="6858000" y="4471416"/>
            <a:ext cx="4480560" cy="228600"/>
          </a:xfrm>
          <a:prstGeom prst="rect">
            <a:avLst/>
          </a:prstGeom>
          <a:noFill/>
          <a:effectLst/>
        </p:spPr>
        <p:txBody>
          <a:bodyPr wrap="square" lIns="0" rIns="0" tIns="0" bIns="0">
            <a:spAutoFit/>
          </a:bodyPr>
          <a:lstStyle/>
          <a:p>
            <a:pPr>
              <a:lnSpc>
                <a:spcPct val="113000"/>
              </a:lnSpc>
              <a:spcAft>
                <a:spcPts val="0"/>
              </a:spcAft>
              <a:defRPr sz="1000" b="1">
                <a:solidFill>
                  <a:srgbClr val="7A202C"/>
                </a:solidFill>
                <a:latin typeface="Noto Sans"/>
              </a:defRPr>
            </a:pPr>
            <a:r>
              <a:rPr>
                <a:ea typeface="Noto Sans CJK SC"/>
              </a:rPr>
              <a:t>RENEWAL AT EXPIRY</a:t>
            </a:r>
          </a:p>
        </p:txBody>
      </p:sp>
      <p:sp>
        <p:nvSpPr>
          <p:cNvPr id="42" name="TextBox 41"/>
          <p:cNvSpPr txBox="1"/>
          <p:nvPr/>
        </p:nvSpPr>
        <p:spPr>
          <a:xfrm>
            <a:off x="6858000" y="4837176"/>
            <a:ext cx="4425696" cy="630936"/>
          </a:xfrm>
          <a:prstGeom prst="rect">
            <a:avLst/>
          </a:prstGeom>
          <a:noFill/>
          <a:effectLst/>
        </p:spPr>
        <p:txBody>
          <a:bodyPr wrap="square" lIns="0" rIns="0" tIns="0" bIns="0">
            <a:spAutoFit/>
          </a:bodyPr>
          <a:lstStyle/>
          <a:p>
            <a:pPr>
              <a:lnSpc>
                <a:spcPct val="113000"/>
              </a:lnSpc>
              <a:spcAft>
                <a:spcPts val="0"/>
              </a:spcAft>
              <a:defRPr sz="1500" b="0">
                <a:solidFill>
                  <a:srgbClr val="1E191C"/>
                </a:solidFill>
                <a:latin typeface="Noto Sans"/>
              </a:defRPr>
            </a:pPr>
            <a:r>
              <a:rPr>
                <a:ea typeface="Noto Sans CJK SC"/>
              </a:rPr>
              <a:t>Can Angela enforce a renewal of the tenancy upon expiry of the 2-year term?</a:t>
            </a:r>
          </a:p>
        </p:txBody>
      </p:sp>
      <p:sp>
        <p:nvSpPr>
          <p:cNvPr id="43" name="TextBox 42"/>
          <p:cNvSpPr txBox="1"/>
          <p:nvPr/>
        </p:nvSpPr>
        <p:spPr>
          <a:xfrm>
            <a:off x="6858000" y="5504688"/>
            <a:ext cx="4425696" cy="530352"/>
          </a:xfrm>
          <a:prstGeom prst="rect">
            <a:avLst/>
          </a:prstGeom>
          <a:noFill/>
          <a:effectLst/>
        </p:spPr>
        <p:txBody>
          <a:bodyPr wrap="square" lIns="0" rIns="0" tIns="0" bIns="0">
            <a:spAutoFit/>
          </a:bodyPr>
          <a:lstStyle/>
          <a:p>
            <a:pPr>
              <a:lnSpc>
                <a:spcPct val="113000"/>
              </a:lnSpc>
              <a:spcAft>
                <a:spcPts val="0"/>
              </a:spcAft>
              <a:defRPr sz="1150" b="0">
                <a:solidFill>
                  <a:srgbClr val="5A5A5A"/>
                </a:solidFill>
                <a:latin typeface="Noto Sans"/>
              </a:defRPr>
            </a:pPr>
            <a:r>
              <a:rPr>
                <a:ea typeface="Noto Sans CJK SC"/>
              </a:rPr>
              <a:t>The key question is whether the new rent can be validly determined. The noise complaint is background only.</a:t>
            </a:r>
          </a:p>
        </p:txBody>
      </p:sp>
      <p:sp>
        <p:nvSpPr>
          <p:cNvPr id="44" name="TextBox 43"/>
          <p:cNvSpPr txBox="1"/>
          <p:nvPr/>
        </p:nvSpPr>
        <p:spPr>
          <a:xfrm>
            <a:off x="10744200" y="6565392"/>
            <a:ext cx="822960" cy="182880"/>
          </a:xfrm>
          <a:prstGeom prst="rect">
            <a:avLst/>
          </a:prstGeom>
          <a:noFill/>
          <a:effectLst/>
        </p:spPr>
        <p:txBody>
          <a:bodyPr wrap="square" lIns="0" rIns="0" tIns="0" bIns="0">
            <a:spAutoFit/>
          </a:bodyPr>
          <a:lstStyle/>
          <a:p>
            <a:pPr algn="r">
              <a:lnSpc>
                <a:spcPct val="113000"/>
              </a:lnSpc>
              <a:spcAft>
                <a:spcPts val="0"/>
              </a:spcAft>
              <a:defRPr sz="800" b="0">
                <a:solidFill>
                  <a:srgbClr val="7A202C"/>
                </a:solidFill>
                <a:latin typeface="Noto Sans"/>
              </a:defRPr>
            </a:pPr>
            <a:r>
              <a:rPr>
                <a:ea typeface="Noto Sans CJK SC"/>
              </a:rPr>
              <a:t>05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621792" y="6437376"/>
            <a:ext cx="10945368"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630936" y="6556248"/>
            <a:ext cx="5486400" cy="237744"/>
          </a:xfrm>
          <a:prstGeom prst="rect">
            <a:avLst/>
          </a:prstGeom>
          <a:noFill/>
          <a:effectLst/>
        </p:spPr>
        <p:txBody>
          <a:bodyPr wrap="square" lIns="0" rIns="0" tIns="0" bIns="0">
            <a:spAutoFit/>
          </a:bodyPr>
          <a:lstStyle/>
          <a:p>
            <a:pPr>
              <a:lnSpc>
                <a:spcPct val="113000"/>
              </a:lnSpc>
              <a:spcAft>
                <a:spcPts val="0"/>
              </a:spcAft>
              <a:defRPr sz="800" b="1">
                <a:solidFill>
                  <a:srgbClr val="666064"/>
                </a:solidFill>
                <a:latin typeface="Noto Sans"/>
              </a:defRPr>
            </a:pPr>
            <a:r>
              <a:rPr>
                <a:ea typeface="Noto Sans CJK SC"/>
              </a:rPr>
              <a:t>5957  /  TENANCY DISPUTE</a:t>
            </a:r>
          </a:p>
        </p:txBody>
      </p:sp>
      <p:sp>
        <p:nvSpPr>
          <p:cNvPr id="4" name="TextBox 3"/>
          <p:cNvSpPr txBox="1"/>
          <p:nvPr/>
        </p:nvSpPr>
        <p:spPr>
          <a:xfrm>
            <a:off x="10149840" y="6537960"/>
            <a:ext cx="1399032" cy="201168"/>
          </a:xfrm>
          <a:prstGeom prst="rect">
            <a:avLst/>
          </a:prstGeom>
          <a:noFill/>
          <a:effectLst/>
        </p:spPr>
        <p:txBody>
          <a:bodyPr wrap="square" lIns="0" rIns="0" tIns="0" bIns="0">
            <a:spAutoFit/>
          </a:bodyPr>
          <a:lstStyle/>
          <a:p>
            <a:pPr algn="r">
              <a:lnSpc>
                <a:spcPct val="113000"/>
              </a:lnSpc>
              <a:spcAft>
                <a:spcPts val="0"/>
              </a:spcAft>
              <a:defRPr sz="800" b="0">
                <a:solidFill>
                  <a:srgbClr val="666064"/>
                </a:solidFill>
                <a:latin typeface="Noto Sans"/>
              </a:defRPr>
            </a:pPr>
            <a:r>
              <a:rPr>
                <a:ea typeface="Noto Sans CJK SC"/>
              </a:rPr>
              <a:t>06  /  30</a:t>
            </a:r>
          </a:p>
        </p:txBody>
      </p:sp>
      <p:sp>
        <p:nvSpPr>
          <p:cNvPr id="5" name="TextBox 4"/>
          <p:cNvSpPr txBox="1"/>
          <p:nvPr/>
        </p:nvSpPr>
        <p:spPr>
          <a:xfrm>
            <a:off x="630936" y="347472"/>
            <a:ext cx="9144000" cy="237744"/>
          </a:xfrm>
          <a:prstGeom prst="rect">
            <a:avLst/>
          </a:prstGeom>
          <a:noFill/>
          <a:effectLst/>
        </p:spPr>
        <p:txBody>
          <a:bodyPr wrap="square" lIns="0" rIns="0" tIns="0" bIns="0">
            <a:spAutoFit/>
          </a:bodyPr>
          <a:lstStyle/>
          <a:p>
            <a:pPr>
              <a:lnSpc>
                <a:spcPct val="113000"/>
              </a:lnSpc>
              <a:spcAft>
                <a:spcPts val="0"/>
              </a:spcAft>
              <a:defRPr sz="900" b="1">
                <a:solidFill>
                  <a:srgbClr val="A34450"/>
                </a:solidFill>
                <a:latin typeface="Noto Sans"/>
              </a:defRPr>
            </a:pPr>
            <a:r>
              <a:rPr>
                <a:ea typeface="Noto Sans CJK SC"/>
              </a:rPr>
              <a:t>PARTY PROFILES</a:t>
            </a:r>
          </a:p>
        </p:txBody>
      </p:sp>
      <p:sp>
        <p:nvSpPr>
          <p:cNvPr id="6" name="TextBox 5"/>
          <p:cNvSpPr txBox="1"/>
          <p:nvPr/>
        </p:nvSpPr>
        <p:spPr>
          <a:xfrm>
            <a:off x="603504" y="758952"/>
            <a:ext cx="10972800" cy="612648"/>
          </a:xfrm>
          <a:prstGeom prst="rect">
            <a:avLst/>
          </a:prstGeom>
          <a:noFill/>
          <a:effectLst/>
        </p:spPr>
        <p:txBody>
          <a:bodyPr wrap="square" lIns="0" rIns="0" tIns="0" bIns="0">
            <a:spAutoFit/>
          </a:bodyPr>
          <a:lstStyle/>
          <a:p>
            <a:pPr>
              <a:lnSpc>
                <a:spcPct val="113000"/>
              </a:lnSpc>
              <a:spcAft>
                <a:spcPts val="0"/>
              </a:spcAft>
              <a:defRPr sz="3000" b="0">
                <a:solidFill>
                  <a:srgbClr val="7A202C"/>
                </a:solidFill>
                <a:latin typeface="Noto Serif"/>
              </a:defRPr>
            </a:pPr>
            <a:r>
              <a:rPr>
                <a:ea typeface="Noto Sans CJK SC"/>
              </a:rPr>
              <a:t>The parties and their roles</a:t>
            </a:r>
          </a:p>
        </p:txBody>
      </p:sp>
      <p:cxnSp>
        <p:nvCxnSpPr>
          <p:cNvPr id="7" name="Connector 6"/>
          <p:cNvCxnSpPr/>
          <p:nvPr/>
        </p:nvCxnSpPr>
        <p:spPr>
          <a:xfrm>
            <a:off x="621792" y="1490472"/>
            <a:ext cx="10945368" cy="0"/>
          </a:xfrm>
          <a:prstGeom prst="line">
            <a:avLst/>
          </a:prstGeom>
          <a:ln w="10795">
            <a:solidFill>
              <a:srgbClr val="D4A59A"/>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630936" y="1645920"/>
            <a:ext cx="10927080" cy="512064"/>
          </a:xfrm>
          <a:prstGeom prst="rect">
            <a:avLst/>
          </a:prstGeom>
          <a:noFill/>
          <a:effectLst/>
        </p:spPr>
        <p:txBody>
          <a:bodyPr wrap="square" lIns="0" rIns="0" tIns="0" bIns="0">
            <a:spAutoFit/>
          </a:bodyPr>
          <a:lstStyle/>
          <a:p>
            <a:pPr>
              <a:lnSpc>
                <a:spcPct val="113000"/>
              </a:lnSpc>
              <a:spcAft>
                <a:spcPts val="0"/>
              </a:spcAft>
              <a:defRPr sz="1300" b="0">
                <a:solidFill>
                  <a:srgbClr val="666064"/>
                </a:solidFill>
                <a:latin typeface="Noto Sans"/>
              </a:defRPr>
            </a:pPr>
            <a:r>
              <a:rPr>
                <a:ea typeface="Noto Sans CJK SC"/>
              </a:rPr>
              <a:t>A three-column layout for stakeholders, clients or contracting parties.</a:t>
            </a:r>
          </a:p>
        </p:txBody>
      </p:sp>
      <p:sp>
        <p:nvSpPr>
          <p:cNvPr id="9" name="Rectangle 8"/>
          <p:cNvSpPr/>
          <p:nvPr/>
        </p:nvSpPr>
        <p:spPr>
          <a:xfrm>
            <a:off x="630936" y="2304288"/>
            <a:ext cx="3447288" cy="3502152"/>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Oval 9"/>
          <p:cNvSpPr/>
          <p:nvPr/>
        </p:nvSpPr>
        <p:spPr>
          <a:xfrm>
            <a:off x="859536" y="2551176"/>
            <a:ext cx="585216" cy="585216"/>
          </a:xfrm>
          <a:prstGeom prst="ellipse">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859536" y="2633472"/>
            <a:ext cx="585216" cy="365760"/>
          </a:xfrm>
          <a:prstGeom prst="rect">
            <a:avLst/>
          </a:prstGeom>
          <a:noFill/>
          <a:effectLst/>
        </p:spPr>
        <p:txBody>
          <a:bodyPr wrap="square" lIns="0" rIns="0" tIns="0" bIns="0">
            <a:spAutoFit/>
          </a:bodyPr>
          <a:lstStyle/>
          <a:p>
            <a:pPr algn="ctr">
              <a:lnSpc>
                <a:spcPct val="113000"/>
              </a:lnSpc>
              <a:spcAft>
                <a:spcPts val="0"/>
              </a:spcAft>
              <a:defRPr sz="2200" b="1">
                <a:solidFill>
                  <a:srgbClr val="FFFFFF"/>
                </a:solidFill>
                <a:latin typeface="Noto Sans"/>
              </a:defRPr>
            </a:pPr>
            <a:r>
              <a:rPr>
                <a:ea typeface="Noto Sans CJK SC"/>
              </a:rPr>
              <a:t>F</a:t>
            </a:r>
          </a:p>
        </p:txBody>
      </p:sp>
      <p:sp>
        <p:nvSpPr>
          <p:cNvPr id="12" name="TextBox 11"/>
          <p:cNvSpPr txBox="1"/>
          <p:nvPr/>
        </p:nvSpPr>
        <p:spPr>
          <a:xfrm>
            <a:off x="859536" y="3410712"/>
            <a:ext cx="2944368" cy="512064"/>
          </a:xfrm>
          <a:prstGeom prst="rect">
            <a:avLst/>
          </a:prstGeom>
          <a:noFill/>
          <a:effectLst/>
        </p:spPr>
        <p:txBody>
          <a:bodyPr wrap="square" lIns="0" rIns="0" tIns="0" bIns="0">
            <a:spAutoFit/>
          </a:bodyPr>
          <a:lstStyle/>
          <a:p>
            <a:pPr>
              <a:lnSpc>
                <a:spcPct val="113000"/>
              </a:lnSpc>
              <a:spcAft>
                <a:spcPts val="0"/>
              </a:spcAft>
              <a:defRPr sz="2600" b="0">
                <a:solidFill>
                  <a:srgbClr val="7A202C"/>
                </a:solidFill>
                <a:latin typeface="Noto Serif"/>
              </a:defRPr>
            </a:pPr>
            <a:r>
              <a:rPr>
                <a:ea typeface="Noto Sans CJK SC"/>
              </a:rPr>
              <a:t>Frederick</a:t>
            </a:r>
          </a:p>
        </p:txBody>
      </p:sp>
      <p:sp>
        <p:nvSpPr>
          <p:cNvPr id="13" name="TextBox 12"/>
          <p:cNvSpPr txBox="1"/>
          <p:nvPr/>
        </p:nvSpPr>
        <p:spPr>
          <a:xfrm>
            <a:off x="877824" y="4133087"/>
            <a:ext cx="2926080" cy="237744"/>
          </a:xfrm>
          <a:prstGeom prst="rect">
            <a:avLst/>
          </a:prstGeom>
          <a:noFill/>
          <a:effectLst/>
        </p:spPr>
        <p:txBody>
          <a:bodyPr wrap="square" lIns="0" rIns="0" tIns="0" bIns="0">
            <a:spAutoFit/>
          </a:bodyPr>
          <a:lstStyle/>
          <a:p>
            <a:pPr>
              <a:lnSpc>
                <a:spcPct val="113000"/>
              </a:lnSpc>
              <a:spcAft>
                <a:spcPts val="0"/>
              </a:spcAft>
              <a:defRPr sz="1000" b="1">
                <a:solidFill>
                  <a:srgbClr val="A34450"/>
                </a:solidFill>
                <a:latin typeface="Noto Sans"/>
              </a:defRPr>
            </a:pPr>
            <a:r>
              <a:rPr>
                <a:ea typeface="Noto Sans CJK SC"/>
              </a:rPr>
              <a:t>LANDLORD</a:t>
            </a:r>
          </a:p>
        </p:txBody>
      </p:sp>
      <p:sp>
        <p:nvSpPr>
          <p:cNvPr id="14" name="TextBox 13"/>
          <p:cNvSpPr txBox="1"/>
          <p:nvPr/>
        </p:nvSpPr>
        <p:spPr>
          <a:xfrm>
            <a:off x="877824" y="4626864"/>
            <a:ext cx="2907792" cy="832104"/>
          </a:xfrm>
          <a:prstGeom prst="rect">
            <a:avLst/>
          </a:prstGeom>
          <a:noFill/>
          <a:effectLst/>
        </p:spPr>
        <p:txBody>
          <a:bodyPr wrap="square" lIns="0" rIns="0" tIns="0" bIns="0">
            <a:spAutoFit/>
          </a:bodyPr>
          <a:lstStyle/>
          <a:p>
            <a:pPr>
              <a:lnSpc>
                <a:spcPct val="113000"/>
              </a:lnSpc>
              <a:spcAft>
                <a:spcPts val="0"/>
              </a:spcAft>
              <a:defRPr sz="1600" b="0">
                <a:solidFill>
                  <a:srgbClr val="1E191C"/>
                </a:solidFill>
                <a:latin typeface="Noto Sans"/>
              </a:defRPr>
            </a:pPr>
            <a:r>
              <a:rPr>
                <a:ea typeface="Noto Sans CJK SC"/>
              </a:rPr>
              <a:t>Seeks to recover possession</a:t>
            </a:r>
          </a:p>
          <a:p>
            <a:pPr>
              <a:lnSpc>
                <a:spcPct val="113000"/>
              </a:lnSpc>
              <a:spcAft>
                <a:spcPts val="0"/>
              </a:spcAft>
              <a:defRPr sz="1600" b="0">
                <a:solidFill>
                  <a:srgbClr val="1E191C"/>
                </a:solidFill>
                <a:latin typeface="Noto Sans"/>
              </a:defRPr>
            </a:pPr>
            <a:r>
              <a:rPr>
                <a:ea typeface="Noto Sans CJK SC"/>
              </a:rPr>
              <a:t>before expiry.</a:t>
            </a:r>
          </a:p>
        </p:txBody>
      </p:sp>
      <p:sp>
        <p:nvSpPr>
          <p:cNvPr id="15" name="Rectangle 14"/>
          <p:cNvSpPr/>
          <p:nvPr/>
        </p:nvSpPr>
        <p:spPr>
          <a:xfrm>
            <a:off x="4370832" y="2304288"/>
            <a:ext cx="3447288" cy="3502152"/>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Oval 15"/>
          <p:cNvSpPr/>
          <p:nvPr/>
        </p:nvSpPr>
        <p:spPr>
          <a:xfrm>
            <a:off x="4599432" y="2551176"/>
            <a:ext cx="585216" cy="585216"/>
          </a:xfrm>
          <a:prstGeom prst="ellipse">
            <a:avLst/>
          </a:prstGeom>
          <a:solidFill>
            <a:srgbClr val="A3445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599432" y="2633472"/>
            <a:ext cx="585216" cy="365760"/>
          </a:xfrm>
          <a:prstGeom prst="rect">
            <a:avLst/>
          </a:prstGeom>
          <a:noFill/>
          <a:effectLst/>
        </p:spPr>
        <p:txBody>
          <a:bodyPr wrap="square" lIns="0" rIns="0" tIns="0" bIns="0">
            <a:spAutoFit/>
          </a:bodyPr>
          <a:lstStyle/>
          <a:p>
            <a:pPr algn="ctr">
              <a:lnSpc>
                <a:spcPct val="113000"/>
              </a:lnSpc>
              <a:spcAft>
                <a:spcPts val="0"/>
              </a:spcAft>
              <a:defRPr sz="2200" b="1">
                <a:solidFill>
                  <a:srgbClr val="FFFFFF"/>
                </a:solidFill>
                <a:latin typeface="Noto Sans"/>
              </a:defRPr>
            </a:pPr>
            <a:r>
              <a:rPr>
                <a:ea typeface="Noto Sans CJK SC"/>
              </a:rPr>
              <a:t>A</a:t>
            </a:r>
          </a:p>
        </p:txBody>
      </p:sp>
      <p:sp>
        <p:nvSpPr>
          <p:cNvPr id="18" name="TextBox 17"/>
          <p:cNvSpPr txBox="1"/>
          <p:nvPr/>
        </p:nvSpPr>
        <p:spPr>
          <a:xfrm>
            <a:off x="4599432" y="3410712"/>
            <a:ext cx="2944368" cy="512064"/>
          </a:xfrm>
          <a:prstGeom prst="rect">
            <a:avLst/>
          </a:prstGeom>
          <a:noFill/>
          <a:effectLst/>
        </p:spPr>
        <p:txBody>
          <a:bodyPr wrap="square" lIns="0" rIns="0" tIns="0" bIns="0">
            <a:spAutoFit/>
          </a:bodyPr>
          <a:lstStyle/>
          <a:p>
            <a:pPr>
              <a:lnSpc>
                <a:spcPct val="113000"/>
              </a:lnSpc>
              <a:spcAft>
                <a:spcPts val="0"/>
              </a:spcAft>
              <a:defRPr sz="2600" b="0">
                <a:solidFill>
                  <a:srgbClr val="7A202C"/>
                </a:solidFill>
                <a:latin typeface="Noto Serif"/>
              </a:defRPr>
            </a:pPr>
            <a:r>
              <a:rPr>
                <a:ea typeface="Noto Sans CJK SC"/>
              </a:rPr>
              <a:t>Angela</a:t>
            </a:r>
          </a:p>
        </p:txBody>
      </p:sp>
      <p:sp>
        <p:nvSpPr>
          <p:cNvPr id="19" name="TextBox 18"/>
          <p:cNvSpPr txBox="1"/>
          <p:nvPr/>
        </p:nvSpPr>
        <p:spPr>
          <a:xfrm>
            <a:off x="4617720" y="4133087"/>
            <a:ext cx="2926080" cy="237744"/>
          </a:xfrm>
          <a:prstGeom prst="rect">
            <a:avLst/>
          </a:prstGeom>
          <a:noFill/>
          <a:effectLst/>
        </p:spPr>
        <p:txBody>
          <a:bodyPr wrap="square" lIns="0" rIns="0" tIns="0" bIns="0">
            <a:spAutoFit/>
          </a:bodyPr>
          <a:lstStyle/>
          <a:p>
            <a:pPr>
              <a:lnSpc>
                <a:spcPct val="113000"/>
              </a:lnSpc>
              <a:spcAft>
                <a:spcPts val="0"/>
              </a:spcAft>
              <a:defRPr sz="1000" b="1">
                <a:solidFill>
                  <a:srgbClr val="A34450"/>
                </a:solidFill>
                <a:latin typeface="Noto Sans"/>
              </a:defRPr>
            </a:pPr>
            <a:r>
              <a:rPr>
                <a:ea typeface="Noto Sans CJK SC"/>
              </a:rPr>
              <a:t>TENANT</a:t>
            </a:r>
          </a:p>
        </p:txBody>
      </p:sp>
      <p:sp>
        <p:nvSpPr>
          <p:cNvPr id="20" name="TextBox 19"/>
          <p:cNvSpPr txBox="1"/>
          <p:nvPr/>
        </p:nvSpPr>
        <p:spPr>
          <a:xfrm>
            <a:off x="4617720" y="4626864"/>
            <a:ext cx="2907792" cy="832104"/>
          </a:xfrm>
          <a:prstGeom prst="rect">
            <a:avLst/>
          </a:prstGeom>
          <a:noFill/>
          <a:effectLst/>
        </p:spPr>
        <p:txBody>
          <a:bodyPr wrap="square" lIns="0" rIns="0" tIns="0" bIns="0">
            <a:spAutoFit/>
          </a:bodyPr>
          <a:lstStyle/>
          <a:p>
            <a:pPr>
              <a:lnSpc>
                <a:spcPct val="113000"/>
              </a:lnSpc>
              <a:spcAft>
                <a:spcPts val="0"/>
              </a:spcAft>
              <a:defRPr sz="1600" b="0">
                <a:solidFill>
                  <a:srgbClr val="1E191C"/>
                </a:solidFill>
                <a:latin typeface="Noto Sans"/>
              </a:defRPr>
            </a:pPr>
            <a:r>
              <a:rPr>
                <a:ea typeface="Noto Sans CJK SC"/>
              </a:rPr>
              <a:t>Seeks to remain in occupation</a:t>
            </a:r>
          </a:p>
          <a:p>
            <a:pPr>
              <a:lnSpc>
                <a:spcPct val="113000"/>
              </a:lnSpc>
              <a:spcAft>
                <a:spcPts val="0"/>
              </a:spcAft>
              <a:defRPr sz="1600" b="0">
                <a:solidFill>
                  <a:srgbClr val="1E191C"/>
                </a:solidFill>
                <a:latin typeface="Noto Sans"/>
              </a:defRPr>
            </a:pPr>
            <a:r>
              <a:rPr>
                <a:ea typeface="Noto Sans CJK SC"/>
              </a:rPr>
              <a:t>and enforce renewal.</a:t>
            </a:r>
          </a:p>
        </p:txBody>
      </p:sp>
      <p:sp>
        <p:nvSpPr>
          <p:cNvPr id="21" name="Rectangle 20"/>
          <p:cNvSpPr/>
          <p:nvPr/>
        </p:nvSpPr>
        <p:spPr>
          <a:xfrm>
            <a:off x="8110727" y="2304288"/>
            <a:ext cx="3447288" cy="3502152"/>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Oval 21"/>
          <p:cNvSpPr/>
          <p:nvPr/>
        </p:nvSpPr>
        <p:spPr>
          <a:xfrm>
            <a:off x="8339327" y="2551176"/>
            <a:ext cx="585216" cy="585216"/>
          </a:xfrm>
          <a:prstGeom prst="ellipse">
            <a:avLst/>
          </a:prstGeom>
          <a:solidFill>
            <a:srgbClr val="D4A59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339327" y="2633472"/>
            <a:ext cx="585216" cy="365760"/>
          </a:xfrm>
          <a:prstGeom prst="rect">
            <a:avLst/>
          </a:prstGeom>
          <a:noFill/>
          <a:effectLst/>
        </p:spPr>
        <p:txBody>
          <a:bodyPr wrap="square" lIns="0" rIns="0" tIns="0" bIns="0">
            <a:spAutoFit/>
          </a:bodyPr>
          <a:lstStyle/>
          <a:p>
            <a:pPr algn="ctr">
              <a:lnSpc>
                <a:spcPct val="113000"/>
              </a:lnSpc>
              <a:spcAft>
                <a:spcPts val="0"/>
              </a:spcAft>
              <a:defRPr sz="2200" b="1">
                <a:solidFill>
                  <a:srgbClr val="7A202C"/>
                </a:solidFill>
                <a:latin typeface="Noto Sans"/>
              </a:defRPr>
            </a:pPr>
            <a:r>
              <a:rPr>
                <a:ea typeface="Noto Sans CJK SC"/>
              </a:rPr>
              <a:t>C</a:t>
            </a:r>
          </a:p>
        </p:txBody>
      </p:sp>
      <p:sp>
        <p:nvSpPr>
          <p:cNvPr id="24" name="TextBox 23"/>
          <p:cNvSpPr txBox="1"/>
          <p:nvPr/>
        </p:nvSpPr>
        <p:spPr>
          <a:xfrm>
            <a:off x="8339327" y="3410712"/>
            <a:ext cx="2944368" cy="512064"/>
          </a:xfrm>
          <a:prstGeom prst="rect">
            <a:avLst/>
          </a:prstGeom>
          <a:noFill/>
          <a:effectLst/>
        </p:spPr>
        <p:txBody>
          <a:bodyPr wrap="square" lIns="0" rIns="0" tIns="0" bIns="0">
            <a:spAutoFit/>
          </a:bodyPr>
          <a:lstStyle/>
          <a:p>
            <a:pPr>
              <a:lnSpc>
                <a:spcPct val="113000"/>
              </a:lnSpc>
              <a:spcAft>
                <a:spcPts val="0"/>
              </a:spcAft>
              <a:defRPr sz="2600" b="0">
                <a:solidFill>
                  <a:srgbClr val="7A202C"/>
                </a:solidFill>
                <a:latin typeface="Noto Serif"/>
              </a:defRPr>
            </a:pPr>
            <a:r>
              <a:rPr>
                <a:ea typeface="Noto Sans CJK SC"/>
              </a:rPr>
              <a:t>Charles</a:t>
            </a:r>
          </a:p>
        </p:txBody>
      </p:sp>
      <p:sp>
        <p:nvSpPr>
          <p:cNvPr id="25" name="TextBox 24"/>
          <p:cNvSpPr txBox="1"/>
          <p:nvPr/>
        </p:nvSpPr>
        <p:spPr>
          <a:xfrm>
            <a:off x="8357615" y="4133087"/>
            <a:ext cx="2926080" cy="237744"/>
          </a:xfrm>
          <a:prstGeom prst="rect">
            <a:avLst/>
          </a:prstGeom>
          <a:noFill/>
          <a:effectLst/>
        </p:spPr>
        <p:txBody>
          <a:bodyPr wrap="square" lIns="0" rIns="0" tIns="0" bIns="0">
            <a:spAutoFit/>
          </a:bodyPr>
          <a:lstStyle/>
          <a:p>
            <a:pPr>
              <a:lnSpc>
                <a:spcPct val="113000"/>
              </a:lnSpc>
              <a:spcAft>
                <a:spcPts val="0"/>
              </a:spcAft>
              <a:defRPr sz="1000" b="1">
                <a:solidFill>
                  <a:srgbClr val="A34450"/>
                </a:solidFill>
                <a:latin typeface="Noto Sans"/>
              </a:defRPr>
            </a:pPr>
            <a:r>
              <a:rPr>
                <a:ea typeface="Noto Sans CJK SC"/>
              </a:rPr>
              <a:t>SUB-TENANT</a:t>
            </a:r>
          </a:p>
        </p:txBody>
      </p:sp>
      <p:sp>
        <p:nvSpPr>
          <p:cNvPr id="26" name="TextBox 25"/>
          <p:cNvSpPr txBox="1"/>
          <p:nvPr/>
        </p:nvSpPr>
        <p:spPr>
          <a:xfrm>
            <a:off x="8357615" y="4626864"/>
            <a:ext cx="2907792" cy="832104"/>
          </a:xfrm>
          <a:prstGeom prst="rect">
            <a:avLst/>
          </a:prstGeom>
          <a:noFill/>
          <a:effectLst/>
        </p:spPr>
        <p:txBody>
          <a:bodyPr wrap="square" lIns="0" rIns="0" tIns="0" bIns="0">
            <a:spAutoFit/>
          </a:bodyPr>
          <a:lstStyle/>
          <a:p>
            <a:pPr>
              <a:lnSpc>
                <a:spcPct val="113000"/>
              </a:lnSpc>
              <a:spcAft>
                <a:spcPts val="0"/>
              </a:spcAft>
              <a:defRPr sz="1600" b="0">
                <a:solidFill>
                  <a:srgbClr val="1E191C"/>
                </a:solidFill>
                <a:latin typeface="Noto Sans"/>
              </a:defRPr>
            </a:pPr>
            <a:r>
              <a:rPr>
                <a:ea typeface="Noto Sans CJK SC"/>
              </a:rPr>
              <a:t>Occupies under a sub-tenancy</a:t>
            </a:r>
          </a:p>
          <a:p>
            <a:pPr>
              <a:lnSpc>
                <a:spcPct val="113000"/>
              </a:lnSpc>
              <a:spcAft>
                <a:spcPts val="0"/>
              </a:spcAft>
              <a:defRPr sz="1600" b="0">
                <a:solidFill>
                  <a:srgbClr val="1E191C"/>
                </a:solidFill>
                <a:latin typeface="Noto Sans"/>
              </a:defRPr>
            </a:pPr>
            <a:r>
              <a:rPr>
                <a:ea typeface="Noto Sans CJK SC"/>
              </a:rPr>
              <a:t>with Angela.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621792" y="6437376"/>
            <a:ext cx="10945368"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630936" y="6556248"/>
            <a:ext cx="5486400" cy="237744"/>
          </a:xfrm>
          <a:prstGeom prst="rect">
            <a:avLst/>
          </a:prstGeom>
          <a:noFill/>
          <a:effectLst/>
        </p:spPr>
        <p:txBody>
          <a:bodyPr wrap="square" lIns="0" rIns="0" tIns="0" bIns="0">
            <a:spAutoFit/>
          </a:bodyPr>
          <a:lstStyle/>
          <a:p>
            <a:pPr>
              <a:lnSpc>
                <a:spcPct val="113000"/>
              </a:lnSpc>
              <a:spcAft>
                <a:spcPts val="0"/>
              </a:spcAft>
              <a:defRPr sz="800" b="1">
                <a:solidFill>
                  <a:srgbClr val="666064"/>
                </a:solidFill>
                <a:latin typeface="Noto Sans"/>
              </a:defRPr>
            </a:pPr>
            <a:r>
              <a:rPr>
                <a:ea typeface="Noto Sans CJK SC"/>
              </a:rPr>
              <a:t>5957  /  TENANCY DISPUTE</a:t>
            </a:r>
          </a:p>
        </p:txBody>
      </p:sp>
      <p:sp>
        <p:nvSpPr>
          <p:cNvPr id="4" name="TextBox 3"/>
          <p:cNvSpPr txBox="1"/>
          <p:nvPr/>
        </p:nvSpPr>
        <p:spPr>
          <a:xfrm>
            <a:off x="10149840" y="6537960"/>
            <a:ext cx="1399032" cy="201168"/>
          </a:xfrm>
          <a:prstGeom prst="rect">
            <a:avLst/>
          </a:prstGeom>
          <a:noFill/>
          <a:effectLst/>
        </p:spPr>
        <p:txBody>
          <a:bodyPr wrap="square" lIns="0" rIns="0" tIns="0" bIns="0">
            <a:spAutoFit/>
          </a:bodyPr>
          <a:lstStyle/>
          <a:p>
            <a:pPr algn="r">
              <a:lnSpc>
                <a:spcPct val="113000"/>
              </a:lnSpc>
              <a:spcAft>
                <a:spcPts val="0"/>
              </a:spcAft>
              <a:defRPr sz="800" b="0">
                <a:solidFill>
                  <a:srgbClr val="666064"/>
                </a:solidFill>
                <a:latin typeface="Noto Sans"/>
              </a:defRPr>
            </a:pPr>
            <a:r>
              <a:rPr>
                <a:ea typeface="Noto Sans CJK SC"/>
              </a:rPr>
              <a:t>07  /  30</a:t>
            </a:r>
          </a:p>
        </p:txBody>
      </p:sp>
      <p:sp>
        <p:nvSpPr>
          <p:cNvPr id="5" name="TextBox 4"/>
          <p:cNvSpPr txBox="1"/>
          <p:nvPr/>
        </p:nvSpPr>
        <p:spPr>
          <a:xfrm>
            <a:off x="630936" y="347472"/>
            <a:ext cx="9144000" cy="237744"/>
          </a:xfrm>
          <a:prstGeom prst="rect">
            <a:avLst/>
          </a:prstGeom>
          <a:noFill/>
          <a:effectLst/>
        </p:spPr>
        <p:txBody>
          <a:bodyPr wrap="square" lIns="0" rIns="0" tIns="0" bIns="0">
            <a:spAutoFit/>
          </a:bodyPr>
          <a:lstStyle/>
          <a:p>
            <a:pPr>
              <a:lnSpc>
                <a:spcPct val="113000"/>
              </a:lnSpc>
              <a:spcAft>
                <a:spcPts val="0"/>
              </a:spcAft>
              <a:defRPr sz="900" b="1">
                <a:solidFill>
                  <a:srgbClr val="A34450"/>
                </a:solidFill>
                <a:latin typeface="Noto Sans"/>
              </a:defRPr>
            </a:pPr>
            <a:r>
              <a:rPr>
                <a:ea typeface="Noto Sans CJK SC"/>
              </a:rPr>
              <a:t>RELATIONSHIP MAP</a:t>
            </a:r>
          </a:p>
        </p:txBody>
      </p:sp>
      <p:sp>
        <p:nvSpPr>
          <p:cNvPr id="6" name="TextBox 5"/>
          <p:cNvSpPr txBox="1"/>
          <p:nvPr/>
        </p:nvSpPr>
        <p:spPr>
          <a:xfrm>
            <a:off x="603504" y="758952"/>
            <a:ext cx="10972800" cy="612648"/>
          </a:xfrm>
          <a:prstGeom prst="rect">
            <a:avLst/>
          </a:prstGeom>
          <a:noFill/>
          <a:effectLst/>
        </p:spPr>
        <p:txBody>
          <a:bodyPr wrap="square" lIns="0" rIns="0" tIns="0" bIns="0">
            <a:spAutoFit/>
          </a:bodyPr>
          <a:lstStyle/>
          <a:p>
            <a:pPr>
              <a:lnSpc>
                <a:spcPct val="113000"/>
              </a:lnSpc>
              <a:spcAft>
                <a:spcPts val="0"/>
              </a:spcAft>
              <a:defRPr sz="3000" b="0">
                <a:solidFill>
                  <a:srgbClr val="7A202C"/>
                </a:solidFill>
                <a:latin typeface="Noto Serif"/>
              </a:defRPr>
            </a:pPr>
            <a:r>
              <a:rPr>
                <a:ea typeface="Noto Sans CJK SC"/>
              </a:rPr>
              <a:t>The contractual structure</a:t>
            </a:r>
          </a:p>
        </p:txBody>
      </p:sp>
      <p:cxnSp>
        <p:nvCxnSpPr>
          <p:cNvPr id="7" name="Connector 6"/>
          <p:cNvCxnSpPr/>
          <p:nvPr/>
        </p:nvCxnSpPr>
        <p:spPr>
          <a:xfrm>
            <a:off x="621792" y="1490472"/>
            <a:ext cx="10945368" cy="0"/>
          </a:xfrm>
          <a:prstGeom prst="line">
            <a:avLst/>
          </a:prstGeom>
          <a:ln w="10795">
            <a:solidFill>
              <a:srgbClr val="D4A59A"/>
            </a:solidFill>
          </a:ln>
          <a:effectLst/>
        </p:spPr>
        <p:style>
          <a:lnRef idx="2">
            <a:schemeClr val="accent1"/>
          </a:lnRef>
          <a:fillRef idx="0">
            <a:schemeClr val="accent1"/>
          </a:fillRef>
          <a:effectRef idx="0">
            <a:schemeClr val="accent1"/>
          </a:effectRef>
          <a:fontRef idx="minor">
            <a:schemeClr val="tx1"/>
          </a:fontRef>
        </p:style>
      </p:cxnSp>
      <p:sp>
        <p:nvSpPr>
          <p:cNvPr id="8" name="Rectangle 7"/>
          <p:cNvSpPr/>
          <p:nvPr/>
        </p:nvSpPr>
        <p:spPr>
          <a:xfrm>
            <a:off x="630936" y="2496312"/>
            <a:ext cx="2852928" cy="1344168"/>
          </a:xfrm>
          <a:prstGeom prst="rect">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32103" y="2715768"/>
            <a:ext cx="2459736" cy="237744"/>
          </a:xfrm>
          <a:prstGeom prst="rect">
            <a:avLst/>
          </a:prstGeom>
          <a:noFill/>
          <a:effectLst/>
        </p:spPr>
        <p:txBody>
          <a:bodyPr wrap="square" lIns="0" rIns="0" tIns="0" bIns="0">
            <a:spAutoFit/>
          </a:bodyPr>
          <a:lstStyle/>
          <a:p>
            <a:pPr>
              <a:lnSpc>
                <a:spcPct val="113000"/>
              </a:lnSpc>
              <a:spcAft>
                <a:spcPts val="0"/>
              </a:spcAft>
              <a:defRPr sz="900" b="1">
                <a:solidFill>
                  <a:srgbClr val="FFFFFF"/>
                </a:solidFill>
                <a:latin typeface="Noto Sans"/>
              </a:defRPr>
            </a:pPr>
            <a:r>
              <a:rPr>
                <a:ea typeface="Noto Sans CJK SC"/>
              </a:rPr>
              <a:t>LANDLORD</a:t>
            </a:r>
          </a:p>
        </p:txBody>
      </p:sp>
      <p:sp>
        <p:nvSpPr>
          <p:cNvPr id="10" name="TextBox 9"/>
          <p:cNvSpPr txBox="1"/>
          <p:nvPr/>
        </p:nvSpPr>
        <p:spPr>
          <a:xfrm>
            <a:off x="832103" y="3099816"/>
            <a:ext cx="2459736" cy="457200"/>
          </a:xfrm>
          <a:prstGeom prst="rect">
            <a:avLst/>
          </a:prstGeom>
          <a:noFill/>
          <a:effectLst/>
        </p:spPr>
        <p:txBody>
          <a:bodyPr wrap="square" lIns="0" rIns="0" tIns="0" bIns="0">
            <a:spAutoFit/>
          </a:bodyPr>
          <a:lstStyle/>
          <a:p>
            <a:pPr>
              <a:lnSpc>
                <a:spcPct val="113000"/>
              </a:lnSpc>
              <a:spcAft>
                <a:spcPts val="0"/>
              </a:spcAft>
              <a:defRPr sz="2600" b="0">
                <a:solidFill>
                  <a:srgbClr val="FFFFFF"/>
                </a:solidFill>
                <a:latin typeface="Noto Serif"/>
              </a:defRPr>
            </a:pPr>
            <a:r>
              <a:rPr>
                <a:ea typeface="Noto Sans CJK SC"/>
              </a:rPr>
              <a:t>Frederick</a:t>
            </a:r>
          </a:p>
        </p:txBody>
      </p:sp>
      <p:sp>
        <p:nvSpPr>
          <p:cNvPr id="11" name="Rectangle 10"/>
          <p:cNvSpPr/>
          <p:nvPr/>
        </p:nvSpPr>
        <p:spPr>
          <a:xfrm>
            <a:off x="4663440" y="2496312"/>
            <a:ext cx="2852928" cy="1344168"/>
          </a:xfrm>
          <a:prstGeom prst="rect">
            <a:avLst/>
          </a:prstGeom>
          <a:solidFill>
            <a:srgbClr val="A3445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864607" y="2715768"/>
            <a:ext cx="2459736" cy="237744"/>
          </a:xfrm>
          <a:prstGeom prst="rect">
            <a:avLst/>
          </a:prstGeom>
          <a:noFill/>
          <a:effectLst/>
        </p:spPr>
        <p:txBody>
          <a:bodyPr wrap="square" lIns="0" rIns="0" tIns="0" bIns="0">
            <a:spAutoFit/>
          </a:bodyPr>
          <a:lstStyle/>
          <a:p>
            <a:pPr>
              <a:lnSpc>
                <a:spcPct val="113000"/>
              </a:lnSpc>
              <a:spcAft>
                <a:spcPts val="0"/>
              </a:spcAft>
              <a:defRPr sz="900" b="1">
                <a:solidFill>
                  <a:srgbClr val="FFFFFF"/>
                </a:solidFill>
                <a:latin typeface="Noto Sans"/>
              </a:defRPr>
            </a:pPr>
            <a:r>
              <a:rPr>
                <a:ea typeface="Noto Sans CJK SC"/>
              </a:rPr>
              <a:t>TENANT</a:t>
            </a:r>
          </a:p>
        </p:txBody>
      </p:sp>
      <p:sp>
        <p:nvSpPr>
          <p:cNvPr id="13" name="TextBox 12"/>
          <p:cNvSpPr txBox="1"/>
          <p:nvPr/>
        </p:nvSpPr>
        <p:spPr>
          <a:xfrm>
            <a:off x="4864607" y="3099816"/>
            <a:ext cx="2459736" cy="457200"/>
          </a:xfrm>
          <a:prstGeom prst="rect">
            <a:avLst/>
          </a:prstGeom>
          <a:noFill/>
          <a:effectLst/>
        </p:spPr>
        <p:txBody>
          <a:bodyPr wrap="square" lIns="0" rIns="0" tIns="0" bIns="0">
            <a:spAutoFit/>
          </a:bodyPr>
          <a:lstStyle/>
          <a:p>
            <a:pPr>
              <a:lnSpc>
                <a:spcPct val="113000"/>
              </a:lnSpc>
              <a:spcAft>
                <a:spcPts val="0"/>
              </a:spcAft>
              <a:defRPr sz="2600" b="0">
                <a:solidFill>
                  <a:srgbClr val="FFFFFF"/>
                </a:solidFill>
                <a:latin typeface="Noto Serif"/>
              </a:defRPr>
            </a:pPr>
            <a:r>
              <a:rPr>
                <a:ea typeface="Noto Sans CJK SC"/>
              </a:rPr>
              <a:t>Angela</a:t>
            </a:r>
          </a:p>
        </p:txBody>
      </p:sp>
      <p:sp>
        <p:nvSpPr>
          <p:cNvPr id="14" name="Rectangle 13"/>
          <p:cNvSpPr/>
          <p:nvPr/>
        </p:nvSpPr>
        <p:spPr>
          <a:xfrm>
            <a:off x="8695944" y="2496312"/>
            <a:ext cx="2852928" cy="1344168"/>
          </a:xfrm>
          <a:prstGeom prst="rect">
            <a:avLst/>
          </a:prstGeom>
          <a:solidFill>
            <a:srgbClr val="D4A59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897112" y="2715768"/>
            <a:ext cx="2459736" cy="237744"/>
          </a:xfrm>
          <a:prstGeom prst="rect">
            <a:avLst/>
          </a:prstGeom>
          <a:noFill/>
          <a:effectLst/>
        </p:spPr>
        <p:txBody>
          <a:bodyPr wrap="square" lIns="0" rIns="0" tIns="0" bIns="0">
            <a:spAutoFit/>
          </a:bodyPr>
          <a:lstStyle/>
          <a:p>
            <a:pPr>
              <a:lnSpc>
                <a:spcPct val="113000"/>
              </a:lnSpc>
              <a:spcAft>
                <a:spcPts val="0"/>
              </a:spcAft>
              <a:defRPr sz="900" b="1">
                <a:solidFill>
                  <a:srgbClr val="7A202C"/>
                </a:solidFill>
                <a:latin typeface="Noto Sans"/>
              </a:defRPr>
            </a:pPr>
            <a:r>
              <a:rPr>
                <a:ea typeface="Noto Sans CJK SC"/>
              </a:rPr>
              <a:t>SUB-TENANT</a:t>
            </a:r>
          </a:p>
        </p:txBody>
      </p:sp>
      <p:sp>
        <p:nvSpPr>
          <p:cNvPr id="16" name="TextBox 15"/>
          <p:cNvSpPr txBox="1"/>
          <p:nvPr/>
        </p:nvSpPr>
        <p:spPr>
          <a:xfrm>
            <a:off x="8897112" y="3099816"/>
            <a:ext cx="2459736" cy="457200"/>
          </a:xfrm>
          <a:prstGeom prst="rect">
            <a:avLst/>
          </a:prstGeom>
          <a:noFill/>
          <a:effectLst/>
        </p:spPr>
        <p:txBody>
          <a:bodyPr wrap="square" lIns="0" rIns="0" tIns="0" bIns="0">
            <a:spAutoFit/>
          </a:bodyPr>
          <a:lstStyle/>
          <a:p>
            <a:pPr>
              <a:lnSpc>
                <a:spcPct val="113000"/>
              </a:lnSpc>
              <a:spcAft>
                <a:spcPts val="0"/>
              </a:spcAft>
              <a:defRPr sz="2600" b="0">
                <a:solidFill>
                  <a:srgbClr val="7A202C"/>
                </a:solidFill>
                <a:latin typeface="Noto Serif"/>
              </a:defRPr>
            </a:pPr>
            <a:r>
              <a:rPr>
                <a:ea typeface="Noto Sans CJK SC"/>
              </a:rPr>
              <a:t>Charles</a:t>
            </a:r>
          </a:p>
        </p:txBody>
      </p:sp>
      <p:cxnSp>
        <p:nvCxnSpPr>
          <p:cNvPr id="17" name="Connector 16"/>
          <p:cNvCxnSpPr/>
          <p:nvPr/>
        </p:nvCxnSpPr>
        <p:spPr>
          <a:xfrm>
            <a:off x="3483864" y="3182112"/>
            <a:ext cx="1179576" cy="0"/>
          </a:xfrm>
          <a:prstGeom prst="line">
            <a:avLst/>
          </a:prstGeom>
          <a:ln w="16510">
            <a:solidFill>
              <a:srgbClr val="A34450"/>
            </a:solidFill>
          </a:ln>
          <a:effectLst/>
        </p:spPr>
        <p:style>
          <a:lnRef idx="2">
            <a:schemeClr val="accent1"/>
          </a:lnRef>
          <a:fillRef idx="0">
            <a:schemeClr val="accent1"/>
          </a:fillRef>
          <a:effectRef idx="0">
            <a:schemeClr val="accent1"/>
          </a:effectRef>
          <a:fontRef idx="minor">
            <a:schemeClr val="tx1"/>
          </a:fontRef>
        </p:style>
      </p:cxnSp>
      <p:sp>
        <p:nvSpPr>
          <p:cNvPr id="18" name="Diamond 17"/>
          <p:cNvSpPr/>
          <p:nvPr/>
        </p:nvSpPr>
        <p:spPr>
          <a:xfrm>
            <a:off x="4590288" y="3145536"/>
            <a:ext cx="73152" cy="73152"/>
          </a:xfrm>
          <a:prstGeom prst="diamond">
            <a:avLst/>
          </a:prstGeom>
          <a:solidFill>
            <a:srgbClr val="A3445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3419856" y="2542032"/>
            <a:ext cx="1307591" cy="228600"/>
          </a:xfrm>
          <a:prstGeom prst="rect">
            <a:avLst/>
          </a:prstGeom>
          <a:noFill/>
          <a:effectLst/>
        </p:spPr>
        <p:txBody>
          <a:bodyPr wrap="square" lIns="0" rIns="0" tIns="0" bIns="0">
            <a:spAutoFit/>
          </a:bodyPr>
          <a:lstStyle/>
          <a:p>
            <a:pPr algn="ctr">
              <a:lnSpc>
                <a:spcPct val="113000"/>
              </a:lnSpc>
              <a:spcAft>
                <a:spcPts val="0"/>
              </a:spcAft>
              <a:defRPr sz="800" b="1">
                <a:solidFill>
                  <a:srgbClr val="A34450"/>
                </a:solidFill>
                <a:latin typeface="Noto Sans"/>
              </a:defRPr>
            </a:pPr>
            <a:r>
              <a:rPr>
                <a:ea typeface="Noto Sans CJK SC"/>
              </a:rPr>
              <a:t>HEAD TENANCY</a:t>
            </a:r>
          </a:p>
        </p:txBody>
      </p:sp>
      <p:sp>
        <p:nvSpPr>
          <p:cNvPr id="20" name="TextBox 19"/>
          <p:cNvSpPr txBox="1"/>
          <p:nvPr/>
        </p:nvSpPr>
        <p:spPr>
          <a:xfrm>
            <a:off x="3419856" y="2843784"/>
            <a:ext cx="1307591" cy="201168"/>
          </a:xfrm>
          <a:prstGeom prst="rect">
            <a:avLst/>
          </a:prstGeom>
          <a:noFill/>
          <a:effectLst/>
        </p:spPr>
        <p:txBody>
          <a:bodyPr wrap="square" lIns="0" rIns="0" tIns="0" bIns="0">
            <a:spAutoFit/>
          </a:bodyPr>
          <a:lstStyle/>
          <a:p>
            <a:pPr algn="ctr">
              <a:lnSpc>
                <a:spcPct val="113000"/>
              </a:lnSpc>
              <a:spcAft>
                <a:spcPts val="0"/>
              </a:spcAft>
              <a:defRPr sz="900" b="0">
                <a:solidFill>
                  <a:srgbClr val="666064"/>
                </a:solidFill>
                <a:latin typeface="Noto Sans"/>
              </a:defRPr>
            </a:pPr>
            <a:r>
              <a:rPr>
                <a:ea typeface="Noto Sans CJK SC"/>
              </a:rPr>
              <a:t>2 years</a:t>
            </a:r>
          </a:p>
        </p:txBody>
      </p:sp>
      <p:cxnSp>
        <p:nvCxnSpPr>
          <p:cNvPr id="21" name="Connector 20"/>
          <p:cNvCxnSpPr/>
          <p:nvPr/>
        </p:nvCxnSpPr>
        <p:spPr>
          <a:xfrm>
            <a:off x="7516368" y="3182112"/>
            <a:ext cx="1179576" cy="0"/>
          </a:xfrm>
          <a:prstGeom prst="line">
            <a:avLst/>
          </a:prstGeom>
          <a:ln w="16510">
            <a:solidFill>
              <a:srgbClr val="A34450"/>
            </a:solidFill>
          </a:ln>
          <a:effectLst/>
        </p:spPr>
        <p:style>
          <a:lnRef idx="2">
            <a:schemeClr val="accent1"/>
          </a:lnRef>
          <a:fillRef idx="0">
            <a:schemeClr val="accent1"/>
          </a:fillRef>
          <a:effectRef idx="0">
            <a:schemeClr val="accent1"/>
          </a:effectRef>
          <a:fontRef idx="minor">
            <a:schemeClr val="tx1"/>
          </a:fontRef>
        </p:style>
      </p:cxnSp>
      <p:sp>
        <p:nvSpPr>
          <p:cNvPr id="22" name="Diamond 21"/>
          <p:cNvSpPr/>
          <p:nvPr/>
        </p:nvSpPr>
        <p:spPr>
          <a:xfrm>
            <a:off x="8622792" y="3145536"/>
            <a:ext cx="73152" cy="73152"/>
          </a:xfrm>
          <a:prstGeom prst="diamond">
            <a:avLst/>
          </a:prstGeom>
          <a:solidFill>
            <a:srgbClr val="A3445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452360" y="2542032"/>
            <a:ext cx="1307591" cy="228600"/>
          </a:xfrm>
          <a:prstGeom prst="rect">
            <a:avLst/>
          </a:prstGeom>
          <a:noFill/>
          <a:effectLst/>
        </p:spPr>
        <p:txBody>
          <a:bodyPr wrap="square" lIns="0" rIns="0" tIns="0" bIns="0">
            <a:spAutoFit/>
          </a:bodyPr>
          <a:lstStyle/>
          <a:p>
            <a:pPr algn="ctr">
              <a:lnSpc>
                <a:spcPct val="113000"/>
              </a:lnSpc>
              <a:spcAft>
                <a:spcPts val="0"/>
              </a:spcAft>
              <a:defRPr sz="800" b="1">
                <a:solidFill>
                  <a:srgbClr val="A34450"/>
                </a:solidFill>
                <a:latin typeface="Noto Sans"/>
              </a:defRPr>
            </a:pPr>
            <a:r>
              <a:rPr>
                <a:ea typeface="Noto Sans CJK SC"/>
              </a:rPr>
              <a:t>SUB-TENANCY</a:t>
            </a:r>
          </a:p>
        </p:txBody>
      </p:sp>
      <p:sp>
        <p:nvSpPr>
          <p:cNvPr id="24" name="TextBox 23"/>
          <p:cNvSpPr txBox="1"/>
          <p:nvPr/>
        </p:nvSpPr>
        <p:spPr>
          <a:xfrm>
            <a:off x="7452360" y="2843784"/>
            <a:ext cx="1307591" cy="201168"/>
          </a:xfrm>
          <a:prstGeom prst="rect">
            <a:avLst/>
          </a:prstGeom>
          <a:noFill/>
          <a:effectLst/>
        </p:spPr>
        <p:txBody>
          <a:bodyPr wrap="square" lIns="0" rIns="0" tIns="0" bIns="0">
            <a:spAutoFit/>
          </a:bodyPr>
          <a:lstStyle/>
          <a:p>
            <a:pPr algn="ctr">
              <a:lnSpc>
                <a:spcPct val="113000"/>
              </a:lnSpc>
              <a:spcAft>
                <a:spcPts val="0"/>
              </a:spcAft>
              <a:defRPr sz="900" b="0">
                <a:solidFill>
                  <a:srgbClr val="666064"/>
                </a:solidFill>
                <a:latin typeface="Noto Sans"/>
              </a:defRPr>
            </a:pPr>
            <a:r>
              <a:rPr>
                <a:ea typeface="Noto Sans CJK SC"/>
              </a:rPr>
              <a:t>Agreement</a:t>
            </a:r>
          </a:p>
        </p:txBody>
      </p:sp>
      <p:cxnSp>
        <p:nvCxnSpPr>
          <p:cNvPr id="25" name="Connector 24"/>
          <p:cNvCxnSpPr/>
          <p:nvPr/>
        </p:nvCxnSpPr>
        <p:spPr>
          <a:xfrm>
            <a:off x="2057400" y="3840480"/>
            <a:ext cx="0" cy="749808"/>
          </a:xfrm>
          <a:prstGeom prst="line">
            <a:avLst/>
          </a:prstGeom>
          <a:ln w="10160">
            <a:solidFill>
              <a:srgbClr val="A34450"/>
            </a:solidFill>
            <a:prstDash val="dash"/>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2057400" y="4590288"/>
            <a:ext cx="8065008" cy="0"/>
          </a:xfrm>
          <a:prstGeom prst="line">
            <a:avLst/>
          </a:prstGeom>
          <a:ln w="10160">
            <a:solidFill>
              <a:srgbClr val="A34450"/>
            </a:solidFill>
            <a:prstDash val="dash"/>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flipV="1">
            <a:off x="10122408" y="3840480"/>
            <a:ext cx="0" cy="749808"/>
          </a:xfrm>
          <a:prstGeom prst="line">
            <a:avLst/>
          </a:prstGeom>
          <a:ln w="10160">
            <a:solidFill>
              <a:srgbClr val="A34450"/>
            </a:solidFill>
            <a:prstDash val="dash"/>
          </a:ln>
          <a:effectLst/>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2834640" y="4901184"/>
            <a:ext cx="6537960" cy="457200"/>
          </a:xfrm>
          <a:prstGeom prst="rect">
            <a:avLst/>
          </a:prstGeom>
          <a:noFill/>
          <a:effectLst/>
        </p:spPr>
        <p:txBody>
          <a:bodyPr wrap="square" lIns="0" rIns="0" tIns="0" bIns="0">
            <a:spAutoFit/>
          </a:bodyPr>
          <a:lstStyle/>
          <a:p>
            <a:pPr algn="ctr">
              <a:lnSpc>
                <a:spcPct val="113000"/>
              </a:lnSpc>
              <a:spcAft>
                <a:spcPts val="0"/>
              </a:spcAft>
              <a:defRPr sz="2300" b="0">
                <a:solidFill>
                  <a:srgbClr val="7A202C"/>
                </a:solidFill>
                <a:latin typeface="Noto Serif"/>
              </a:defRPr>
            </a:pPr>
            <a:r>
              <a:rPr>
                <a:ea typeface="Noto Sans CJK SC"/>
              </a:rPr>
              <a:t>No direct contractual relationship</a:t>
            </a:r>
          </a:p>
        </p:txBody>
      </p:sp>
      <p:sp>
        <p:nvSpPr>
          <p:cNvPr id="29" name="TextBox 28"/>
          <p:cNvSpPr txBox="1"/>
          <p:nvPr/>
        </p:nvSpPr>
        <p:spPr>
          <a:xfrm>
            <a:off x="2843784" y="5495544"/>
            <a:ext cx="6510528" cy="365760"/>
          </a:xfrm>
          <a:prstGeom prst="rect">
            <a:avLst/>
          </a:prstGeom>
          <a:noFill/>
          <a:effectLst/>
        </p:spPr>
        <p:txBody>
          <a:bodyPr wrap="square" lIns="0" rIns="0" tIns="0" bIns="0">
            <a:spAutoFit/>
          </a:bodyPr>
          <a:lstStyle/>
          <a:p>
            <a:pPr algn="ctr">
              <a:lnSpc>
                <a:spcPct val="113000"/>
              </a:lnSpc>
              <a:spcAft>
                <a:spcPts val="0"/>
              </a:spcAft>
              <a:defRPr sz="1600" b="0">
                <a:solidFill>
                  <a:srgbClr val="666064"/>
                </a:solidFill>
                <a:latin typeface="Noto Sans"/>
              </a:defRPr>
            </a:pPr>
            <a:r>
              <a:rPr>
                <a:ea typeface="Noto Sans CJK SC"/>
              </a:rPr>
              <a:t>between Frederick and Charles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621792" y="6437376"/>
            <a:ext cx="10945368"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630936" y="6556248"/>
            <a:ext cx="5486400" cy="237744"/>
          </a:xfrm>
          <a:prstGeom prst="rect">
            <a:avLst/>
          </a:prstGeom>
          <a:noFill/>
          <a:effectLst/>
        </p:spPr>
        <p:txBody>
          <a:bodyPr wrap="square" lIns="0" rIns="0" tIns="0" bIns="0">
            <a:spAutoFit/>
          </a:bodyPr>
          <a:lstStyle/>
          <a:p>
            <a:pPr>
              <a:lnSpc>
                <a:spcPct val="113000"/>
              </a:lnSpc>
              <a:spcAft>
                <a:spcPts val="0"/>
              </a:spcAft>
              <a:defRPr sz="800" b="1">
                <a:solidFill>
                  <a:srgbClr val="666064"/>
                </a:solidFill>
                <a:latin typeface="Noto Sans"/>
              </a:defRPr>
            </a:pPr>
            <a:r>
              <a:rPr>
                <a:ea typeface="Noto Sans CJK SC"/>
              </a:rPr>
              <a:t>5957  /  TENANCY DISPUTE</a:t>
            </a:r>
          </a:p>
        </p:txBody>
      </p:sp>
      <p:sp>
        <p:nvSpPr>
          <p:cNvPr id="4" name="TextBox 3"/>
          <p:cNvSpPr txBox="1"/>
          <p:nvPr/>
        </p:nvSpPr>
        <p:spPr>
          <a:xfrm>
            <a:off x="10149840" y="6537960"/>
            <a:ext cx="1399032" cy="201168"/>
          </a:xfrm>
          <a:prstGeom prst="rect">
            <a:avLst/>
          </a:prstGeom>
          <a:noFill/>
          <a:effectLst/>
        </p:spPr>
        <p:txBody>
          <a:bodyPr wrap="square" lIns="0" rIns="0" tIns="0" bIns="0">
            <a:spAutoFit/>
          </a:bodyPr>
          <a:lstStyle/>
          <a:p>
            <a:pPr algn="r">
              <a:lnSpc>
                <a:spcPct val="113000"/>
              </a:lnSpc>
              <a:spcAft>
                <a:spcPts val="0"/>
              </a:spcAft>
              <a:defRPr sz="800" b="0">
                <a:solidFill>
                  <a:srgbClr val="666064"/>
                </a:solidFill>
                <a:latin typeface="Noto Sans"/>
              </a:defRPr>
            </a:pPr>
            <a:r>
              <a:rPr>
                <a:ea typeface="Noto Sans CJK SC"/>
              </a:rPr>
              <a:t>08  /  30</a:t>
            </a:r>
          </a:p>
        </p:txBody>
      </p:sp>
      <p:sp>
        <p:nvSpPr>
          <p:cNvPr id="5" name="TextBox 4"/>
          <p:cNvSpPr txBox="1"/>
          <p:nvPr/>
        </p:nvSpPr>
        <p:spPr>
          <a:xfrm>
            <a:off x="630936" y="347472"/>
            <a:ext cx="9144000" cy="237744"/>
          </a:xfrm>
          <a:prstGeom prst="rect">
            <a:avLst/>
          </a:prstGeom>
          <a:noFill/>
          <a:effectLst/>
        </p:spPr>
        <p:txBody>
          <a:bodyPr wrap="square" lIns="0" rIns="0" tIns="0" bIns="0">
            <a:spAutoFit/>
          </a:bodyPr>
          <a:lstStyle/>
          <a:p>
            <a:pPr>
              <a:lnSpc>
                <a:spcPct val="113000"/>
              </a:lnSpc>
              <a:spcAft>
                <a:spcPts val="0"/>
              </a:spcAft>
              <a:defRPr sz="900" b="1">
                <a:solidFill>
                  <a:srgbClr val="A34450"/>
                </a:solidFill>
                <a:latin typeface="Noto Sans"/>
              </a:defRPr>
            </a:pPr>
            <a:r>
              <a:rPr>
                <a:ea typeface="Noto Sans CJK SC"/>
              </a:rPr>
              <a:t>TIMELINE</a:t>
            </a:r>
          </a:p>
        </p:txBody>
      </p:sp>
      <p:sp>
        <p:nvSpPr>
          <p:cNvPr id="6" name="TextBox 5"/>
          <p:cNvSpPr txBox="1"/>
          <p:nvPr/>
        </p:nvSpPr>
        <p:spPr>
          <a:xfrm>
            <a:off x="603504" y="758952"/>
            <a:ext cx="10972800" cy="612648"/>
          </a:xfrm>
          <a:prstGeom prst="rect">
            <a:avLst/>
          </a:prstGeom>
          <a:noFill/>
          <a:effectLst/>
        </p:spPr>
        <p:txBody>
          <a:bodyPr wrap="square" lIns="0" rIns="0" tIns="0" bIns="0">
            <a:spAutoFit/>
          </a:bodyPr>
          <a:lstStyle/>
          <a:p>
            <a:pPr>
              <a:lnSpc>
                <a:spcPct val="113000"/>
              </a:lnSpc>
              <a:spcAft>
                <a:spcPts val="0"/>
              </a:spcAft>
              <a:defRPr sz="3000" b="0">
                <a:solidFill>
                  <a:srgbClr val="7A202C"/>
                </a:solidFill>
                <a:latin typeface="Noto Serif"/>
              </a:defRPr>
            </a:pPr>
            <a:r>
              <a:rPr>
                <a:ea typeface="Noto Sans CJK SC"/>
              </a:rPr>
              <a:t>Chronology of the dispute</a:t>
            </a:r>
          </a:p>
        </p:txBody>
      </p:sp>
      <p:cxnSp>
        <p:nvCxnSpPr>
          <p:cNvPr id="7" name="Connector 6"/>
          <p:cNvCxnSpPr/>
          <p:nvPr/>
        </p:nvCxnSpPr>
        <p:spPr>
          <a:xfrm>
            <a:off x="621792" y="1490472"/>
            <a:ext cx="10945368" cy="0"/>
          </a:xfrm>
          <a:prstGeom prst="line">
            <a:avLst/>
          </a:prstGeom>
          <a:ln w="10795">
            <a:solidFill>
              <a:srgbClr val="D4A59A"/>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630936" y="1645920"/>
            <a:ext cx="10927080" cy="512064"/>
          </a:xfrm>
          <a:prstGeom prst="rect">
            <a:avLst/>
          </a:prstGeom>
          <a:noFill/>
          <a:effectLst/>
        </p:spPr>
        <p:txBody>
          <a:bodyPr wrap="square" lIns="0" rIns="0" tIns="0" bIns="0">
            <a:spAutoFit/>
          </a:bodyPr>
          <a:lstStyle/>
          <a:p>
            <a:pPr>
              <a:lnSpc>
                <a:spcPct val="113000"/>
              </a:lnSpc>
              <a:spcAft>
                <a:spcPts val="0"/>
              </a:spcAft>
              <a:defRPr sz="1300" b="0">
                <a:solidFill>
                  <a:srgbClr val="666064"/>
                </a:solidFill>
                <a:latin typeface="Noto Sans"/>
              </a:defRPr>
            </a:pPr>
            <a:r>
              <a:rPr>
                <a:ea typeface="Noto Sans CJK SC"/>
              </a:rPr>
              <a:t>Two recorded dates from the original briefing, with the fixed term shown separately.</a:t>
            </a:r>
          </a:p>
        </p:txBody>
      </p:sp>
      <p:cxnSp>
        <p:nvCxnSpPr>
          <p:cNvPr id="9" name="Connector 8"/>
          <p:cNvCxnSpPr/>
          <p:nvPr/>
        </p:nvCxnSpPr>
        <p:spPr>
          <a:xfrm>
            <a:off x="960120" y="3218688"/>
            <a:ext cx="10122408" cy="0"/>
          </a:xfrm>
          <a:prstGeom prst="line">
            <a:avLst/>
          </a:prstGeom>
          <a:ln w="20320">
            <a:solidFill>
              <a:srgbClr val="D4A59A"/>
            </a:solidFill>
          </a:ln>
          <a:effectLst/>
        </p:spPr>
        <p:style>
          <a:lnRef idx="2">
            <a:schemeClr val="accent1"/>
          </a:lnRef>
          <a:fillRef idx="0">
            <a:schemeClr val="accent1"/>
          </a:fillRef>
          <a:effectRef idx="0">
            <a:schemeClr val="accent1"/>
          </a:effectRef>
          <a:fontRef idx="minor">
            <a:schemeClr val="tx1"/>
          </a:fontRef>
        </p:style>
      </p:cxnSp>
      <p:sp>
        <p:nvSpPr>
          <p:cNvPr id="10" name="Oval 9"/>
          <p:cNvSpPr/>
          <p:nvPr/>
        </p:nvSpPr>
        <p:spPr>
          <a:xfrm>
            <a:off x="1170432" y="3136392"/>
            <a:ext cx="164592" cy="164592"/>
          </a:xfrm>
          <a:prstGeom prst="ellipse">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170432" y="2423160"/>
            <a:ext cx="4114800" cy="493776"/>
          </a:xfrm>
          <a:prstGeom prst="rect">
            <a:avLst/>
          </a:prstGeom>
          <a:noFill/>
          <a:effectLst/>
        </p:spPr>
        <p:txBody>
          <a:bodyPr wrap="square" lIns="0" rIns="0" tIns="0" bIns="0">
            <a:spAutoFit/>
          </a:bodyPr>
          <a:lstStyle/>
          <a:p>
            <a:pPr>
              <a:lnSpc>
                <a:spcPct val="113000"/>
              </a:lnSpc>
              <a:spcAft>
                <a:spcPts val="0"/>
              </a:spcAft>
              <a:defRPr sz="2700" b="0">
                <a:solidFill>
                  <a:srgbClr val="7A202C"/>
                </a:solidFill>
                <a:latin typeface="Noto Serif"/>
              </a:defRPr>
            </a:pPr>
            <a:r>
              <a:rPr>
                <a:ea typeface="Noto Sans CJK SC"/>
              </a:rPr>
              <a:t>1 December</a:t>
            </a:r>
          </a:p>
        </p:txBody>
      </p:sp>
      <p:sp>
        <p:nvSpPr>
          <p:cNvPr id="12" name="TextBox 11"/>
          <p:cNvSpPr txBox="1"/>
          <p:nvPr/>
        </p:nvSpPr>
        <p:spPr>
          <a:xfrm>
            <a:off x="1170432" y="3648456"/>
            <a:ext cx="4114800" cy="950976"/>
          </a:xfrm>
          <a:prstGeom prst="rect">
            <a:avLst/>
          </a:prstGeom>
          <a:noFill/>
          <a:effectLst/>
        </p:spPr>
        <p:txBody>
          <a:bodyPr wrap="square" lIns="0" rIns="0" tIns="0" bIns="0">
            <a:spAutoFit/>
          </a:bodyPr>
          <a:lstStyle/>
          <a:p>
            <a:pPr>
              <a:lnSpc>
                <a:spcPct val="113000"/>
              </a:lnSpc>
              <a:spcAft>
                <a:spcPts val="0"/>
              </a:spcAft>
              <a:defRPr sz="1800" b="0">
                <a:solidFill>
                  <a:srgbClr val="1E191C"/>
                </a:solidFill>
                <a:latin typeface="Noto Sans"/>
              </a:defRPr>
            </a:pPr>
            <a:r>
              <a:rPr>
                <a:ea typeface="Noto Sans CJK SC"/>
              </a:rPr>
              <a:t>Tenancy commenced</a:t>
            </a:r>
          </a:p>
          <a:p>
            <a:pPr>
              <a:lnSpc>
                <a:spcPct val="113000"/>
              </a:lnSpc>
              <a:spcAft>
                <a:spcPts val="0"/>
              </a:spcAft>
              <a:defRPr sz="1800" b="0">
                <a:solidFill>
                  <a:srgbClr val="1E191C"/>
                </a:solidFill>
                <a:latin typeface="Noto Sans"/>
              </a:defRPr>
            </a:pPr>
            <a:r>
              <a:rPr>
                <a:ea typeface="Noto Sans CJK SC"/>
              </a:rPr>
              <a:t>Previous year</a:t>
            </a:r>
          </a:p>
        </p:txBody>
      </p:sp>
      <p:sp>
        <p:nvSpPr>
          <p:cNvPr id="13" name="Oval 12"/>
          <p:cNvSpPr/>
          <p:nvPr/>
        </p:nvSpPr>
        <p:spPr>
          <a:xfrm>
            <a:off x="6876288" y="3136392"/>
            <a:ext cx="164592" cy="164592"/>
          </a:xfrm>
          <a:prstGeom prst="ellipse">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876288" y="2423160"/>
            <a:ext cx="4114800" cy="493776"/>
          </a:xfrm>
          <a:prstGeom prst="rect">
            <a:avLst/>
          </a:prstGeom>
          <a:noFill/>
          <a:effectLst/>
        </p:spPr>
        <p:txBody>
          <a:bodyPr wrap="square" lIns="0" rIns="0" tIns="0" bIns="0">
            <a:spAutoFit/>
          </a:bodyPr>
          <a:lstStyle/>
          <a:p>
            <a:pPr>
              <a:lnSpc>
                <a:spcPct val="113000"/>
              </a:lnSpc>
              <a:spcAft>
                <a:spcPts val="0"/>
              </a:spcAft>
              <a:defRPr sz="2700" b="0">
                <a:solidFill>
                  <a:srgbClr val="7A202C"/>
                </a:solidFill>
                <a:latin typeface="Noto Serif"/>
              </a:defRPr>
            </a:pPr>
            <a:r>
              <a:rPr>
                <a:ea typeface="Noto Sans CJK SC"/>
              </a:rPr>
              <a:t>1 September</a:t>
            </a:r>
          </a:p>
        </p:txBody>
      </p:sp>
      <p:sp>
        <p:nvSpPr>
          <p:cNvPr id="15" name="TextBox 14"/>
          <p:cNvSpPr txBox="1"/>
          <p:nvPr/>
        </p:nvSpPr>
        <p:spPr>
          <a:xfrm>
            <a:off x="6876288" y="3648456"/>
            <a:ext cx="4114800" cy="950976"/>
          </a:xfrm>
          <a:prstGeom prst="rect">
            <a:avLst/>
          </a:prstGeom>
          <a:noFill/>
          <a:effectLst/>
        </p:spPr>
        <p:txBody>
          <a:bodyPr wrap="square" lIns="0" rIns="0" tIns="0" bIns="0">
            <a:spAutoFit/>
          </a:bodyPr>
          <a:lstStyle/>
          <a:p>
            <a:pPr>
              <a:lnSpc>
                <a:spcPct val="113000"/>
              </a:lnSpc>
              <a:spcAft>
                <a:spcPts val="0"/>
              </a:spcAft>
              <a:defRPr sz="1800" b="0">
                <a:solidFill>
                  <a:srgbClr val="1E191C"/>
                </a:solidFill>
                <a:latin typeface="Noto Sans"/>
              </a:defRPr>
            </a:pPr>
            <a:r>
              <a:rPr>
                <a:ea typeface="Noto Sans CJK SC"/>
              </a:rPr>
              <a:t>Noise complaint received</a:t>
            </a:r>
          </a:p>
          <a:p>
            <a:pPr>
              <a:lnSpc>
                <a:spcPct val="113000"/>
              </a:lnSpc>
              <a:spcAft>
                <a:spcPts val="0"/>
              </a:spcAft>
              <a:defRPr sz="1800" b="0">
                <a:solidFill>
                  <a:srgbClr val="1E191C"/>
                </a:solidFill>
                <a:latin typeface="Noto Sans"/>
              </a:defRPr>
            </a:pPr>
            <a:r>
              <a:rPr>
                <a:ea typeface="Noto Sans CJK SC"/>
              </a:rPr>
              <a:t>Current year</a:t>
            </a:r>
          </a:p>
        </p:txBody>
      </p:sp>
      <p:sp>
        <p:nvSpPr>
          <p:cNvPr id="16" name="Rectangle 15"/>
          <p:cNvSpPr/>
          <p:nvPr/>
        </p:nvSpPr>
        <p:spPr>
          <a:xfrm>
            <a:off x="694944" y="5129784"/>
            <a:ext cx="10808208" cy="740664"/>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914400" y="5376672"/>
            <a:ext cx="2194560" cy="237744"/>
          </a:xfrm>
          <a:prstGeom prst="rect">
            <a:avLst/>
          </a:prstGeom>
          <a:noFill/>
          <a:effectLst/>
        </p:spPr>
        <p:txBody>
          <a:bodyPr wrap="square" lIns="0" rIns="0" tIns="0" bIns="0">
            <a:spAutoFit/>
          </a:bodyPr>
          <a:lstStyle/>
          <a:p>
            <a:pPr>
              <a:lnSpc>
                <a:spcPct val="113000"/>
              </a:lnSpc>
              <a:spcAft>
                <a:spcPts val="0"/>
              </a:spcAft>
              <a:defRPr sz="1000" b="1">
                <a:solidFill>
                  <a:srgbClr val="A34450"/>
                </a:solidFill>
                <a:latin typeface="Noto Sans"/>
              </a:defRPr>
            </a:pPr>
            <a:r>
              <a:rPr>
                <a:ea typeface="Noto Sans CJK SC"/>
              </a:rPr>
              <a:t>HEAD TENANCY</a:t>
            </a:r>
          </a:p>
        </p:txBody>
      </p:sp>
      <p:sp>
        <p:nvSpPr>
          <p:cNvPr id="18" name="TextBox 17"/>
          <p:cNvSpPr txBox="1"/>
          <p:nvPr/>
        </p:nvSpPr>
        <p:spPr>
          <a:xfrm>
            <a:off x="3246120" y="5321808"/>
            <a:ext cx="7955279" cy="402336"/>
          </a:xfrm>
          <a:prstGeom prst="rect">
            <a:avLst/>
          </a:prstGeom>
          <a:noFill/>
          <a:effectLst/>
        </p:spPr>
        <p:txBody>
          <a:bodyPr wrap="square" lIns="0" rIns="0" tIns="0" bIns="0">
            <a:spAutoFit/>
          </a:bodyPr>
          <a:lstStyle/>
          <a:p>
            <a:pPr>
              <a:lnSpc>
                <a:spcPct val="113000"/>
              </a:lnSpc>
              <a:spcAft>
                <a:spcPts val="0"/>
              </a:spcAft>
              <a:defRPr sz="2000" b="0">
                <a:solidFill>
                  <a:srgbClr val="7A202C"/>
                </a:solidFill>
                <a:latin typeface="Noto Serif"/>
              </a:defRPr>
            </a:pPr>
            <a:r>
              <a:rPr>
                <a:ea typeface="Noto Sans CJK SC"/>
              </a:rPr>
              <a:t>A fixed term of two years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621792" y="6437376"/>
            <a:ext cx="10945368"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630936" y="6556248"/>
            <a:ext cx="5486400" cy="237744"/>
          </a:xfrm>
          <a:prstGeom prst="rect">
            <a:avLst/>
          </a:prstGeom>
          <a:noFill/>
          <a:effectLst/>
        </p:spPr>
        <p:txBody>
          <a:bodyPr wrap="square" lIns="0" rIns="0" tIns="0" bIns="0">
            <a:spAutoFit/>
          </a:bodyPr>
          <a:lstStyle/>
          <a:p>
            <a:pPr>
              <a:lnSpc>
                <a:spcPct val="113000"/>
              </a:lnSpc>
              <a:spcAft>
                <a:spcPts val="0"/>
              </a:spcAft>
              <a:defRPr sz="800" b="1">
                <a:solidFill>
                  <a:srgbClr val="666064"/>
                </a:solidFill>
                <a:latin typeface="Noto Sans"/>
              </a:defRPr>
            </a:pPr>
            <a:r>
              <a:rPr>
                <a:ea typeface="Noto Sans CJK SC"/>
              </a:rPr>
              <a:t>5957  /  TENANCY DISPUTE</a:t>
            </a:r>
          </a:p>
        </p:txBody>
      </p:sp>
      <p:sp>
        <p:nvSpPr>
          <p:cNvPr id="4" name="TextBox 3"/>
          <p:cNvSpPr txBox="1"/>
          <p:nvPr/>
        </p:nvSpPr>
        <p:spPr>
          <a:xfrm>
            <a:off x="10149840" y="6537960"/>
            <a:ext cx="1399032" cy="201168"/>
          </a:xfrm>
          <a:prstGeom prst="rect">
            <a:avLst/>
          </a:prstGeom>
          <a:noFill/>
          <a:effectLst/>
        </p:spPr>
        <p:txBody>
          <a:bodyPr wrap="square" lIns="0" rIns="0" tIns="0" bIns="0">
            <a:spAutoFit/>
          </a:bodyPr>
          <a:lstStyle/>
          <a:p>
            <a:pPr algn="r">
              <a:lnSpc>
                <a:spcPct val="113000"/>
              </a:lnSpc>
              <a:spcAft>
                <a:spcPts val="0"/>
              </a:spcAft>
              <a:defRPr sz="800" b="0">
                <a:solidFill>
                  <a:srgbClr val="666064"/>
                </a:solidFill>
                <a:latin typeface="Noto Sans"/>
              </a:defRPr>
            </a:pPr>
            <a:r>
              <a:rPr>
                <a:ea typeface="Noto Sans CJK SC"/>
              </a:rPr>
              <a:t>09  /  30</a:t>
            </a:r>
          </a:p>
        </p:txBody>
      </p:sp>
      <p:sp>
        <p:nvSpPr>
          <p:cNvPr id="5" name="TextBox 4"/>
          <p:cNvSpPr txBox="1"/>
          <p:nvPr/>
        </p:nvSpPr>
        <p:spPr>
          <a:xfrm>
            <a:off x="630936" y="347472"/>
            <a:ext cx="9144000" cy="237744"/>
          </a:xfrm>
          <a:prstGeom prst="rect">
            <a:avLst/>
          </a:prstGeom>
          <a:noFill/>
          <a:effectLst/>
        </p:spPr>
        <p:txBody>
          <a:bodyPr wrap="square" lIns="0" rIns="0" tIns="0" bIns="0">
            <a:spAutoFit/>
          </a:bodyPr>
          <a:lstStyle/>
          <a:p>
            <a:pPr>
              <a:lnSpc>
                <a:spcPct val="113000"/>
              </a:lnSpc>
              <a:spcAft>
                <a:spcPts val="0"/>
              </a:spcAft>
              <a:defRPr sz="900" b="1">
                <a:solidFill>
                  <a:srgbClr val="A34450"/>
                </a:solidFill>
                <a:latin typeface="Noto Sans"/>
              </a:defRPr>
            </a:pPr>
            <a:r>
              <a:rPr>
                <a:ea typeface="Noto Sans CJK SC"/>
              </a:rPr>
              <a:t>FACT REVIEW WORKSHEET</a:t>
            </a:r>
          </a:p>
        </p:txBody>
      </p:sp>
      <p:sp>
        <p:nvSpPr>
          <p:cNvPr id="6" name="TextBox 5"/>
          <p:cNvSpPr txBox="1"/>
          <p:nvPr/>
        </p:nvSpPr>
        <p:spPr>
          <a:xfrm>
            <a:off x="603504" y="758952"/>
            <a:ext cx="10972800" cy="612648"/>
          </a:xfrm>
          <a:prstGeom prst="rect">
            <a:avLst/>
          </a:prstGeom>
          <a:noFill/>
          <a:effectLst/>
        </p:spPr>
        <p:txBody>
          <a:bodyPr wrap="square" lIns="0" rIns="0" tIns="0" bIns="0">
            <a:spAutoFit/>
          </a:bodyPr>
          <a:lstStyle/>
          <a:p>
            <a:pPr>
              <a:lnSpc>
                <a:spcPct val="113000"/>
              </a:lnSpc>
              <a:spcAft>
                <a:spcPts val="0"/>
              </a:spcAft>
              <a:defRPr sz="3000" b="0">
                <a:solidFill>
                  <a:srgbClr val="7A202C"/>
                </a:solidFill>
                <a:latin typeface="Noto Serif"/>
              </a:defRPr>
            </a:pPr>
            <a:r>
              <a:rPr>
                <a:ea typeface="Noto Sans CJK SC"/>
              </a:rPr>
              <a:t>Facts, allegations and verification</a:t>
            </a:r>
          </a:p>
        </p:txBody>
      </p:sp>
      <p:cxnSp>
        <p:nvCxnSpPr>
          <p:cNvPr id="7" name="Connector 6"/>
          <p:cNvCxnSpPr/>
          <p:nvPr/>
        </p:nvCxnSpPr>
        <p:spPr>
          <a:xfrm>
            <a:off x="621792" y="1490472"/>
            <a:ext cx="10945368" cy="0"/>
          </a:xfrm>
          <a:prstGeom prst="line">
            <a:avLst/>
          </a:prstGeom>
          <a:ln w="10795">
            <a:solidFill>
              <a:srgbClr val="D4A59A"/>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630936" y="1645920"/>
            <a:ext cx="10927080" cy="512064"/>
          </a:xfrm>
          <a:prstGeom prst="rect">
            <a:avLst/>
          </a:prstGeom>
          <a:noFill/>
          <a:effectLst/>
        </p:spPr>
        <p:txBody>
          <a:bodyPr wrap="square" lIns="0" rIns="0" tIns="0" bIns="0">
            <a:spAutoFit/>
          </a:bodyPr>
          <a:lstStyle/>
          <a:p>
            <a:pPr>
              <a:lnSpc>
                <a:spcPct val="113000"/>
              </a:lnSpc>
              <a:spcAft>
                <a:spcPts val="0"/>
              </a:spcAft>
              <a:defRPr sz="1300" b="0">
                <a:solidFill>
                  <a:srgbClr val="666064"/>
                </a:solidFill>
                <a:latin typeface="Noto Sans"/>
              </a:defRPr>
            </a:pPr>
            <a:r>
              <a:rPr>
                <a:ea typeface="Noto Sans CJK SC"/>
              </a:rPr>
              <a:t>Separate the original briefing from matters that still need supporting material.</a:t>
            </a:r>
          </a:p>
        </p:txBody>
      </p:sp>
      <p:sp>
        <p:nvSpPr>
          <p:cNvPr id="9" name="Rectangle 8"/>
          <p:cNvSpPr/>
          <p:nvPr/>
        </p:nvSpPr>
        <p:spPr>
          <a:xfrm>
            <a:off x="630936" y="2057400"/>
            <a:ext cx="1938528" cy="512064"/>
          </a:xfrm>
          <a:prstGeom prst="rect">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86384" y="2185416"/>
            <a:ext cx="1627632" cy="283464"/>
          </a:xfrm>
          <a:prstGeom prst="rect">
            <a:avLst/>
          </a:prstGeom>
          <a:noFill/>
          <a:effectLst/>
        </p:spPr>
        <p:txBody>
          <a:bodyPr wrap="square" lIns="0" rIns="0" tIns="0" bIns="0">
            <a:spAutoFit/>
          </a:bodyPr>
          <a:lstStyle/>
          <a:p>
            <a:pPr>
              <a:lnSpc>
                <a:spcPct val="113000"/>
              </a:lnSpc>
              <a:spcAft>
                <a:spcPts val="0"/>
              </a:spcAft>
              <a:defRPr sz="1200" b="1">
                <a:solidFill>
                  <a:srgbClr val="FFFFFF"/>
                </a:solidFill>
                <a:latin typeface="Noto Sans"/>
              </a:defRPr>
            </a:pPr>
            <a:r>
              <a:rPr>
                <a:ea typeface="Noto Sans CJK SC"/>
              </a:rPr>
              <a:t>Item</a:t>
            </a:r>
          </a:p>
        </p:txBody>
      </p:sp>
      <p:sp>
        <p:nvSpPr>
          <p:cNvPr id="11" name="Rectangle 10"/>
          <p:cNvSpPr/>
          <p:nvPr/>
        </p:nvSpPr>
        <p:spPr>
          <a:xfrm>
            <a:off x="2569464" y="2057400"/>
            <a:ext cx="4151376" cy="512064"/>
          </a:xfrm>
          <a:prstGeom prst="rect">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2724912" y="2185416"/>
            <a:ext cx="3840480" cy="283464"/>
          </a:xfrm>
          <a:prstGeom prst="rect">
            <a:avLst/>
          </a:prstGeom>
          <a:noFill/>
          <a:effectLst/>
        </p:spPr>
        <p:txBody>
          <a:bodyPr wrap="square" lIns="0" rIns="0" tIns="0" bIns="0">
            <a:spAutoFit/>
          </a:bodyPr>
          <a:lstStyle/>
          <a:p>
            <a:pPr>
              <a:lnSpc>
                <a:spcPct val="113000"/>
              </a:lnSpc>
              <a:spcAft>
                <a:spcPts val="0"/>
              </a:spcAft>
              <a:defRPr sz="1200" b="1">
                <a:solidFill>
                  <a:srgbClr val="FFFFFF"/>
                </a:solidFill>
                <a:latin typeface="Noto Sans"/>
              </a:defRPr>
            </a:pPr>
            <a:r>
              <a:rPr>
                <a:ea typeface="Noto Sans CJK SC"/>
              </a:rPr>
              <a:t>Position in the briefing</a:t>
            </a:r>
          </a:p>
        </p:txBody>
      </p:sp>
      <p:sp>
        <p:nvSpPr>
          <p:cNvPr id="13" name="Rectangle 12"/>
          <p:cNvSpPr/>
          <p:nvPr/>
        </p:nvSpPr>
        <p:spPr>
          <a:xfrm>
            <a:off x="6720840" y="2057400"/>
            <a:ext cx="4846320" cy="512064"/>
          </a:xfrm>
          <a:prstGeom prst="rect">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876288" y="2185416"/>
            <a:ext cx="4535424" cy="283464"/>
          </a:xfrm>
          <a:prstGeom prst="rect">
            <a:avLst/>
          </a:prstGeom>
          <a:noFill/>
          <a:effectLst/>
        </p:spPr>
        <p:txBody>
          <a:bodyPr wrap="square" lIns="0" rIns="0" tIns="0" bIns="0">
            <a:spAutoFit/>
          </a:bodyPr>
          <a:lstStyle/>
          <a:p>
            <a:pPr>
              <a:lnSpc>
                <a:spcPct val="113000"/>
              </a:lnSpc>
              <a:spcAft>
                <a:spcPts val="0"/>
              </a:spcAft>
              <a:defRPr sz="1200" b="1">
                <a:solidFill>
                  <a:srgbClr val="FFFFFF"/>
                </a:solidFill>
                <a:latin typeface="Noto Sans"/>
              </a:defRPr>
            </a:pPr>
            <a:r>
              <a:rPr>
                <a:ea typeface="Noto Sans CJK SC"/>
              </a:rPr>
              <a:t>Review prompt</a:t>
            </a:r>
          </a:p>
        </p:txBody>
      </p:sp>
      <p:sp>
        <p:nvSpPr>
          <p:cNvPr id="15" name="Rectangle 14"/>
          <p:cNvSpPr/>
          <p:nvPr/>
        </p:nvSpPr>
        <p:spPr>
          <a:xfrm>
            <a:off x="630936" y="2569464"/>
            <a:ext cx="1938528" cy="777240"/>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86384" y="2724912"/>
            <a:ext cx="1627632" cy="548640"/>
          </a:xfrm>
          <a:prstGeom prst="rect">
            <a:avLst/>
          </a:prstGeom>
          <a:noFill/>
          <a:effectLst/>
        </p:spPr>
        <p:txBody>
          <a:bodyPr wrap="square" lIns="0" rIns="0" tIns="0" bIns="0">
            <a:spAutoFit/>
          </a:bodyPr>
          <a:lstStyle/>
          <a:p>
            <a:pPr>
              <a:lnSpc>
                <a:spcPct val="113000"/>
              </a:lnSpc>
              <a:spcAft>
                <a:spcPts val="0"/>
              </a:spcAft>
              <a:defRPr sz="1400" b="1">
                <a:solidFill>
                  <a:srgbClr val="7A202C"/>
                </a:solidFill>
                <a:latin typeface="Noto Sans"/>
              </a:defRPr>
            </a:pPr>
            <a:r>
              <a:rPr>
                <a:ea typeface="Noto Sans CJK SC"/>
              </a:rPr>
              <a:t>Tenancy term</a:t>
            </a:r>
          </a:p>
        </p:txBody>
      </p:sp>
      <p:sp>
        <p:nvSpPr>
          <p:cNvPr id="17" name="Rectangle 16"/>
          <p:cNvSpPr/>
          <p:nvPr/>
        </p:nvSpPr>
        <p:spPr>
          <a:xfrm>
            <a:off x="2569464" y="2569464"/>
            <a:ext cx="4151376" cy="777240"/>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2724912" y="2724912"/>
            <a:ext cx="3840480" cy="548640"/>
          </a:xfrm>
          <a:prstGeom prst="rect">
            <a:avLst/>
          </a:prstGeom>
          <a:noFill/>
          <a:effectLst/>
        </p:spPr>
        <p:txBody>
          <a:bodyPr wrap="square" lIns="0" rIns="0" tIns="0" bIns="0">
            <a:spAutoFit/>
          </a:bodyPr>
          <a:lstStyle/>
          <a:p>
            <a:pPr>
              <a:lnSpc>
                <a:spcPct val="113000"/>
              </a:lnSpc>
              <a:spcAft>
                <a:spcPts val="0"/>
              </a:spcAft>
              <a:defRPr sz="1400" b="0">
                <a:solidFill>
                  <a:srgbClr val="1E191C"/>
                </a:solidFill>
                <a:latin typeface="Noto Sans"/>
              </a:defRPr>
            </a:pPr>
            <a:r>
              <a:rPr>
                <a:ea typeface="Noto Sans CJK SC"/>
              </a:rPr>
              <a:t>Two years</a:t>
            </a:r>
          </a:p>
        </p:txBody>
      </p:sp>
      <p:sp>
        <p:nvSpPr>
          <p:cNvPr id="19" name="Rectangle 18"/>
          <p:cNvSpPr/>
          <p:nvPr/>
        </p:nvSpPr>
        <p:spPr>
          <a:xfrm>
            <a:off x="6720840" y="2569464"/>
            <a:ext cx="4846320" cy="777240"/>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876288" y="2724912"/>
            <a:ext cx="4535424" cy="548640"/>
          </a:xfrm>
          <a:prstGeom prst="rect">
            <a:avLst/>
          </a:prstGeom>
          <a:noFill/>
          <a:effectLst/>
        </p:spPr>
        <p:txBody>
          <a:bodyPr wrap="square" lIns="0" rIns="0" tIns="0" bIns="0">
            <a:spAutoFit/>
          </a:bodyPr>
          <a:lstStyle/>
          <a:p>
            <a:pPr>
              <a:lnSpc>
                <a:spcPct val="113000"/>
              </a:lnSpc>
              <a:spcAft>
                <a:spcPts val="0"/>
              </a:spcAft>
              <a:defRPr sz="1400" b="0">
                <a:solidFill>
                  <a:srgbClr val="1E191C"/>
                </a:solidFill>
                <a:latin typeface="Noto Sans"/>
              </a:defRPr>
            </a:pPr>
            <a:r>
              <a:rPr>
                <a:ea typeface="Noto Sans CJK SC"/>
              </a:rPr>
              <a:t>Locate the executed head tenancy.</a:t>
            </a:r>
          </a:p>
        </p:txBody>
      </p:sp>
      <p:cxnSp>
        <p:nvCxnSpPr>
          <p:cNvPr id="21" name="Connector 20"/>
          <p:cNvCxnSpPr/>
          <p:nvPr/>
        </p:nvCxnSpPr>
        <p:spPr>
          <a:xfrm>
            <a:off x="630936" y="3346704"/>
            <a:ext cx="10936224"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22" name="Rectangle 21"/>
          <p:cNvSpPr/>
          <p:nvPr/>
        </p:nvSpPr>
        <p:spPr>
          <a:xfrm>
            <a:off x="630936" y="3346704"/>
            <a:ext cx="1938528" cy="777240"/>
          </a:xfrm>
          <a:prstGeom prst="rect">
            <a:avLst/>
          </a:prstGeom>
          <a:solidFill>
            <a:srgbClr val="FCF9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86384" y="3502152"/>
            <a:ext cx="1627632" cy="548640"/>
          </a:xfrm>
          <a:prstGeom prst="rect">
            <a:avLst/>
          </a:prstGeom>
          <a:noFill/>
          <a:effectLst/>
        </p:spPr>
        <p:txBody>
          <a:bodyPr wrap="square" lIns="0" rIns="0" tIns="0" bIns="0">
            <a:spAutoFit/>
          </a:bodyPr>
          <a:lstStyle/>
          <a:p>
            <a:pPr>
              <a:lnSpc>
                <a:spcPct val="113000"/>
              </a:lnSpc>
              <a:spcAft>
                <a:spcPts val="0"/>
              </a:spcAft>
              <a:defRPr sz="1400" b="1">
                <a:solidFill>
                  <a:srgbClr val="7A202C"/>
                </a:solidFill>
                <a:latin typeface="Noto Sans"/>
              </a:defRPr>
            </a:pPr>
            <a:r>
              <a:rPr>
                <a:ea typeface="Noto Sans CJK SC"/>
              </a:rPr>
              <a:t>Subletting</a:t>
            </a:r>
          </a:p>
        </p:txBody>
      </p:sp>
      <p:sp>
        <p:nvSpPr>
          <p:cNvPr id="24" name="Rectangle 23"/>
          <p:cNvSpPr/>
          <p:nvPr/>
        </p:nvSpPr>
        <p:spPr>
          <a:xfrm>
            <a:off x="2569464" y="3346704"/>
            <a:ext cx="4151376" cy="777240"/>
          </a:xfrm>
          <a:prstGeom prst="rect">
            <a:avLst/>
          </a:prstGeom>
          <a:solidFill>
            <a:srgbClr val="FCF9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2724912" y="3502152"/>
            <a:ext cx="3840480" cy="548640"/>
          </a:xfrm>
          <a:prstGeom prst="rect">
            <a:avLst/>
          </a:prstGeom>
          <a:noFill/>
          <a:effectLst/>
        </p:spPr>
        <p:txBody>
          <a:bodyPr wrap="square" lIns="0" rIns="0" tIns="0" bIns="0">
            <a:spAutoFit/>
          </a:bodyPr>
          <a:lstStyle/>
          <a:p>
            <a:pPr>
              <a:lnSpc>
                <a:spcPct val="113000"/>
              </a:lnSpc>
              <a:spcAft>
                <a:spcPts val="0"/>
              </a:spcAft>
              <a:defRPr sz="1400" b="0">
                <a:solidFill>
                  <a:srgbClr val="1E191C"/>
                </a:solidFill>
                <a:latin typeface="Noto Sans"/>
              </a:defRPr>
            </a:pPr>
            <a:r>
              <a:rPr>
                <a:ea typeface="Noto Sans CJK SC"/>
              </a:rPr>
              <a:t>Angela sublet to Charles</a:t>
            </a:r>
          </a:p>
        </p:txBody>
      </p:sp>
      <p:sp>
        <p:nvSpPr>
          <p:cNvPr id="26" name="Rectangle 25"/>
          <p:cNvSpPr/>
          <p:nvPr/>
        </p:nvSpPr>
        <p:spPr>
          <a:xfrm>
            <a:off x="6720840" y="3346704"/>
            <a:ext cx="4846320" cy="777240"/>
          </a:xfrm>
          <a:prstGeom prst="rect">
            <a:avLst/>
          </a:prstGeom>
          <a:solidFill>
            <a:srgbClr val="FCF9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876288" y="3502152"/>
            <a:ext cx="4535424" cy="548640"/>
          </a:xfrm>
          <a:prstGeom prst="rect">
            <a:avLst/>
          </a:prstGeom>
          <a:noFill/>
          <a:effectLst/>
        </p:spPr>
        <p:txBody>
          <a:bodyPr wrap="square" lIns="0" rIns="0" tIns="0" bIns="0">
            <a:spAutoFit/>
          </a:bodyPr>
          <a:lstStyle/>
          <a:p>
            <a:pPr>
              <a:lnSpc>
                <a:spcPct val="113000"/>
              </a:lnSpc>
              <a:spcAft>
                <a:spcPts val="0"/>
              </a:spcAft>
              <a:defRPr sz="1400" b="0">
                <a:solidFill>
                  <a:srgbClr val="1E191C"/>
                </a:solidFill>
                <a:latin typeface="Noto Sans"/>
              </a:defRPr>
            </a:pPr>
            <a:r>
              <a:rPr>
                <a:ea typeface="Noto Sans CJK SC"/>
              </a:rPr>
              <a:t>Check restrictions and consent evidence.</a:t>
            </a:r>
          </a:p>
        </p:txBody>
      </p:sp>
      <p:cxnSp>
        <p:nvCxnSpPr>
          <p:cNvPr id="28" name="Connector 27"/>
          <p:cNvCxnSpPr/>
          <p:nvPr/>
        </p:nvCxnSpPr>
        <p:spPr>
          <a:xfrm>
            <a:off x="630936" y="4123944"/>
            <a:ext cx="10936224"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29" name="Rectangle 28"/>
          <p:cNvSpPr/>
          <p:nvPr/>
        </p:nvSpPr>
        <p:spPr>
          <a:xfrm>
            <a:off x="630936" y="4123944"/>
            <a:ext cx="1938528" cy="777240"/>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786384" y="4279392"/>
            <a:ext cx="1627632" cy="548640"/>
          </a:xfrm>
          <a:prstGeom prst="rect">
            <a:avLst/>
          </a:prstGeom>
          <a:noFill/>
          <a:effectLst/>
        </p:spPr>
        <p:txBody>
          <a:bodyPr wrap="square" lIns="0" rIns="0" tIns="0" bIns="0">
            <a:spAutoFit/>
          </a:bodyPr>
          <a:lstStyle/>
          <a:p>
            <a:pPr>
              <a:lnSpc>
                <a:spcPct val="113000"/>
              </a:lnSpc>
              <a:spcAft>
                <a:spcPts val="0"/>
              </a:spcAft>
              <a:defRPr sz="1400" b="1">
                <a:solidFill>
                  <a:srgbClr val="7A202C"/>
                </a:solidFill>
                <a:latin typeface="Noto Sans"/>
              </a:defRPr>
            </a:pPr>
            <a:r>
              <a:rPr>
                <a:ea typeface="Noto Sans CJK SC"/>
              </a:rPr>
              <a:t>Noise</a:t>
            </a:r>
          </a:p>
        </p:txBody>
      </p:sp>
      <p:sp>
        <p:nvSpPr>
          <p:cNvPr id="31" name="Rectangle 30"/>
          <p:cNvSpPr/>
          <p:nvPr/>
        </p:nvSpPr>
        <p:spPr>
          <a:xfrm>
            <a:off x="2569464" y="4123944"/>
            <a:ext cx="4151376" cy="777240"/>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724912" y="4279392"/>
            <a:ext cx="3840480" cy="548640"/>
          </a:xfrm>
          <a:prstGeom prst="rect">
            <a:avLst/>
          </a:prstGeom>
          <a:noFill/>
          <a:effectLst/>
        </p:spPr>
        <p:txBody>
          <a:bodyPr wrap="square" lIns="0" rIns="0" tIns="0" bIns="0">
            <a:spAutoFit/>
          </a:bodyPr>
          <a:lstStyle/>
          <a:p>
            <a:pPr>
              <a:lnSpc>
                <a:spcPct val="113000"/>
              </a:lnSpc>
              <a:spcAft>
                <a:spcPts val="0"/>
              </a:spcAft>
              <a:defRPr sz="1400" b="0">
                <a:solidFill>
                  <a:srgbClr val="1E191C"/>
                </a:solidFill>
                <a:latin typeface="Noto Sans"/>
              </a:defRPr>
            </a:pPr>
            <a:r>
              <a:rPr>
                <a:ea typeface="Noto Sans CJK SC"/>
              </a:rPr>
              <a:t>A complaint was received</a:t>
            </a:r>
          </a:p>
        </p:txBody>
      </p:sp>
      <p:sp>
        <p:nvSpPr>
          <p:cNvPr id="33" name="Rectangle 32"/>
          <p:cNvSpPr/>
          <p:nvPr/>
        </p:nvSpPr>
        <p:spPr>
          <a:xfrm>
            <a:off x="6720840" y="4123944"/>
            <a:ext cx="4846320" cy="777240"/>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876288" y="4279392"/>
            <a:ext cx="4535424" cy="548640"/>
          </a:xfrm>
          <a:prstGeom prst="rect">
            <a:avLst/>
          </a:prstGeom>
          <a:noFill/>
          <a:effectLst/>
        </p:spPr>
        <p:txBody>
          <a:bodyPr wrap="square" lIns="0" rIns="0" tIns="0" bIns="0">
            <a:spAutoFit/>
          </a:bodyPr>
          <a:lstStyle/>
          <a:p>
            <a:pPr>
              <a:lnSpc>
                <a:spcPct val="113000"/>
              </a:lnSpc>
              <a:spcAft>
                <a:spcPts val="0"/>
              </a:spcAft>
              <a:defRPr sz="1400" b="0">
                <a:solidFill>
                  <a:srgbClr val="1E191C"/>
                </a:solidFill>
                <a:latin typeface="Noto Sans"/>
              </a:defRPr>
            </a:pPr>
            <a:r>
              <a:rPr>
                <a:ea typeface="Noto Sans CJK SC"/>
              </a:rPr>
              <a:t>Review records and supporting evidence.</a:t>
            </a:r>
          </a:p>
        </p:txBody>
      </p:sp>
      <p:cxnSp>
        <p:nvCxnSpPr>
          <p:cNvPr id="35" name="Connector 34"/>
          <p:cNvCxnSpPr/>
          <p:nvPr/>
        </p:nvCxnSpPr>
        <p:spPr>
          <a:xfrm>
            <a:off x="630936" y="4901183"/>
            <a:ext cx="10936224"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36" name="Rectangle 35"/>
          <p:cNvSpPr/>
          <p:nvPr/>
        </p:nvSpPr>
        <p:spPr>
          <a:xfrm>
            <a:off x="630936" y="4901183"/>
            <a:ext cx="1938528" cy="777240"/>
          </a:xfrm>
          <a:prstGeom prst="rect">
            <a:avLst/>
          </a:prstGeom>
          <a:solidFill>
            <a:srgbClr val="FCF9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86384" y="5056631"/>
            <a:ext cx="1627632" cy="548640"/>
          </a:xfrm>
          <a:prstGeom prst="rect">
            <a:avLst/>
          </a:prstGeom>
          <a:noFill/>
          <a:effectLst/>
        </p:spPr>
        <p:txBody>
          <a:bodyPr wrap="square" lIns="0" rIns="0" tIns="0" bIns="0">
            <a:spAutoFit/>
          </a:bodyPr>
          <a:lstStyle/>
          <a:p>
            <a:pPr>
              <a:lnSpc>
                <a:spcPct val="113000"/>
              </a:lnSpc>
              <a:spcAft>
                <a:spcPts val="0"/>
              </a:spcAft>
              <a:defRPr sz="1400" b="1">
                <a:solidFill>
                  <a:srgbClr val="7A202C"/>
                </a:solidFill>
                <a:latin typeface="Noto Sans"/>
              </a:defRPr>
            </a:pPr>
            <a:r>
              <a:rPr>
                <a:ea typeface="Noto Sans CJK SC"/>
              </a:rPr>
              <a:t>Renewal</a:t>
            </a:r>
          </a:p>
        </p:txBody>
      </p:sp>
      <p:sp>
        <p:nvSpPr>
          <p:cNvPr id="38" name="Rectangle 37"/>
          <p:cNvSpPr/>
          <p:nvPr/>
        </p:nvSpPr>
        <p:spPr>
          <a:xfrm>
            <a:off x="2569464" y="4901183"/>
            <a:ext cx="4151376" cy="777240"/>
          </a:xfrm>
          <a:prstGeom prst="rect">
            <a:avLst/>
          </a:prstGeom>
          <a:solidFill>
            <a:srgbClr val="FCF9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2724912" y="5056631"/>
            <a:ext cx="3840480" cy="548640"/>
          </a:xfrm>
          <a:prstGeom prst="rect">
            <a:avLst/>
          </a:prstGeom>
          <a:noFill/>
          <a:effectLst/>
        </p:spPr>
        <p:txBody>
          <a:bodyPr wrap="square" lIns="0" rIns="0" tIns="0" bIns="0">
            <a:spAutoFit/>
          </a:bodyPr>
          <a:lstStyle/>
          <a:p>
            <a:pPr>
              <a:lnSpc>
                <a:spcPct val="113000"/>
              </a:lnSpc>
              <a:spcAft>
                <a:spcPts val="0"/>
              </a:spcAft>
              <a:defRPr sz="1400" b="0">
                <a:solidFill>
                  <a:srgbClr val="1E191C"/>
                </a:solidFill>
                <a:latin typeface="Noto Sans"/>
              </a:defRPr>
            </a:pPr>
            <a:r>
              <a:rPr>
                <a:ea typeface="Noto Sans CJK SC"/>
              </a:rPr>
              <a:t>Enforceability is disputed</a:t>
            </a:r>
          </a:p>
        </p:txBody>
      </p:sp>
      <p:sp>
        <p:nvSpPr>
          <p:cNvPr id="40" name="Rectangle 39"/>
          <p:cNvSpPr/>
          <p:nvPr/>
        </p:nvSpPr>
        <p:spPr>
          <a:xfrm>
            <a:off x="6720840" y="4901183"/>
            <a:ext cx="4846320" cy="777240"/>
          </a:xfrm>
          <a:prstGeom prst="rect">
            <a:avLst/>
          </a:prstGeom>
          <a:solidFill>
            <a:srgbClr val="FCF9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6876288" y="5056631"/>
            <a:ext cx="4535424" cy="548640"/>
          </a:xfrm>
          <a:prstGeom prst="rect">
            <a:avLst/>
          </a:prstGeom>
          <a:noFill/>
          <a:effectLst/>
        </p:spPr>
        <p:txBody>
          <a:bodyPr wrap="square" lIns="0" rIns="0" tIns="0" bIns="0">
            <a:spAutoFit/>
          </a:bodyPr>
          <a:lstStyle/>
          <a:p>
            <a:pPr>
              <a:lnSpc>
                <a:spcPct val="113000"/>
              </a:lnSpc>
              <a:spcAft>
                <a:spcPts val="0"/>
              </a:spcAft>
              <a:defRPr sz="1400" b="0">
                <a:solidFill>
                  <a:srgbClr val="1E191C"/>
                </a:solidFill>
                <a:latin typeface="Noto Sans"/>
              </a:defRPr>
            </a:pPr>
            <a:r>
              <a:rPr>
                <a:ea typeface="Noto Sans CJK SC"/>
              </a:rPr>
              <a:t>Locate the renewal and rent provisions.</a:t>
            </a:r>
          </a:p>
        </p:txBody>
      </p:sp>
      <p:cxnSp>
        <p:nvCxnSpPr>
          <p:cNvPr id="42" name="Connector 41"/>
          <p:cNvCxnSpPr/>
          <p:nvPr/>
        </p:nvCxnSpPr>
        <p:spPr>
          <a:xfrm>
            <a:off x="630936" y="5678423"/>
            <a:ext cx="10936224"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43" name="Rectangle 42"/>
          <p:cNvSpPr/>
          <p:nvPr/>
        </p:nvSpPr>
        <p:spPr>
          <a:xfrm>
            <a:off x="630936" y="5833872"/>
            <a:ext cx="10936224" cy="393192"/>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795528" y="5925312"/>
            <a:ext cx="10588752" cy="237744"/>
          </a:xfrm>
          <a:prstGeom prst="rect">
            <a:avLst/>
          </a:prstGeom>
          <a:noFill/>
          <a:effectLst/>
        </p:spPr>
        <p:txBody>
          <a:bodyPr wrap="square" lIns="0" rIns="0" tIns="0" bIns="0">
            <a:spAutoFit/>
          </a:bodyPr>
          <a:lstStyle/>
          <a:p>
            <a:pPr>
              <a:lnSpc>
                <a:spcPct val="113000"/>
              </a:lnSpc>
              <a:spcAft>
                <a:spcPts val="0"/>
              </a:spcAft>
              <a:defRPr sz="1150" b="0">
                <a:solidFill>
                  <a:srgbClr val="7A202C"/>
                </a:solidFill>
                <a:latin typeface="Noto Sans"/>
              </a:defRPr>
            </a:pPr>
            <a:r>
              <a:rPr>
                <a:ea typeface="Noto Sans CJK SC"/>
              </a:rPr>
              <a:t>WORKSHEET  /  Review prompts are editable; they do not add new facts.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621792" y="6437376"/>
            <a:ext cx="10945368"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630936" y="6556248"/>
            <a:ext cx="5486400" cy="237744"/>
          </a:xfrm>
          <a:prstGeom prst="rect">
            <a:avLst/>
          </a:prstGeom>
          <a:noFill/>
          <a:effectLst/>
        </p:spPr>
        <p:txBody>
          <a:bodyPr wrap="square" lIns="0" rIns="0" tIns="0" bIns="0">
            <a:spAutoFit/>
          </a:bodyPr>
          <a:lstStyle/>
          <a:p>
            <a:pPr>
              <a:lnSpc>
                <a:spcPct val="113000"/>
              </a:lnSpc>
              <a:spcAft>
                <a:spcPts val="0"/>
              </a:spcAft>
              <a:defRPr sz="800" b="1">
                <a:solidFill>
                  <a:srgbClr val="666064"/>
                </a:solidFill>
                <a:latin typeface="Noto Sans"/>
              </a:defRPr>
            </a:pPr>
            <a:r>
              <a:rPr>
                <a:ea typeface="Noto Sans CJK SC"/>
              </a:rPr>
              <a:t>5957  /  TENANCY DISPUTE</a:t>
            </a:r>
          </a:p>
        </p:txBody>
      </p:sp>
      <p:sp>
        <p:nvSpPr>
          <p:cNvPr id="4" name="TextBox 3"/>
          <p:cNvSpPr txBox="1"/>
          <p:nvPr/>
        </p:nvSpPr>
        <p:spPr>
          <a:xfrm>
            <a:off x="10149840" y="6537960"/>
            <a:ext cx="1399032" cy="201168"/>
          </a:xfrm>
          <a:prstGeom prst="rect">
            <a:avLst/>
          </a:prstGeom>
          <a:noFill/>
          <a:effectLst/>
        </p:spPr>
        <p:txBody>
          <a:bodyPr wrap="square" lIns="0" rIns="0" tIns="0" bIns="0">
            <a:spAutoFit/>
          </a:bodyPr>
          <a:lstStyle/>
          <a:p>
            <a:pPr algn="r">
              <a:lnSpc>
                <a:spcPct val="113000"/>
              </a:lnSpc>
              <a:spcAft>
                <a:spcPts val="0"/>
              </a:spcAft>
              <a:defRPr sz="800" b="0">
                <a:solidFill>
                  <a:srgbClr val="666064"/>
                </a:solidFill>
                <a:latin typeface="Noto Sans"/>
              </a:defRPr>
            </a:pPr>
            <a:r>
              <a:rPr>
                <a:ea typeface="Noto Sans CJK SC"/>
              </a:rPr>
              <a:t>10  /  30</a:t>
            </a:r>
          </a:p>
        </p:txBody>
      </p:sp>
      <p:sp>
        <p:nvSpPr>
          <p:cNvPr id="5" name="TextBox 4"/>
          <p:cNvSpPr txBox="1"/>
          <p:nvPr/>
        </p:nvSpPr>
        <p:spPr>
          <a:xfrm>
            <a:off x="630936" y="347472"/>
            <a:ext cx="9144000" cy="237744"/>
          </a:xfrm>
          <a:prstGeom prst="rect">
            <a:avLst/>
          </a:prstGeom>
          <a:noFill/>
          <a:effectLst/>
        </p:spPr>
        <p:txBody>
          <a:bodyPr wrap="square" lIns="0" rIns="0" tIns="0" bIns="0">
            <a:spAutoFit/>
          </a:bodyPr>
          <a:lstStyle/>
          <a:p>
            <a:pPr>
              <a:lnSpc>
                <a:spcPct val="113000"/>
              </a:lnSpc>
              <a:spcAft>
                <a:spcPts val="0"/>
              </a:spcAft>
              <a:defRPr sz="900" b="1">
                <a:solidFill>
                  <a:srgbClr val="A34450"/>
                </a:solidFill>
                <a:latin typeface="Noto Sans"/>
              </a:defRPr>
            </a:pPr>
            <a:r>
              <a:rPr>
                <a:ea typeface="Noto Sans CJK SC"/>
              </a:rPr>
              <a:t>DOCUMENT CHECKLIST</a:t>
            </a:r>
          </a:p>
        </p:txBody>
      </p:sp>
      <p:sp>
        <p:nvSpPr>
          <p:cNvPr id="6" name="TextBox 5"/>
          <p:cNvSpPr txBox="1"/>
          <p:nvPr/>
        </p:nvSpPr>
        <p:spPr>
          <a:xfrm>
            <a:off x="603504" y="758952"/>
            <a:ext cx="10972800" cy="612648"/>
          </a:xfrm>
          <a:prstGeom prst="rect">
            <a:avLst/>
          </a:prstGeom>
          <a:noFill/>
          <a:effectLst/>
        </p:spPr>
        <p:txBody>
          <a:bodyPr wrap="square" lIns="0" rIns="0" tIns="0" bIns="0">
            <a:spAutoFit/>
          </a:bodyPr>
          <a:lstStyle/>
          <a:p>
            <a:pPr>
              <a:lnSpc>
                <a:spcPct val="113000"/>
              </a:lnSpc>
              <a:spcAft>
                <a:spcPts val="0"/>
              </a:spcAft>
              <a:defRPr sz="3000" b="0">
                <a:solidFill>
                  <a:srgbClr val="7A202C"/>
                </a:solidFill>
                <a:latin typeface="Noto Serif"/>
              </a:defRPr>
            </a:pPr>
            <a:r>
              <a:rPr>
                <a:ea typeface="Noto Sans CJK SC"/>
              </a:rPr>
              <a:t>Documents to review</a:t>
            </a:r>
          </a:p>
        </p:txBody>
      </p:sp>
      <p:cxnSp>
        <p:nvCxnSpPr>
          <p:cNvPr id="7" name="Connector 6"/>
          <p:cNvCxnSpPr/>
          <p:nvPr/>
        </p:nvCxnSpPr>
        <p:spPr>
          <a:xfrm>
            <a:off x="621792" y="1490472"/>
            <a:ext cx="10945368" cy="0"/>
          </a:xfrm>
          <a:prstGeom prst="line">
            <a:avLst/>
          </a:prstGeom>
          <a:ln w="10795">
            <a:solidFill>
              <a:srgbClr val="D4A59A"/>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630936" y="1645920"/>
            <a:ext cx="10927080" cy="512064"/>
          </a:xfrm>
          <a:prstGeom prst="rect">
            <a:avLst/>
          </a:prstGeom>
          <a:noFill/>
          <a:effectLst/>
        </p:spPr>
        <p:txBody>
          <a:bodyPr wrap="square" lIns="0" rIns="0" tIns="0" bIns="0">
            <a:spAutoFit/>
          </a:bodyPr>
          <a:lstStyle/>
          <a:p>
            <a:pPr>
              <a:lnSpc>
                <a:spcPct val="113000"/>
              </a:lnSpc>
              <a:spcAft>
                <a:spcPts val="0"/>
              </a:spcAft>
              <a:defRPr sz="1300" b="0">
                <a:solidFill>
                  <a:srgbClr val="666064"/>
                </a:solidFill>
                <a:latin typeface="Noto Sans"/>
              </a:defRPr>
            </a:pPr>
            <a:r>
              <a:rPr>
                <a:ea typeface="Noto Sans CJK SC"/>
              </a:rPr>
              <a:t>Use this layout to track source materials before developing the final analysis.</a:t>
            </a:r>
          </a:p>
        </p:txBody>
      </p:sp>
      <p:sp>
        <p:nvSpPr>
          <p:cNvPr id="9" name="Rectangle 8"/>
          <p:cNvSpPr/>
          <p:nvPr/>
        </p:nvSpPr>
        <p:spPr>
          <a:xfrm>
            <a:off x="630936" y="2057400"/>
            <a:ext cx="2834640" cy="512064"/>
          </a:xfrm>
          <a:prstGeom prst="rect">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86384" y="2185416"/>
            <a:ext cx="2523744" cy="283464"/>
          </a:xfrm>
          <a:prstGeom prst="rect">
            <a:avLst/>
          </a:prstGeom>
          <a:noFill/>
          <a:effectLst/>
        </p:spPr>
        <p:txBody>
          <a:bodyPr wrap="square" lIns="0" rIns="0" tIns="0" bIns="0">
            <a:spAutoFit/>
          </a:bodyPr>
          <a:lstStyle/>
          <a:p>
            <a:pPr>
              <a:lnSpc>
                <a:spcPct val="113000"/>
              </a:lnSpc>
              <a:spcAft>
                <a:spcPts val="0"/>
              </a:spcAft>
              <a:defRPr sz="1200" b="1">
                <a:solidFill>
                  <a:srgbClr val="FFFFFF"/>
                </a:solidFill>
                <a:latin typeface="Noto Sans"/>
              </a:defRPr>
            </a:pPr>
            <a:r>
              <a:rPr>
                <a:ea typeface="Noto Sans CJK SC"/>
              </a:rPr>
              <a:t>Document</a:t>
            </a:r>
          </a:p>
        </p:txBody>
      </p:sp>
      <p:sp>
        <p:nvSpPr>
          <p:cNvPr id="11" name="Rectangle 10"/>
          <p:cNvSpPr/>
          <p:nvPr/>
        </p:nvSpPr>
        <p:spPr>
          <a:xfrm>
            <a:off x="3465576" y="2057400"/>
            <a:ext cx="5925312" cy="512064"/>
          </a:xfrm>
          <a:prstGeom prst="rect">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3621024" y="2185416"/>
            <a:ext cx="5614416" cy="283464"/>
          </a:xfrm>
          <a:prstGeom prst="rect">
            <a:avLst/>
          </a:prstGeom>
          <a:noFill/>
          <a:effectLst/>
        </p:spPr>
        <p:txBody>
          <a:bodyPr wrap="square" lIns="0" rIns="0" tIns="0" bIns="0">
            <a:spAutoFit/>
          </a:bodyPr>
          <a:lstStyle/>
          <a:p>
            <a:pPr>
              <a:lnSpc>
                <a:spcPct val="113000"/>
              </a:lnSpc>
              <a:spcAft>
                <a:spcPts val="0"/>
              </a:spcAft>
              <a:defRPr sz="1200" b="1">
                <a:solidFill>
                  <a:srgbClr val="FFFFFF"/>
                </a:solidFill>
                <a:latin typeface="Noto Sans"/>
              </a:defRPr>
            </a:pPr>
            <a:r>
              <a:rPr>
                <a:ea typeface="Noto Sans CJK SC"/>
              </a:rPr>
              <a:t>What to locate</a:t>
            </a:r>
          </a:p>
        </p:txBody>
      </p:sp>
      <p:sp>
        <p:nvSpPr>
          <p:cNvPr id="13" name="Rectangle 12"/>
          <p:cNvSpPr/>
          <p:nvPr/>
        </p:nvSpPr>
        <p:spPr>
          <a:xfrm>
            <a:off x="9390888" y="2057400"/>
            <a:ext cx="2176272" cy="512064"/>
          </a:xfrm>
          <a:prstGeom prst="rect">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546336" y="2185416"/>
            <a:ext cx="1865376" cy="283464"/>
          </a:xfrm>
          <a:prstGeom prst="rect">
            <a:avLst/>
          </a:prstGeom>
          <a:noFill/>
          <a:effectLst/>
        </p:spPr>
        <p:txBody>
          <a:bodyPr wrap="square" lIns="0" rIns="0" tIns="0" bIns="0">
            <a:spAutoFit/>
          </a:bodyPr>
          <a:lstStyle/>
          <a:p>
            <a:pPr>
              <a:lnSpc>
                <a:spcPct val="113000"/>
              </a:lnSpc>
              <a:spcAft>
                <a:spcPts val="0"/>
              </a:spcAft>
              <a:defRPr sz="1200" b="1">
                <a:solidFill>
                  <a:srgbClr val="FFFFFF"/>
                </a:solidFill>
                <a:latin typeface="Noto Sans"/>
              </a:defRPr>
            </a:pPr>
            <a:r>
              <a:rPr>
                <a:ea typeface="Noto Sans CJK SC"/>
              </a:rPr>
              <a:t>Status</a:t>
            </a:r>
          </a:p>
        </p:txBody>
      </p:sp>
      <p:sp>
        <p:nvSpPr>
          <p:cNvPr id="15" name="Rectangle 14"/>
          <p:cNvSpPr/>
          <p:nvPr/>
        </p:nvSpPr>
        <p:spPr>
          <a:xfrm>
            <a:off x="630936" y="2569464"/>
            <a:ext cx="2834640" cy="786384"/>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86384" y="2724912"/>
            <a:ext cx="2523744" cy="557784"/>
          </a:xfrm>
          <a:prstGeom prst="rect">
            <a:avLst/>
          </a:prstGeom>
          <a:noFill/>
          <a:effectLst/>
        </p:spPr>
        <p:txBody>
          <a:bodyPr wrap="square" lIns="0" rIns="0" tIns="0" bIns="0">
            <a:spAutoFit/>
          </a:bodyPr>
          <a:lstStyle/>
          <a:p>
            <a:pPr>
              <a:lnSpc>
                <a:spcPct val="113000"/>
              </a:lnSpc>
              <a:spcAft>
                <a:spcPts val="0"/>
              </a:spcAft>
              <a:defRPr sz="1400" b="1">
                <a:solidFill>
                  <a:srgbClr val="7A202C"/>
                </a:solidFill>
                <a:latin typeface="Noto Sans"/>
              </a:defRPr>
            </a:pPr>
            <a:r>
              <a:rPr>
                <a:ea typeface="Noto Sans CJK SC"/>
              </a:rPr>
              <a:t>Head tenancy</a:t>
            </a:r>
          </a:p>
        </p:txBody>
      </p:sp>
      <p:sp>
        <p:nvSpPr>
          <p:cNvPr id="17" name="Rectangle 16"/>
          <p:cNvSpPr/>
          <p:nvPr/>
        </p:nvSpPr>
        <p:spPr>
          <a:xfrm>
            <a:off x="3465576" y="2569464"/>
            <a:ext cx="5925312" cy="786384"/>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3621024" y="2724912"/>
            <a:ext cx="5614416" cy="557784"/>
          </a:xfrm>
          <a:prstGeom prst="rect">
            <a:avLst/>
          </a:prstGeom>
          <a:noFill/>
          <a:effectLst/>
        </p:spPr>
        <p:txBody>
          <a:bodyPr wrap="square" lIns="0" rIns="0" tIns="0" bIns="0">
            <a:spAutoFit/>
          </a:bodyPr>
          <a:lstStyle/>
          <a:p>
            <a:pPr>
              <a:lnSpc>
                <a:spcPct val="113000"/>
              </a:lnSpc>
              <a:spcAft>
                <a:spcPts val="0"/>
              </a:spcAft>
              <a:defRPr sz="1400" b="0">
                <a:solidFill>
                  <a:srgbClr val="1E191C"/>
                </a:solidFill>
                <a:latin typeface="Noto Sans"/>
              </a:defRPr>
            </a:pPr>
            <a:r>
              <a:rPr>
                <a:ea typeface="Noto Sans CJK SC"/>
              </a:rPr>
              <a:t>Term, covenants and forfeiture clause</a:t>
            </a:r>
          </a:p>
        </p:txBody>
      </p:sp>
      <p:sp>
        <p:nvSpPr>
          <p:cNvPr id="19" name="Rectangle 18"/>
          <p:cNvSpPr/>
          <p:nvPr/>
        </p:nvSpPr>
        <p:spPr>
          <a:xfrm>
            <a:off x="9390888" y="2569464"/>
            <a:ext cx="2176272" cy="786384"/>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9546336" y="2724912"/>
            <a:ext cx="1865376" cy="557784"/>
          </a:xfrm>
          <a:prstGeom prst="rect">
            <a:avLst/>
          </a:prstGeom>
          <a:noFill/>
          <a:effectLst/>
        </p:spPr>
        <p:txBody>
          <a:bodyPr wrap="square" lIns="0" rIns="0" tIns="0" bIns="0">
            <a:spAutoFit/>
          </a:bodyPr>
          <a:lstStyle/>
          <a:p>
            <a:pPr>
              <a:lnSpc>
                <a:spcPct val="113000"/>
              </a:lnSpc>
              <a:spcAft>
                <a:spcPts val="0"/>
              </a:spcAft>
              <a:defRPr sz="1400" b="0">
                <a:solidFill>
                  <a:srgbClr val="1E191C"/>
                </a:solidFill>
                <a:latin typeface="Noto Sans"/>
              </a:defRPr>
            </a:pPr>
            <a:r>
              <a:rPr>
                <a:ea typeface="Noto Sans CJK SC"/>
              </a:rPr>
              <a:t>[To review]</a:t>
            </a:r>
          </a:p>
        </p:txBody>
      </p:sp>
      <p:cxnSp>
        <p:nvCxnSpPr>
          <p:cNvPr id="21" name="Connector 20"/>
          <p:cNvCxnSpPr/>
          <p:nvPr/>
        </p:nvCxnSpPr>
        <p:spPr>
          <a:xfrm>
            <a:off x="630936" y="3355848"/>
            <a:ext cx="10936224"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22" name="Rectangle 21"/>
          <p:cNvSpPr/>
          <p:nvPr/>
        </p:nvSpPr>
        <p:spPr>
          <a:xfrm>
            <a:off x="630936" y="3355848"/>
            <a:ext cx="2834640" cy="786384"/>
          </a:xfrm>
          <a:prstGeom prst="rect">
            <a:avLst/>
          </a:prstGeom>
          <a:solidFill>
            <a:srgbClr val="FCF9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86384" y="3511296"/>
            <a:ext cx="2523744" cy="557784"/>
          </a:xfrm>
          <a:prstGeom prst="rect">
            <a:avLst/>
          </a:prstGeom>
          <a:noFill/>
          <a:effectLst/>
        </p:spPr>
        <p:txBody>
          <a:bodyPr wrap="square" lIns="0" rIns="0" tIns="0" bIns="0">
            <a:spAutoFit/>
          </a:bodyPr>
          <a:lstStyle/>
          <a:p>
            <a:pPr>
              <a:lnSpc>
                <a:spcPct val="113000"/>
              </a:lnSpc>
              <a:spcAft>
                <a:spcPts val="0"/>
              </a:spcAft>
              <a:defRPr sz="1400" b="1">
                <a:solidFill>
                  <a:srgbClr val="7A202C"/>
                </a:solidFill>
                <a:latin typeface="Noto Sans"/>
              </a:defRPr>
            </a:pPr>
            <a:r>
              <a:rPr>
                <a:ea typeface="Noto Sans CJK SC"/>
              </a:rPr>
              <a:t>Sub-tenancy</a:t>
            </a:r>
          </a:p>
        </p:txBody>
      </p:sp>
      <p:sp>
        <p:nvSpPr>
          <p:cNvPr id="24" name="Rectangle 23"/>
          <p:cNvSpPr/>
          <p:nvPr/>
        </p:nvSpPr>
        <p:spPr>
          <a:xfrm>
            <a:off x="3465576" y="3355848"/>
            <a:ext cx="5925312" cy="786384"/>
          </a:xfrm>
          <a:prstGeom prst="rect">
            <a:avLst/>
          </a:prstGeom>
          <a:solidFill>
            <a:srgbClr val="FCF9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3621024" y="3511296"/>
            <a:ext cx="5614416" cy="557784"/>
          </a:xfrm>
          <a:prstGeom prst="rect">
            <a:avLst/>
          </a:prstGeom>
          <a:noFill/>
          <a:effectLst/>
        </p:spPr>
        <p:txBody>
          <a:bodyPr wrap="square" lIns="0" rIns="0" tIns="0" bIns="0">
            <a:spAutoFit/>
          </a:bodyPr>
          <a:lstStyle/>
          <a:p>
            <a:pPr>
              <a:lnSpc>
                <a:spcPct val="113000"/>
              </a:lnSpc>
              <a:spcAft>
                <a:spcPts val="0"/>
              </a:spcAft>
              <a:defRPr sz="1400" b="0">
                <a:solidFill>
                  <a:srgbClr val="1E191C"/>
                </a:solidFill>
                <a:latin typeface="Noto Sans"/>
              </a:defRPr>
            </a:pPr>
            <a:r>
              <a:rPr>
                <a:ea typeface="Noto Sans CJK SC"/>
              </a:rPr>
              <a:t>Parties, dates and relevant terms</a:t>
            </a:r>
          </a:p>
        </p:txBody>
      </p:sp>
      <p:sp>
        <p:nvSpPr>
          <p:cNvPr id="26" name="Rectangle 25"/>
          <p:cNvSpPr/>
          <p:nvPr/>
        </p:nvSpPr>
        <p:spPr>
          <a:xfrm>
            <a:off x="9390888" y="3355848"/>
            <a:ext cx="2176272" cy="786384"/>
          </a:xfrm>
          <a:prstGeom prst="rect">
            <a:avLst/>
          </a:prstGeom>
          <a:solidFill>
            <a:srgbClr val="FCF9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9546336" y="3511296"/>
            <a:ext cx="1865376" cy="557784"/>
          </a:xfrm>
          <a:prstGeom prst="rect">
            <a:avLst/>
          </a:prstGeom>
          <a:noFill/>
          <a:effectLst/>
        </p:spPr>
        <p:txBody>
          <a:bodyPr wrap="square" lIns="0" rIns="0" tIns="0" bIns="0">
            <a:spAutoFit/>
          </a:bodyPr>
          <a:lstStyle/>
          <a:p>
            <a:pPr>
              <a:lnSpc>
                <a:spcPct val="113000"/>
              </a:lnSpc>
              <a:spcAft>
                <a:spcPts val="0"/>
              </a:spcAft>
              <a:defRPr sz="1400" b="0">
                <a:solidFill>
                  <a:srgbClr val="1E191C"/>
                </a:solidFill>
                <a:latin typeface="Noto Sans"/>
              </a:defRPr>
            </a:pPr>
            <a:r>
              <a:rPr>
                <a:ea typeface="Noto Sans CJK SC"/>
              </a:rPr>
              <a:t>[To review]</a:t>
            </a:r>
          </a:p>
        </p:txBody>
      </p:sp>
      <p:cxnSp>
        <p:nvCxnSpPr>
          <p:cNvPr id="28" name="Connector 27"/>
          <p:cNvCxnSpPr/>
          <p:nvPr/>
        </p:nvCxnSpPr>
        <p:spPr>
          <a:xfrm>
            <a:off x="630936" y="4142232"/>
            <a:ext cx="10936224"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29" name="Rectangle 28"/>
          <p:cNvSpPr/>
          <p:nvPr/>
        </p:nvSpPr>
        <p:spPr>
          <a:xfrm>
            <a:off x="630936" y="4142232"/>
            <a:ext cx="2834640" cy="786384"/>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786384" y="4297680"/>
            <a:ext cx="2523744" cy="557784"/>
          </a:xfrm>
          <a:prstGeom prst="rect">
            <a:avLst/>
          </a:prstGeom>
          <a:noFill/>
          <a:effectLst/>
        </p:spPr>
        <p:txBody>
          <a:bodyPr wrap="square" lIns="0" rIns="0" tIns="0" bIns="0">
            <a:spAutoFit/>
          </a:bodyPr>
          <a:lstStyle/>
          <a:p>
            <a:pPr>
              <a:lnSpc>
                <a:spcPct val="113000"/>
              </a:lnSpc>
              <a:spcAft>
                <a:spcPts val="0"/>
              </a:spcAft>
              <a:defRPr sz="1400" b="1">
                <a:solidFill>
                  <a:srgbClr val="7A202C"/>
                </a:solidFill>
                <a:latin typeface="Noto Sans"/>
              </a:defRPr>
            </a:pPr>
            <a:r>
              <a:rPr>
                <a:ea typeface="Noto Sans CJK SC"/>
              </a:rPr>
              <a:t>Consent records</a:t>
            </a:r>
          </a:p>
        </p:txBody>
      </p:sp>
      <p:sp>
        <p:nvSpPr>
          <p:cNvPr id="31" name="Rectangle 30"/>
          <p:cNvSpPr/>
          <p:nvPr/>
        </p:nvSpPr>
        <p:spPr>
          <a:xfrm>
            <a:off x="3465576" y="4142232"/>
            <a:ext cx="5925312" cy="786384"/>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3621024" y="4297680"/>
            <a:ext cx="5614416" cy="557784"/>
          </a:xfrm>
          <a:prstGeom prst="rect">
            <a:avLst/>
          </a:prstGeom>
          <a:noFill/>
          <a:effectLst/>
        </p:spPr>
        <p:txBody>
          <a:bodyPr wrap="square" lIns="0" rIns="0" tIns="0" bIns="0">
            <a:spAutoFit/>
          </a:bodyPr>
          <a:lstStyle/>
          <a:p>
            <a:pPr>
              <a:lnSpc>
                <a:spcPct val="113000"/>
              </a:lnSpc>
              <a:spcAft>
                <a:spcPts val="0"/>
              </a:spcAft>
              <a:defRPr sz="1400" b="0">
                <a:solidFill>
                  <a:srgbClr val="1E191C"/>
                </a:solidFill>
                <a:latin typeface="Noto Sans"/>
              </a:defRPr>
            </a:pPr>
            <a:r>
              <a:rPr>
                <a:ea typeface="Noto Sans CJK SC"/>
              </a:rPr>
              <a:t>Express or implied consent material</a:t>
            </a:r>
          </a:p>
        </p:txBody>
      </p:sp>
      <p:sp>
        <p:nvSpPr>
          <p:cNvPr id="33" name="Rectangle 32"/>
          <p:cNvSpPr/>
          <p:nvPr/>
        </p:nvSpPr>
        <p:spPr>
          <a:xfrm>
            <a:off x="9390888" y="4142232"/>
            <a:ext cx="2176272" cy="786384"/>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9546336" y="4297680"/>
            <a:ext cx="1865376" cy="557784"/>
          </a:xfrm>
          <a:prstGeom prst="rect">
            <a:avLst/>
          </a:prstGeom>
          <a:noFill/>
          <a:effectLst/>
        </p:spPr>
        <p:txBody>
          <a:bodyPr wrap="square" lIns="0" rIns="0" tIns="0" bIns="0">
            <a:spAutoFit/>
          </a:bodyPr>
          <a:lstStyle/>
          <a:p>
            <a:pPr>
              <a:lnSpc>
                <a:spcPct val="113000"/>
              </a:lnSpc>
              <a:spcAft>
                <a:spcPts val="0"/>
              </a:spcAft>
              <a:defRPr sz="1400" b="0">
                <a:solidFill>
                  <a:srgbClr val="1E191C"/>
                </a:solidFill>
                <a:latin typeface="Noto Sans"/>
              </a:defRPr>
            </a:pPr>
            <a:r>
              <a:rPr>
                <a:ea typeface="Noto Sans CJK SC"/>
              </a:rPr>
              <a:t>[To review]</a:t>
            </a:r>
          </a:p>
        </p:txBody>
      </p:sp>
      <p:cxnSp>
        <p:nvCxnSpPr>
          <p:cNvPr id="35" name="Connector 34"/>
          <p:cNvCxnSpPr/>
          <p:nvPr/>
        </p:nvCxnSpPr>
        <p:spPr>
          <a:xfrm>
            <a:off x="630936" y="4928616"/>
            <a:ext cx="10936224"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36" name="Rectangle 35"/>
          <p:cNvSpPr/>
          <p:nvPr/>
        </p:nvSpPr>
        <p:spPr>
          <a:xfrm>
            <a:off x="630936" y="4928616"/>
            <a:ext cx="2834640" cy="786384"/>
          </a:xfrm>
          <a:prstGeom prst="rect">
            <a:avLst/>
          </a:prstGeom>
          <a:solidFill>
            <a:srgbClr val="FCF9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86384" y="5084064"/>
            <a:ext cx="2523744" cy="557784"/>
          </a:xfrm>
          <a:prstGeom prst="rect">
            <a:avLst/>
          </a:prstGeom>
          <a:noFill/>
          <a:effectLst/>
        </p:spPr>
        <p:txBody>
          <a:bodyPr wrap="square" lIns="0" rIns="0" tIns="0" bIns="0">
            <a:spAutoFit/>
          </a:bodyPr>
          <a:lstStyle/>
          <a:p>
            <a:pPr>
              <a:lnSpc>
                <a:spcPct val="113000"/>
              </a:lnSpc>
              <a:spcAft>
                <a:spcPts val="0"/>
              </a:spcAft>
              <a:defRPr sz="1400" b="1">
                <a:solidFill>
                  <a:srgbClr val="7A202C"/>
                </a:solidFill>
                <a:latin typeface="Noto Sans"/>
              </a:defRPr>
            </a:pPr>
            <a:r>
              <a:rPr>
                <a:ea typeface="Noto Sans CJK SC"/>
              </a:rPr>
              <a:t>Complaint &amp; notice</a:t>
            </a:r>
          </a:p>
        </p:txBody>
      </p:sp>
      <p:sp>
        <p:nvSpPr>
          <p:cNvPr id="38" name="Rectangle 37"/>
          <p:cNvSpPr/>
          <p:nvPr/>
        </p:nvSpPr>
        <p:spPr>
          <a:xfrm>
            <a:off x="3465576" y="4928616"/>
            <a:ext cx="5925312" cy="786384"/>
          </a:xfrm>
          <a:prstGeom prst="rect">
            <a:avLst/>
          </a:prstGeom>
          <a:solidFill>
            <a:srgbClr val="FCF9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3621024" y="5084064"/>
            <a:ext cx="5614416" cy="557784"/>
          </a:xfrm>
          <a:prstGeom prst="rect">
            <a:avLst/>
          </a:prstGeom>
          <a:noFill/>
          <a:effectLst/>
        </p:spPr>
        <p:txBody>
          <a:bodyPr wrap="square" lIns="0" rIns="0" tIns="0" bIns="0">
            <a:spAutoFit/>
          </a:bodyPr>
          <a:lstStyle/>
          <a:p>
            <a:pPr>
              <a:lnSpc>
                <a:spcPct val="113000"/>
              </a:lnSpc>
              <a:spcAft>
                <a:spcPts val="0"/>
              </a:spcAft>
              <a:defRPr sz="1400" b="0">
                <a:solidFill>
                  <a:srgbClr val="1E191C"/>
                </a:solidFill>
                <a:latin typeface="Noto Sans"/>
              </a:defRPr>
            </a:pPr>
            <a:r>
              <a:rPr>
                <a:ea typeface="Noto Sans CJK SC"/>
              </a:rPr>
              <a:t>Noise evidence and service records</a:t>
            </a:r>
          </a:p>
        </p:txBody>
      </p:sp>
      <p:sp>
        <p:nvSpPr>
          <p:cNvPr id="40" name="Rectangle 39"/>
          <p:cNvSpPr/>
          <p:nvPr/>
        </p:nvSpPr>
        <p:spPr>
          <a:xfrm>
            <a:off x="9390888" y="4928616"/>
            <a:ext cx="2176272" cy="786384"/>
          </a:xfrm>
          <a:prstGeom prst="rect">
            <a:avLst/>
          </a:prstGeom>
          <a:solidFill>
            <a:srgbClr val="FCF9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9546336" y="5084064"/>
            <a:ext cx="1865376" cy="557784"/>
          </a:xfrm>
          <a:prstGeom prst="rect">
            <a:avLst/>
          </a:prstGeom>
          <a:noFill/>
          <a:effectLst/>
        </p:spPr>
        <p:txBody>
          <a:bodyPr wrap="square" lIns="0" rIns="0" tIns="0" bIns="0">
            <a:spAutoFit/>
          </a:bodyPr>
          <a:lstStyle/>
          <a:p>
            <a:pPr>
              <a:lnSpc>
                <a:spcPct val="113000"/>
              </a:lnSpc>
              <a:spcAft>
                <a:spcPts val="0"/>
              </a:spcAft>
              <a:defRPr sz="1400" b="0">
                <a:solidFill>
                  <a:srgbClr val="1E191C"/>
                </a:solidFill>
                <a:latin typeface="Noto Sans"/>
              </a:defRPr>
            </a:pPr>
            <a:r>
              <a:rPr>
                <a:ea typeface="Noto Sans CJK SC"/>
              </a:rPr>
              <a:t>[To review]</a:t>
            </a:r>
          </a:p>
        </p:txBody>
      </p:sp>
      <p:cxnSp>
        <p:nvCxnSpPr>
          <p:cNvPr id="42" name="Connector 41"/>
          <p:cNvCxnSpPr/>
          <p:nvPr/>
        </p:nvCxnSpPr>
        <p:spPr>
          <a:xfrm>
            <a:off x="630936" y="5715000"/>
            <a:ext cx="10936224"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43" name="Rectangle 42"/>
          <p:cNvSpPr/>
          <p:nvPr/>
        </p:nvSpPr>
        <p:spPr>
          <a:xfrm>
            <a:off x="630936" y="5833872"/>
            <a:ext cx="10936224" cy="393192"/>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795528" y="5925312"/>
            <a:ext cx="10588752" cy="237744"/>
          </a:xfrm>
          <a:prstGeom prst="rect">
            <a:avLst/>
          </a:prstGeom>
          <a:noFill/>
          <a:effectLst/>
        </p:spPr>
        <p:txBody>
          <a:bodyPr wrap="square" lIns="0" rIns="0" tIns="0" bIns="0">
            <a:spAutoFit/>
          </a:bodyPr>
          <a:lstStyle/>
          <a:p>
            <a:pPr>
              <a:lnSpc>
                <a:spcPct val="113000"/>
              </a:lnSpc>
              <a:spcAft>
                <a:spcPts val="0"/>
              </a:spcAft>
              <a:defRPr sz="1150" b="0">
                <a:solidFill>
                  <a:srgbClr val="7A202C"/>
                </a:solidFill>
                <a:latin typeface="Noto Sans"/>
              </a:defRPr>
            </a:pPr>
            <a:r>
              <a:rPr>
                <a:ea typeface="Noto Sans CJK SC"/>
              </a:rPr>
              <a:t>Replace bracketed status fields as documents are checked.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7A202C"/>
        </a:solidFill>
        <a:effectLst/>
      </p:bgPr>
    </p:bg>
    <p:spTree>
      <p:nvGrpSpPr>
        <p:cNvPr id="1" name=""/>
        <p:cNvGrpSpPr/>
        <p:nvPr/>
      </p:nvGrpSpPr>
      <p:grpSpPr/>
      <p:cxnSp>
        <p:nvCxnSpPr>
          <p:cNvPr id="2" name="Connector 1"/>
          <p:cNvCxnSpPr/>
          <p:nvPr/>
        </p:nvCxnSpPr>
        <p:spPr>
          <a:xfrm>
            <a:off x="621792" y="6437376"/>
            <a:ext cx="10945368" cy="0"/>
          </a:xfrm>
          <a:prstGeom prst="line">
            <a:avLst/>
          </a:prstGeom>
          <a:ln w="7620">
            <a:solidFill>
              <a:srgbClr val="9C5663"/>
            </a:solidFill>
          </a:ln>
          <a:effectLst/>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630936" y="6556248"/>
            <a:ext cx="5486400" cy="237744"/>
          </a:xfrm>
          <a:prstGeom prst="rect">
            <a:avLst/>
          </a:prstGeom>
          <a:noFill/>
          <a:effectLst/>
        </p:spPr>
        <p:txBody>
          <a:bodyPr wrap="square" lIns="0" rIns="0" tIns="0" bIns="0">
            <a:spAutoFit/>
          </a:bodyPr>
          <a:lstStyle/>
          <a:p>
            <a:pPr>
              <a:lnSpc>
                <a:spcPct val="113000"/>
              </a:lnSpc>
              <a:spcAft>
                <a:spcPts val="0"/>
              </a:spcAft>
              <a:defRPr sz="800" b="1">
                <a:solidFill>
                  <a:srgbClr val="D8BAC0"/>
                </a:solidFill>
                <a:latin typeface="Noto Sans"/>
              </a:defRPr>
            </a:pPr>
            <a:r>
              <a:rPr>
                <a:ea typeface="Noto Sans CJK SC"/>
              </a:rPr>
              <a:t>5957  /  TENANCY DISPUTE</a:t>
            </a:r>
          </a:p>
        </p:txBody>
      </p:sp>
      <p:sp>
        <p:nvSpPr>
          <p:cNvPr id="4" name="TextBox 3"/>
          <p:cNvSpPr txBox="1"/>
          <p:nvPr/>
        </p:nvSpPr>
        <p:spPr>
          <a:xfrm>
            <a:off x="10149840" y="6537960"/>
            <a:ext cx="1399032" cy="201168"/>
          </a:xfrm>
          <a:prstGeom prst="rect">
            <a:avLst/>
          </a:prstGeom>
          <a:noFill/>
          <a:effectLst/>
        </p:spPr>
        <p:txBody>
          <a:bodyPr wrap="square" lIns="0" rIns="0" tIns="0" bIns="0">
            <a:spAutoFit/>
          </a:bodyPr>
          <a:lstStyle/>
          <a:p>
            <a:pPr algn="r">
              <a:lnSpc>
                <a:spcPct val="113000"/>
              </a:lnSpc>
              <a:spcAft>
                <a:spcPts val="0"/>
              </a:spcAft>
              <a:defRPr sz="800" b="0">
                <a:solidFill>
                  <a:srgbClr val="D8BAC0"/>
                </a:solidFill>
                <a:latin typeface="Noto Sans"/>
              </a:defRPr>
            </a:pPr>
            <a:r>
              <a:rPr>
                <a:ea typeface="Noto Sans CJK SC"/>
              </a:rPr>
              <a:t>11  /  30</a:t>
            </a:r>
          </a:p>
        </p:txBody>
      </p:sp>
      <p:sp>
        <p:nvSpPr>
          <p:cNvPr id="5" name="TextBox 4"/>
          <p:cNvSpPr txBox="1"/>
          <p:nvPr/>
        </p:nvSpPr>
        <p:spPr>
          <a:xfrm>
            <a:off x="676656" y="621792"/>
            <a:ext cx="9144000" cy="237744"/>
          </a:xfrm>
          <a:prstGeom prst="rect">
            <a:avLst/>
          </a:prstGeom>
          <a:noFill/>
          <a:effectLst/>
        </p:spPr>
        <p:txBody>
          <a:bodyPr wrap="square" lIns="0" rIns="0" tIns="0" bIns="0">
            <a:spAutoFit/>
          </a:bodyPr>
          <a:lstStyle/>
          <a:p>
            <a:pPr>
              <a:lnSpc>
                <a:spcPct val="113000"/>
              </a:lnSpc>
              <a:spcAft>
                <a:spcPts val="0"/>
              </a:spcAft>
              <a:defRPr sz="900" b="1">
                <a:solidFill>
                  <a:srgbClr val="E9CDD2"/>
                </a:solidFill>
                <a:latin typeface="Noto Sans"/>
              </a:defRPr>
            </a:pPr>
            <a:r>
              <a:rPr>
                <a:ea typeface="Noto Sans CJK SC"/>
              </a:rPr>
              <a:t>CASE BRIEFING  /  SECTION 02</a:t>
            </a:r>
          </a:p>
        </p:txBody>
      </p:sp>
      <p:sp>
        <p:nvSpPr>
          <p:cNvPr id="6" name="TextBox 5"/>
          <p:cNvSpPr txBox="1"/>
          <p:nvPr/>
        </p:nvSpPr>
        <p:spPr>
          <a:xfrm>
            <a:off x="8887968" y="1271016"/>
            <a:ext cx="2423160" cy="2194560"/>
          </a:xfrm>
          <a:prstGeom prst="rect">
            <a:avLst/>
          </a:prstGeom>
          <a:noFill/>
          <a:effectLst/>
        </p:spPr>
        <p:txBody>
          <a:bodyPr wrap="square" lIns="0" rIns="0" tIns="0" bIns="0">
            <a:spAutoFit/>
          </a:bodyPr>
          <a:lstStyle/>
          <a:p>
            <a:pPr algn="r">
              <a:lnSpc>
                <a:spcPct val="113000"/>
              </a:lnSpc>
              <a:spcAft>
                <a:spcPts val="0"/>
              </a:spcAft>
              <a:defRPr sz="11200" b="0">
                <a:solidFill>
                  <a:srgbClr val="9C4858"/>
                </a:solidFill>
                <a:latin typeface="Noto Serif"/>
              </a:defRPr>
            </a:pPr>
            <a:r>
              <a:rPr>
                <a:ea typeface="Noto Sans CJK SC"/>
              </a:rPr>
              <a:t>02</a:t>
            </a:r>
          </a:p>
        </p:txBody>
      </p:sp>
      <p:cxnSp>
        <p:nvCxnSpPr>
          <p:cNvPr id="7" name="Connector 6"/>
          <p:cNvCxnSpPr/>
          <p:nvPr/>
        </p:nvCxnSpPr>
        <p:spPr>
          <a:xfrm>
            <a:off x="694944" y="2267712"/>
            <a:ext cx="813816" cy="0"/>
          </a:xfrm>
          <a:prstGeom prst="line">
            <a:avLst/>
          </a:prstGeom>
          <a:ln w="25400">
            <a:solidFill>
              <a:srgbClr val="D4A59A"/>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640080" y="2688336"/>
            <a:ext cx="9875520" cy="1170432"/>
          </a:xfrm>
          <a:prstGeom prst="rect">
            <a:avLst/>
          </a:prstGeom>
          <a:noFill/>
          <a:effectLst/>
        </p:spPr>
        <p:txBody>
          <a:bodyPr wrap="square" lIns="0" rIns="0" tIns="0" bIns="0">
            <a:spAutoFit/>
          </a:bodyPr>
          <a:lstStyle/>
          <a:p>
            <a:pPr>
              <a:lnSpc>
                <a:spcPct val="113000"/>
              </a:lnSpc>
              <a:spcAft>
                <a:spcPts val="0"/>
              </a:spcAft>
              <a:defRPr sz="4500" b="0">
                <a:solidFill>
                  <a:srgbClr val="FFFFFF"/>
                </a:solidFill>
                <a:latin typeface="Noto Serif"/>
              </a:defRPr>
            </a:pPr>
            <a:r>
              <a:rPr>
                <a:ea typeface="Noto Sans CJK SC"/>
              </a:rPr>
              <a:t>Issues &amp; framework</a:t>
            </a:r>
          </a:p>
        </p:txBody>
      </p:sp>
      <p:sp>
        <p:nvSpPr>
          <p:cNvPr id="9" name="TextBox 8"/>
          <p:cNvSpPr txBox="1"/>
          <p:nvPr/>
        </p:nvSpPr>
        <p:spPr>
          <a:xfrm>
            <a:off x="694944" y="4343400"/>
            <a:ext cx="8686800" cy="777240"/>
          </a:xfrm>
          <a:prstGeom prst="rect">
            <a:avLst/>
          </a:prstGeom>
          <a:noFill/>
          <a:effectLst/>
        </p:spPr>
        <p:txBody>
          <a:bodyPr wrap="square" lIns="0" rIns="0" tIns="0" bIns="0">
            <a:spAutoFit/>
          </a:bodyPr>
          <a:lstStyle/>
          <a:p>
            <a:pPr>
              <a:lnSpc>
                <a:spcPct val="113000"/>
              </a:lnSpc>
              <a:spcAft>
                <a:spcPts val="0"/>
              </a:spcAft>
              <a:defRPr sz="2100" b="0">
                <a:solidFill>
                  <a:srgbClr val="E9CDD2"/>
                </a:solidFill>
                <a:latin typeface="Noto Sans"/>
              </a:defRPr>
            </a:pPr>
            <a:r>
              <a:rPr>
                <a:ea typeface="Noto Sans CJK SC"/>
              </a:rPr>
              <a:t>Separate the possession question from the renewal question.</a:t>
            </a:r>
          </a:p>
        </p:txBody>
      </p:sp>
      <p:cxnSp>
        <p:nvCxnSpPr>
          <p:cNvPr id="10" name="Connector 9"/>
          <p:cNvCxnSpPr/>
          <p:nvPr/>
        </p:nvCxnSpPr>
        <p:spPr>
          <a:xfrm>
            <a:off x="9015984" y="4123944"/>
            <a:ext cx="0" cy="1728216"/>
          </a:xfrm>
          <a:prstGeom prst="line">
            <a:avLst/>
          </a:prstGeom>
          <a:ln w="8890">
            <a:solidFill>
              <a:srgbClr val="A25562"/>
            </a:solidFill>
          </a:ln>
          <a:effectLst/>
        </p:spPr>
        <p:style>
          <a:lnRef idx="2">
            <a:schemeClr val="accent1"/>
          </a:lnRef>
          <a:fillRef idx="0">
            <a:schemeClr val="accent1"/>
          </a:fillRef>
          <a:effectRef idx="0">
            <a:schemeClr val="accent1"/>
          </a:effectRef>
          <a:fontRef idx="minor">
            <a:schemeClr val="tx1"/>
          </a:fontRef>
        </p:style>
      </p:cxnSp>
      <p:cxnSp>
        <p:nvCxnSpPr>
          <p:cNvPr id="11" name="Connector 10"/>
          <p:cNvCxnSpPr/>
          <p:nvPr/>
        </p:nvCxnSpPr>
        <p:spPr>
          <a:xfrm>
            <a:off x="9674352" y="4123944"/>
            <a:ext cx="0" cy="1728216"/>
          </a:xfrm>
          <a:prstGeom prst="line">
            <a:avLst/>
          </a:prstGeom>
          <a:ln w="8890">
            <a:solidFill>
              <a:srgbClr val="A25562"/>
            </a:solidFill>
          </a:ln>
          <a:effectLst/>
        </p:spPr>
        <p:style>
          <a:lnRef idx="2">
            <a:schemeClr val="accent1"/>
          </a:lnRef>
          <a:fillRef idx="0">
            <a:schemeClr val="accent1"/>
          </a:fillRef>
          <a:effectRef idx="0">
            <a:schemeClr val="accent1"/>
          </a:effectRef>
          <a:fontRef idx="minor">
            <a:schemeClr val="tx1"/>
          </a:fontRef>
        </p:style>
      </p:cxnSp>
      <p:cxnSp>
        <p:nvCxnSpPr>
          <p:cNvPr id="12" name="Connector 11"/>
          <p:cNvCxnSpPr/>
          <p:nvPr/>
        </p:nvCxnSpPr>
        <p:spPr>
          <a:xfrm>
            <a:off x="10332719" y="4123944"/>
            <a:ext cx="0" cy="1728216"/>
          </a:xfrm>
          <a:prstGeom prst="line">
            <a:avLst/>
          </a:prstGeom>
          <a:ln w="8890">
            <a:solidFill>
              <a:srgbClr val="A25562"/>
            </a:solidFill>
          </a:ln>
          <a:effectLst/>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a:off x="10991088" y="4123944"/>
            <a:ext cx="0" cy="1728216"/>
          </a:xfrm>
          <a:prstGeom prst="line">
            <a:avLst/>
          </a:prstGeom>
          <a:ln w="8890">
            <a:solidFill>
              <a:srgbClr val="A25562"/>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621792" y="6437376"/>
            <a:ext cx="10945368"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630936" y="6556248"/>
            <a:ext cx="5486400" cy="237744"/>
          </a:xfrm>
          <a:prstGeom prst="rect">
            <a:avLst/>
          </a:prstGeom>
          <a:noFill/>
          <a:effectLst/>
        </p:spPr>
        <p:txBody>
          <a:bodyPr wrap="square" lIns="0" rIns="0" tIns="0" bIns="0">
            <a:spAutoFit/>
          </a:bodyPr>
          <a:lstStyle/>
          <a:p>
            <a:pPr>
              <a:lnSpc>
                <a:spcPct val="113000"/>
              </a:lnSpc>
              <a:spcAft>
                <a:spcPts val="0"/>
              </a:spcAft>
              <a:defRPr sz="800" b="1">
                <a:solidFill>
                  <a:srgbClr val="666064"/>
                </a:solidFill>
                <a:latin typeface="Noto Sans"/>
              </a:defRPr>
            </a:pPr>
            <a:r>
              <a:rPr>
                <a:ea typeface="Noto Sans CJK SC"/>
              </a:rPr>
              <a:t>5957  /  TENANCY DISPUTE</a:t>
            </a:r>
          </a:p>
        </p:txBody>
      </p:sp>
      <p:sp>
        <p:nvSpPr>
          <p:cNvPr id="4" name="TextBox 3"/>
          <p:cNvSpPr txBox="1"/>
          <p:nvPr/>
        </p:nvSpPr>
        <p:spPr>
          <a:xfrm>
            <a:off x="10149840" y="6537960"/>
            <a:ext cx="1399032" cy="201168"/>
          </a:xfrm>
          <a:prstGeom prst="rect">
            <a:avLst/>
          </a:prstGeom>
          <a:noFill/>
          <a:effectLst/>
        </p:spPr>
        <p:txBody>
          <a:bodyPr wrap="square" lIns="0" rIns="0" tIns="0" bIns="0">
            <a:spAutoFit/>
          </a:bodyPr>
          <a:lstStyle/>
          <a:p>
            <a:pPr algn="r">
              <a:lnSpc>
                <a:spcPct val="113000"/>
              </a:lnSpc>
              <a:spcAft>
                <a:spcPts val="0"/>
              </a:spcAft>
              <a:defRPr sz="800" b="0">
                <a:solidFill>
                  <a:srgbClr val="666064"/>
                </a:solidFill>
                <a:latin typeface="Noto Sans"/>
              </a:defRPr>
            </a:pPr>
            <a:r>
              <a:rPr>
                <a:ea typeface="Noto Sans CJK SC"/>
              </a:rPr>
              <a:t>12  /  30</a:t>
            </a:r>
          </a:p>
        </p:txBody>
      </p:sp>
      <p:sp>
        <p:nvSpPr>
          <p:cNvPr id="5" name="TextBox 4"/>
          <p:cNvSpPr txBox="1"/>
          <p:nvPr/>
        </p:nvSpPr>
        <p:spPr>
          <a:xfrm>
            <a:off x="630936" y="347472"/>
            <a:ext cx="9144000" cy="237744"/>
          </a:xfrm>
          <a:prstGeom prst="rect">
            <a:avLst/>
          </a:prstGeom>
          <a:noFill/>
          <a:effectLst/>
        </p:spPr>
        <p:txBody>
          <a:bodyPr wrap="square" lIns="0" rIns="0" tIns="0" bIns="0">
            <a:spAutoFit/>
          </a:bodyPr>
          <a:lstStyle/>
          <a:p>
            <a:pPr>
              <a:lnSpc>
                <a:spcPct val="113000"/>
              </a:lnSpc>
              <a:spcAft>
                <a:spcPts val="0"/>
              </a:spcAft>
              <a:defRPr sz="900" b="1">
                <a:solidFill>
                  <a:srgbClr val="A34450"/>
                </a:solidFill>
                <a:latin typeface="Noto Sans"/>
              </a:defRPr>
            </a:pPr>
            <a:r>
              <a:rPr>
                <a:ea typeface="Noto Sans CJK SC"/>
              </a:rPr>
              <a:t>ISSUE OVERVIEW</a:t>
            </a:r>
          </a:p>
        </p:txBody>
      </p:sp>
      <p:sp>
        <p:nvSpPr>
          <p:cNvPr id="6" name="TextBox 5"/>
          <p:cNvSpPr txBox="1"/>
          <p:nvPr/>
        </p:nvSpPr>
        <p:spPr>
          <a:xfrm>
            <a:off x="603504" y="758952"/>
            <a:ext cx="10972800" cy="612648"/>
          </a:xfrm>
          <a:prstGeom prst="rect">
            <a:avLst/>
          </a:prstGeom>
          <a:noFill/>
          <a:effectLst/>
        </p:spPr>
        <p:txBody>
          <a:bodyPr wrap="square" lIns="0" rIns="0" tIns="0" bIns="0">
            <a:spAutoFit/>
          </a:bodyPr>
          <a:lstStyle/>
          <a:p>
            <a:pPr>
              <a:lnSpc>
                <a:spcPct val="113000"/>
              </a:lnSpc>
              <a:spcAft>
                <a:spcPts val="0"/>
              </a:spcAft>
              <a:defRPr sz="3000" b="0">
                <a:solidFill>
                  <a:srgbClr val="7A202C"/>
                </a:solidFill>
                <a:latin typeface="Noto Serif"/>
              </a:defRPr>
            </a:pPr>
            <a:r>
              <a:rPr>
                <a:ea typeface="Noto Sans CJK SC"/>
              </a:rPr>
              <a:t>The two questions to be addressed</a:t>
            </a:r>
          </a:p>
        </p:txBody>
      </p:sp>
      <p:cxnSp>
        <p:nvCxnSpPr>
          <p:cNvPr id="7" name="Connector 6"/>
          <p:cNvCxnSpPr/>
          <p:nvPr/>
        </p:nvCxnSpPr>
        <p:spPr>
          <a:xfrm>
            <a:off x="621792" y="1490472"/>
            <a:ext cx="10945368" cy="0"/>
          </a:xfrm>
          <a:prstGeom prst="line">
            <a:avLst/>
          </a:prstGeom>
          <a:ln w="10795">
            <a:solidFill>
              <a:srgbClr val="D4A59A"/>
            </a:solidFill>
          </a:ln>
          <a:effectLst/>
        </p:spPr>
        <p:style>
          <a:lnRef idx="2">
            <a:schemeClr val="accent1"/>
          </a:lnRef>
          <a:fillRef idx="0">
            <a:schemeClr val="accent1"/>
          </a:fillRef>
          <a:effectRef idx="0">
            <a:schemeClr val="accent1"/>
          </a:effectRef>
          <a:fontRef idx="minor">
            <a:schemeClr val="tx1"/>
          </a:fontRef>
        </p:style>
      </p:cxnSp>
      <p:sp>
        <p:nvSpPr>
          <p:cNvPr id="8" name="Rectangle 7"/>
          <p:cNvSpPr/>
          <p:nvPr/>
        </p:nvSpPr>
        <p:spPr>
          <a:xfrm>
            <a:off x="630936" y="1938528"/>
            <a:ext cx="5303520" cy="4023360"/>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50392" y="2157984"/>
            <a:ext cx="1005840" cy="649224"/>
          </a:xfrm>
          <a:prstGeom prst="rect">
            <a:avLst/>
          </a:prstGeom>
          <a:noFill/>
          <a:effectLst/>
        </p:spPr>
        <p:txBody>
          <a:bodyPr wrap="square" lIns="0" rIns="0" tIns="0" bIns="0">
            <a:spAutoFit/>
          </a:bodyPr>
          <a:lstStyle/>
          <a:p>
            <a:pPr>
              <a:lnSpc>
                <a:spcPct val="113000"/>
              </a:lnSpc>
              <a:spcAft>
                <a:spcPts val="0"/>
              </a:spcAft>
              <a:defRPr sz="3600" b="0">
                <a:solidFill>
                  <a:srgbClr val="A34450"/>
                </a:solidFill>
                <a:latin typeface="Noto Serif"/>
              </a:defRPr>
            </a:pPr>
            <a:r>
              <a:rPr>
                <a:ea typeface="Noto Sans CJK SC"/>
              </a:rPr>
              <a:t>(a)</a:t>
            </a:r>
          </a:p>
        </p:txBody>
      </p:sp>
      <p:sp>
        <p:nvSpPr>
          <p:cNvPr id="10" name="TextBox 9"/>
          <p:cNvSpPr txBox="1"/>
          <p:nvPr/>
        </p:nvSpPr>
        <p:spPr>
          <a:xfrm>
            <a:off x="859536" y="3026664"/>
            <a:ext cx="4773168" cy="612648"/>
          </a:xfrm>
          <a:prstGeom prst="rect">
            <a:avLst/>
          </a:prstGeom>
          <a:noFill/>
          <a:effectLst/>
        </p:spPr>
        <p:txBody>
          <a:bodyPr wrap="square" lIns="0" rIns="0" tIns="0" bIns="0">
            <a:spAutoFit/>
          </a:bodyPr>
          <a:lstStyle/>
          <a:p>
            <a:pPr>
              <a:lnSpc>
                <a:spcPct val="113000"/>
              </a:lnSpc>
              <a:spcAft>
                <a:spcPts val="0"/>
              </a:spcAft>
              <a:defRPr sz="2500" b="0">
                <a:solidFill>
                  <a:srgbClr val="7A202C"/>
                </a:solidFill>
                <a:latin typeface="Noto Serif"/>
              </a:defRPr>
            </a:pPr>
            <a:r>
              <a:rPr>
                <a:ea typeface="Noto Sans CJK SC"/>
              </a:rPr>
              <a:t>Possession before expiry</a:t>
            </a:r>
          </a:p>
        </p:txBody>
      </p:sp>
      <p:sp>
        <p:nvSpPr>
          <p:cNvPr id="11" name="TextBox 10"/>
          <p:cNvSpPr txBox="1"/>
          <p:nvPr/>
        </p:nvSpPr>
        <p:spPr>
          <a:xfrm>
            <a:off x="877824" y="3913632"/>
            <a:ext cx="4736592" cy="914400"/>
          </a:xfrm>
          <a:prstGeom prst="rect">
            <a:avLst/>
          </a:prstGeom>
          <a:noFill/>
          <a:effectLst/>
        </p:spPr>
        <p:txBody>
          <a:bodyPr wrap="square" lIns="0" rIns="0" tIns="0" bIns="0">
            <a:spAutoFit/>
          </a:bodyPr>
          <a:lstStyle/>
          <a:p>
            <a:pPr>
              <a:lnSpc>
                <a:spcPct val="113000"/>
              </a:lnSpc>
              <a:spcAft>
                <a:spcPts val="0"/>
              </a:spcAft>
              <a:defRPr sz="1900" b="0">
                <a:solidFill>
                  <a:srgbClr val="1E191C"/>
                </a:solidFill>
                <a:latin typeface="Noto Sans"/>
              </a:defRPr>
            </a:pPr>
            <a:r>
              <a:rPr>
                <a:ea typeface="Noto Sans CJK SC"/>
              </a:rPr>
              <a:t>Can Frederick lawfully forfeit the tenancy and recover possession before expiry?</a:t>
            </a:r>
          </a:p>
        </p:txBody>
      </p:sp>
      <p:cxnSp>
        <p:nvCxnSpPr>
          <p:cNvPr id="12" name="Connector 11"/>
          <p:cNvCxnSpPr/>
          <p:nvPr/>
        </p:nvCxnSpPr>
        <p:spPr>
          <a:xfrm>
            <a:off x="877824" y="5102352"/>
            <a:ext cx="4800599" cy="0"/>
          </a:xfrm>
          <a:prstGeom prst="line">
            <a:avLst/>
          </a:prstGeom>
          <a:ln w="9525">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877824" y="5376672"/>
            <a:ext cx="4718304" cy="411480"/>
          </a:xfrm>
          <a:prstGeom prst="rect">
            <a:avLst/>
          </a:prstGeom>
          <a:noFill/>
          <a:effectLst/>
        </p:spPr>
        <p:txBody>
          <a:bodyPr wrap="square" lIns="0" rIns="0" tIns="0" bIns="0">
            <a:spAutoFit/>
          </a:bodyPr>
          <a:lstStyle/>
          <a:p>
            <a:pPr>
              <a:lnSpc>
                <a:spcPct val="113000"/>
              </a:lnSpc>
              <a:spcAft>
                <a:spcPts val="0"/>
              </a:spcAft>
              <a:defRPr sz="1300" b="1">
                <a:solidFill>
                  <a:srgbClr val="A34450"/>
                </a:solidFill>
                <a:latin typeface="Noto Sans"/>
              </a:defRPr>
            </a:pPr>
            <a:r>
              <a:rPr>
                <a:ea typeface="Noto Sans CJK SC"/>
              </a:rPr>
              <a:t>Breach + contractual right + valid procedure</a:t>
            </a:r>
          </a:p>
        </p:txBody>
      </p:sp>
      <p:sp>
        <p:nvSpPr>
          <p:cNvPr id="14" name="Rectangle 13"/>
          <p:cNvSpPr/>
          <p:nvPr/>
        </p:nvSpPr>
        <p:spPr>
          <a:xfrm>
            <a:off x="6263640" y="1938528"/>
            <a:ext cx="5303520" cy="4023360"/>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483096" y="2157984"/>
            <a:ext cx="1005840" cy="649224"/>
          </a:xfrm>
          <a:prstGeom prst="rect">
            <a:avLst/>
          </a:prstGeom>
          <a:noFill/>
          <a:effectLst/>
        </p:spPr>
        <p:txBody>
          <a:bodyPr wrap="square" lIns="0" rIns="0" tIns="0" bIns="0">
            <a:spAutoFit/>
          </a:bodyPr>
          <a:lstStyle/>
          <a:p>
            <a:pPr>
              <a:lnSpc>
                <a:spcPct val="113000"/>
              </a:lnSpc>
              <a:spcAft>
                <a:spcPts val="0"/>
              </a:spcAft>
              <a:defRPr sz="3600" b="0">
                <a:solidFill>
                  <a:srgbClr val="A34450"/>
                </a:solidFill>
                <a:latin typeface="Noto Serif"/>
              </a:defRPr>
            </a:pPr>
            <a:r>
              <a:rPr>
                <a:ea typeface="Noto Sans CJK SC"/>
              </a:rPr>
              <a:t>(b)</a:t>
            </a:r>
          </a:p>
        </p:txBody>
      </p:sp>
      <p:sp>
        <p:nvSpPr>
          <p:cNvPr id="16" name="TextBox 15"/>
          <p:cNvSpPr txBox="1"/>
          <p:nvPr/>
        </p:nvSpPr>
        <p:spPr>
          <a:xfrm>
            <a:off x="6492240" y="3026664"/>
            <a:ext cx="4773168" cy="612648"/>
          </a:xfrm>
          <a:prstGeom prst="rect">
            <a:avLst/>
          </a:prstGeom>
          <a:noFill/>
          <a:effectLst/>
        </p:spPr>
        <p:txBody>
          <a:bodyPr wrap="square" lIns="0" rIns="0" tIns="0" bIns="0">
            <a:spAutoFit/>
          </a:bodyPr>
          <a:lstStyle/>
          <a:p>
            <a:pPr>
              <a:lnSpc>
                <a:spcPct val="113000"/>
              </a:lnSpc>
              <a:spcAft>
                <a:spcPts val="0"/>
              </a:spcAft>
              <a:defRPr sz="2500" b="0">
                <a:solidFill>
                  <a:srgbClr val="7A202C"/>
                </a:solidFill>
                <a:latin typeface="Noto Serif"/>
              </a:defRPr>
            </a:pPr>
            <a:r>
              <a:rPr>
                <a:ea typeface="Noto Sans CJK SC"/>
              </a:rPr>
              <a:t>Renewal at expiry</a:t>
            </a:r>
          </a:p>
        </p:txBody>
      </p:sp>
      <p:sp>
        <p:nvSpPr>
          <p:cNvPr id="17" name="TextBox 16"/>
          <p:cNvSpPr txBox="1"/>
          <p:nvPr/>
        </p:nvSpPr>
        <p:spPr>
          <a:xfrm>
            <a:off x="6510527" y="3913632"/>
            <a:ext cx="4736592" cy="914400"/>
          </a:xfrm>
          <a:prstGeom prst="rect">
            <a:avLst/>
          </a:prstGeom>
          <a:noFill/>
          <a:effectLst/>
        </p:spPr>
        <p:txBody>
          <a:bodyPr wrap="square" lIns="0" rIns="0" tIns="0" bIns="0">
            <a:spAutoFit/>
          </a:bodyPr>
          <a:lstStyle/>
          <a:p>
            <a:pPr>
              <a:lnSpc>
                <a:spcPct val="113000"/>
              </a:lnSpc>
              <a:spcAft>
                <a:spcPts val="0"/>
              </a:spcAft>
              <a:defRPr sz="1900" b="0">
                <a:solidFill>
                  <a:srgbClr val="1E191C"/>
                </a:solidFill>
                <a:latin typeface="Noto Sans"/>
              </a:defRPr>
            </a:pPr>
            <a:r>
              <a:rPr>
                <a:ea typeface="Noto Sans CJK SC"/>
              </a:rPr>
              <a:t>Can Angela enforce renewal after the two-year term?</a:t>
            </a:r>
          </a:p>
        </p:txBody>
      </p:sp>
      <p:cxnSp>
        <p:nvCxnSpPr>
          <p:cNvPr id="18" name="Connector 17"/>
          <p:cNvCxnSpPr/>
          <p:nvPr/>
        </p:nvCxnSpPr>
        <p:spPr>
          <a:xfrm>
            <a:off x="6510527" y="5102352"/>
            <a:ext cx="4800601" cy="0"/>
          </a:xfrm>
          <a:prstGeom prst="line">
            <a:avLst/>
          </a:prstGeom>
          <a:ln w="9525">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6510527" y="5376672"/>
            <a:ext cx="4718304" cy="411480"/>
          </a:xfrm>
          <a:prstGeom prst="rect">
            <a:avLst/>
          </a:prstGeom>
          <a:noFill/>
          <a:effectLst/>
        </p:spPr>
        <p:txBody>
          <a:bodyPr wrap="square" lIns="0" rIns="0" tIns="0" bIns="0">
            <a:spAutoFit/>
          </a:bodyPr>
          <a:lstStyle/>
          <a:p>
            <a:pPr>
              <a:lnSpc>
                <a:spcPct val="113000"/>
              </a:lnSpc>
              <a:spcAft>
                <a:spcPts val="0"/>
              </a:spcAft>
              <a:defRPr sz="1300" b="1">
                <a:solidFill>
                  <a:srgbClr val="A34450"/>
                </a:solidFill>
                <a:latin typeface="Noto Sans"/>
              </a:defRPr>
            </a:pPr>
            <a:r>
              <a:rPr>
                <a:ea typeface="Noto Sans CJK SC"/>
              </a:rPr>
              <a:t>Can the new rent be validly determined?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621792" y="6437376"/>
            <a:ext cx="10945368"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630936" y="6556248"/>
            <a:ext cx="5486400" cy="237744"/>
          </a:xfrm>
          <a:prstGeom prst="rect">
            <a:avLst/>
          </a:prstGeom>
          <a:noFill/>
          <a:effectLst/>
        </p:spPr>
        <p:txBody>
          <a:bodyPr wrap="square" lIns="0" rIns="0" tIns="0" bIns="0">
            <a:spAutoFit/>
          </a:bodyPr>
          <a:lstStyle/>
          <a:p>
            <a:pPr>
              <a:lnSpc>
                <a:spcPct val="113000"/>
              </a:lnSpc>
              <a:spcAft>
                <a:spcPts val="0"/>
              </a:spcAft>
              <a:defRPr sz="800" b="1">
                <a:solidFill>
                  <a:srgbClr val="666064"/>
                </a:solidFill>
                <a:latin typeface="Noto Sans"/>
              </a:defRPr>
            </a:pPr>
            <a:r>
              <a:rPr>
                <a:ea typeface="Noto Sans CJK SC"/>
              </a:rPr>
              <a:t>5957  /  TENANCY DISPUTE</a:t>
            </a:r>
          </a:p>
        </p:txBody>
      </p:sp>
      <p:sp>
        <p:nvSpPr>
          <p:cNvPr id="4" name="TextBox 3"/>
          <p:cNvSpPr txBox="1"/>
          <p:nvPr/>
        </p:nvSpPr>
        <p:spPr>
          <a:xfrm>
            <a:off x="10149840" y="6537960"/>
            <a:ext cx="1399032" cy="201168"/>
          </a:xfrm>
          <a:prstGeom prst="rect">
            <a:avLst/>
          </a:prstGeom>
          <a:noFill/>
          <a:effectLst/>
        </p:spPr>
        <p:txBody>
          <a:bodyPr wrap="square" lIns="0" rIns="0" tIns="0" bIns="0">
            <a:spAutoFit/>
          </a:bodyPr>
          <a:lstStyle/>
          <a:p>
            <a:pPr algn="r">
              <a:lnSpc>
                <a:spcPct val="113000"/>
              </a:lnSpc>
              <a:spcAft>
                <a:spcPts val="0"/>
              </a:spcAft>
              <a:defRPr sz="800" b="0">
                <a:solidFill>
                  <a:srgbClr val="666064"/>
                </a:solidFill>
                <a:latin typeface="Noto Sans"/>
              </a:defRPr>
            </a:pPr>
            <a:r>
              <a:rPr>
                <a:ea typeface="Noto Sans CJK SC"/>
              </a:rPr>
              <a:t>13  /  30</a:t>
            </a:r>
          </a:p>
        </p:txBody>
      </p:sp>
      <p:sp>
        <p:nvSpPr>
          <p:cNvPr id="5" name="TextBox 4"/>
          <p:cNvSpPr txBox="1"/>
          <p:nvPr/>
        </p:nvSpPr>
        <p:spPr>
          <a:xfrm>
            <a:off x="630936" y="347472"/>
            <a:ext cx="9144000" cy="237744"/>
          </a:xfrm>
          <a:prstGeom prst="rect">
            <a:avLst/>
          </a:prstGeom>
          <a:noFill/>
          <a:effectLst/>
        </p:spPr>
        <p:txBody>
          <a:bodyPr wrap="square" lIns="0" rIns="0" tIns="0" bIns="0">
            <a:spAutoFit/>
          </a:bodyPr>
          <a:lstStyle/>
          <a:p>
            <a:pPr>
              <a:lnSpc>
                <a:spcPct val="113000"/>
              </a:lnSpc>
              <a:spcAft>
                <a:spcPts val="0"/>
              </a:spcAft>
              <a:defRPr sz="900" b="1">
                <a:solidFill>
                  <a:srgbClr val="A34450"/>
                </a:solidFill>
                <a:latin typeface="Noto Sans"/>
              </a:defRPr>
            </a:pPr>
            <a:r>
              <a:rPr>
                <a:ea typeface="Noto Sans CJK SC"/>
              </a:rPr>
              <a:t>QUESTION SPOTLIGHT</a:t>
            </a:r>
          </a:p>
        </p:txBody>
      </p:sp>
      <p:sp>
        <p:nvSpPr>
          <p:cNvPr id="6" name="TextBox 5"/>
          <p:cNvSpPr txBox="1"/>
          <p:nvPr/>
        </p:nvSpPr>
        <p:spPr>
          <a:xfrm>
            <a:off x="603504" y="758952"/>
            <a:ext cx="10972800" cy="612648"/>
          </a:xfrm>
          <a:prstGeom prst="rect">
            <a:avLst/>
          </a:prstGeom>
          <a:noFill/>
          <a:effectLst/>
        </p:spPr>
        <p:txBody>
          <a:bodyPr wrap="square" lIns="0" rIns="0" tIns="0" bIns="0">
            <a:spAutoFit/>
          </a:bodyPr>
          <a:lstStyle/>
          <a:p>
            <a:pPr>
              <a:lnSpc>
                <a:spcPct val="113000"/>
              </a:lnSpc>
              <a:spcAft>
                <a:spcPts val="0"/>
              </a:spcAft>
              <a:defRPr sz="3000" b="0">
                <a:solidFill>
                  <a:srgbClr val="7A202C"/>
                </a:solidFill>
                <a:latin typeface="Noto Serif"/>
              </a:defRPr>
            </a:pPr>
            <a:r>
              <a:rPr>
                <a:ea typeface="Noto Sans CJK SC"/>
              </a:rPr>
              <a:t>Issue (a): early possession</a:t>
            </a:r>
          </a:p>
        </p:txBody>
      </p:sp>
      <p:cxnSp>
        <p:nvCxnSpPr>
          <p:cNvPr id="7" name="Connector 6"/>
          <p:cNvCxnSpPr/>
          <p:nvPr/>
        </p:nvCxnSpPr>
        <p:spPr>
          <a:xfrm>
            <a:off x="621792" y="1490472"/>
            <a:ext cx="10945368" cy="0"/>
          </a:xfrm>
          <a:prstGeom prst="line">
            <a:avLst/>
          </a:prstGeom>
          <a:ln w="10795">
            <a:solidFill>
              <a:srgbClr val="D4A59A"/>
            </a:solidFill>
          </a:ln>
          <a:effectLst/>
        </p:spPr>
        <p:style>
          <a:lnRef idx="2">
            <a:schemeClr val="accent1"/>
          </a:lnRef>
          <a:fillRef idx="0">
            <a:schemeClr val="accent1"/>
          </a:fillRef>
          <a:effectRef idx="0">
            <a:schemeClr val="accent1"/>
          </a:effectRef>
          <a:fontRef idx="minor">
            <a:schemeClr val="tx1"/>
          </a:fontRef>
        </p:style>
      </p:cxnSp>
      <p:sp>
        <p:nvSpPr>
          <p:cNvPr id="8" name="Rectangle 7"/>
          <p:cNvSpPr/>
          <p:nvPr/>
        </p:nvSpPr>
        <p:spPr>
          <a:xfrm>
            <a:off x="630936" y="1901952"/>
            <a:ext cx="64008" cy="3538728"/>
          </a:xfrm>
          <a:prstGeom prst="rect">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24128" y="2039112"/>
            <a:ext cx="9144000" cy="237744"/>
          </a:xfrm>
          <a:prstGeom prst="rect">
            <a:avLst/>
          </a:prstGeom>
          <a:noFill/>
          <a:effectLst/>
        </p:spPr>
        <p:txBody>
          <a:bodyPr wrap="square" lIns="0" rIns="0" tIns="0" bIns="0">
            <a:spAutoFit/>
          </a:bodyPr>
          <a:lstStyle/>
          <a:p>
            <a:pPr>
              <a:lnSpc>
                <a:spcPct val="113000"/>
              </a:lnSpc>
              <a:spcAft>
                <a:spcPts val="0"/>
              </a:spcAft>
              <a:defRPr sz="1000" b="1">
                <a:solidFill>
                  <a:srgbClr val="A34450"/>
                </a:solidFill>
                <a:latin typeface="Noto Sans"/>
              </a:defRPr>
            </a:pPr>
            <a:r>
              <a:rPr>
                <a:ea typeface="Noto Sans CJK SC"/>
              </a:rPr>
              <a:t>THE LANDLORD’S QUESTION</a:t>
            </a:r>
          </a:p>
        </p:txBody>
      </p:sp>
      <p:sp>
        <p:nvSpPr>
          <p:cNvPr id="10" name="TextBox 9"/>
          <p:cNvSpPr txBox="1"/>
          <p:nvPr/>
        </p:nvSpPr>
        <p:spPr>
          <a:xfrm>
            <a:off x="1005840" y="2670048"/>
            <a:ext cx="9784080" cy="1508760"/>
          </a:xfrm>
          <a:prstGeom prst="rect">
            <a:avLst/>
          </a:prstGeom>
          <a:noFill/>
          <a:effectLst/>
        </p:spPr>
        <p:txBody>
          <a:bodyPr wrap="square" lIns="0" rIns="0" tIns="0" bIns="0">
            <a:spAutoFit/>
          </a:bodyPr>
          <a:lstStyle/>
          <a:p>
            <a:pPr>
              <a:lnSpc>
                <a:spcPct val="113000"/>
              </a:lnSpc>
              <a:spcAft>
                <a:spcPts val="0"/>
              </a:spcAft>
              <a:defRPr sz="3900" b="0">
                <a:solidFill>
                  <a:srgbClr val="7A202C"/>
                </a:solidFill>
                <a:latin typeface="Noto Serif"/>
              </a:defRPr>
            </a:pPr>
            <a:r>
              <a:rPr>
                <a:ea typeface="Noto Sans CJK SC"/>
              </a:rPr>
              <a:t>Can the tenancy be</a:t>
            </a:r>
          </a:p>
          <a:p>
            <a:pPr>
              <a:lnSpc>
                <a:spcPct val="113000"/>
              </a:lnSpc>
              <a:spcAft>
                <a:spcPts val="0"/>
              </a:spcAft>
              <a:defRPr sz="3900" b="0">
                <a:solidFill>
                  <a:srgbClr val="7A202C"/>
                </a:solidFill>
                <a:latin typeface="Noto Serif"/>
              </a:defRPr>
            </a:pPr>
            <a:r>
              <a:rPr>
                <a:ea typeface="Noto Sans CJK SC"/>
              </a:rPr>
              <a:t>forfeited before expiry?</a:t>
            </a:r>
          </a:p>
        </p:txBody>
      </p:sp>
      <p:sp>
        <p:nvSpPr>
          <p:cNvPr id="11" name="TextBox 10"/>
          <p:cNvSpPr txBox="1"/>
          <p:nvPr/>
        </p:nvSpPr>
        <p:spPr>
          <a:xfrm>
            <a:off x="1051560" y="4718304"/>
            <a:ext cx="9482328" cy="640080"/>
          </a:xfrm>
          <a:prstGeom prst="rect">
            <a:avLst/>
          </a:prstGeom>
          <a:noFill/>
          <a:effectLst/>
        </p:spPr>
        <p:txBody>
          <a:bodyPr wrap="square" lIns="0" rIns="0" tIns="0" bIns="0">
            <a:spAutoFit/>
          </a:bodyPr>
          <a:lstStyle/>
          <a:p>
            <a:pPr>
              <a:lnSpc>
                <a:spcPct val="113000"/>
              </a:lnSpc>
              <a:spcAft>
                <a:spcPts val="0"/>
              </a:spcAft>
              <a:defRPr sz="2200" b="0">
                <a:solidFill>
                  <a:srgbClr val="1E191C"/>
                </a:solidFill>
                <a:latin typeface="Noto Sans"/>
              </a:defRPr>
            </a:pPr>
            <a:r>
              <a:rPr>
                <a:ea typeface="Noto Sans CJK SC"/>
              </a:rPr>
              <a:t>Subletting or noise alone does not settle the issue.</a:t>
            </a:r>
          </a:p>
        </p:txBody>
      </p:sp>
      <p:sp>
        <p:nvSpPr>
          <p:cNvPr id="12" name="Rectangle 11"/>
          <p:cNvSpPr/>
          <p:nvPr/>
        </p:nvSpPr>
        <p:spPr>
          <a:xfrm>
            <a:off x="630936" y="5833872"/>
            <a:ext cx="10936224" cy="393192"/>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95528" y="5925312"/>
            <a:ext cx="10588752" cy="237744"/>
          </a:xfrm>
          <a:prstGeom prst="rect">
            <a:avLst/>
          </a:prstGeom>
          <a:noFill/>
          <a:effectLst/>
        </p:spPr>
        <p:txBody>
          <a:bodyPr wrap="square" lIns="0" rIns="0" tIns="0" bIns="0">
            <a:spAutoFit/>
          </a:bodyPr>
          <a:lstStyle/>
          <a:p>
            <a:pPr>
              <a:lnSpc>
                <a:spcPct val="113000"/>
              </a:lnSpc>
              <a:spcAft>
                <a:spcPts val="0"/>
              </a:spcAft>
              <a:defRPr sz="1150" b="0">
                <a:solidFill>
                  <a:srgbClr val="7A202C"/>
                </a:solidFill>
                <a:latin typeface="Noto Sans"/>
              </a:defRPr>
            </a:pPr>
            <a:r>
              <a:rPr>
                <a:ea typeface="Noto Sans CJK SC"/>
              </a:rPr>
              <a:t>Focus the analysis on breach, the forfeiture clause and compliance with notice requirements.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621792" y="6437376"/>
            <a:ext cx="10945368"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630936" y="6556248"/>
            <a:ext cx="5486400" cy="237744"/>
          </a:xfrm>
          <a:prstGeom prst="rect">
            <a:avLst/>
          </a:prstGeom>
          <a:noFill/>
          <a:effectLst/>
        </p:spPr>
        <p:txBody>
          <a:bodyPr wrap="square" lIns="0" rIns="0" tIns="0" bIns="0">
            <a:spAutoFit/>
          </a:bodyPr>
          <a:lstStyle/>
          <a:p>
            <a:pPr>
              <a:lnSpc>
                <a:spcPct val="113000"/>
              </a:lnSpc>
              <a:spcAft>
                <a:spcPts val="0"/>
              </a:spcAft>
              <a:defRPr sz="800" b="1">
                <a:solidFill>
                  <a:srgbClr val="666064"/>
                </a:solidFill>
                <a:latin typeface="Noto Sans"/>
              </a:defRPr>
            </a:pPr>
            <a:r>
              <a:rPr>
                <a:ea typeface="Noto Sans CJK SC"/>
              </a:rPr>
              <a:t>5957  /  TENANCY DISPUTE</a:t>
            </a:r>
          </a:p>
        </p:txBody>
      </p:sp>
      <p:sp>
        <p:nvSpPr>
          <p:cNvPr id="4" name="TextBox 3"/>
          <p:cNvSpPr txBox="1"/>
          <p:nvPr/>
        </p:nvSpPr>
        <p:spPr>
          <a:xfrm>
            <a:off x="10149840" y="6537960"/>
            <a:ext cx="1399032" cy="201168"/>
          </a:xfrm>
          <a:prstGeom prst="rect">
            <a:avLst/>
          </a:prstGeom>
          <a:noFill/>
          <a:effectLst/>
        </p:spPr>
        <p:txBody>
          <a:bodyPr wrap="square" lIns="0" rIns="0" tIns="0" bIns="0">
            <a:spAutoFit/>
          </a:bodyPr>
          <a:lstStyle/>
          <a:p>
            <a:pPr algn="r">
              <a:lnSpc>
                <a:spcPct val="113000"/>
              </a:lnSpc>
              <a:spcAft>
                <a:spcPts val="0"/>
              </a:spcAft>
              <a:defRPr sz="800" b="0">
                <a:solidFill>
                  <a:srgbClr val="666064"/>
                </a:solidFill>
                <a:latin typeface="Noto Sans"/>
              </a:defRPr>
            </a:pPr>
            <a:r>
              <a:rPr>
                <a:ea typeface="Noto Sans CJK SC"/>
              </a:rPr>
              <a:t>14  /  30</a:t>
            </a:r>
          </a:p>
        </p:txBody>
      </p:sp>
      <p:sp>
        <p:nvSpPr>
          <p:cNvPr id="5" name="TextBox 4"/>
          <p:cNvSpPr txBox="1"/>
          <p:nvPr/>
        </p:nvSpPr>
        <p:spPr>
          <a:xfrm>
            <a:off x="630936" y="347472"/>
            <a:ext cx="9144000" cy="237744"/>
          </a:xfrm>
          <a:prstGeom prst="rect">
            <a:avLst/>
          </a:prstGeom>
          <a:noFill/>
          <a:effectLst/>
        </p:spPr>
        <p:txBody>
          <a:bodyPr wrap="square" lIns="0" rIns="0" tIns="0" bIns="0">
            <a:spAutoFit/>
          </a:bodyPr>
          <a:lstStyle/>
          <a:p>
            <a:pPr>
              <a:lnSpc>
                <a:spcPct val="113000"/>
              </a:lnSpc>
              <a:spcAft>
                <a:spcPts val="0"/>
              </a:spcAft>
              <a:defRPr sz="900" b="1">
                <a:solidFill>
                  <a:srgbClr val="A34450"/>
                </a:solidFill>
                <a:latin typeface="Noto Sans"/>
              </a:defRPr>
            </a:pPr>
            <a:r>
              <a:rPr>
                <a:ea typeface="Noto Sans CJK SC"/>
              </a:rPr>
              <a:t>ANALYTICAL FLOW</a:t>
            </a:r>
          </a:p>
        </p:txBody>
      </p:sp>
      <p:sp>
        <p:nvSpPr>
          <p:cNvPr id="6" name="TextBox 5"/>
          <p:cNvSpPr txBox="1"/>
          <p:nvPr/>
        </p:nvSpPr>
        <p:spPr>
          <a:xfrm>
            <a:off x="603504" y="758952"/>
            <a:ext cx="10972800" cy="612648"/>
          </a:xfrm>
          <a:prstGeom prst="rect">
            <a:avLst/>
          </a:prstGeom>
          <a:noFill/>
          <a:effectLst/>
        </p:spPr>
        <p:txBody>
          <a:bodyPr wrap="square" lIns="0" rIns="0" tIns="0" bIns="0">
            <a:spAutoFit/>
          </a:bodyPr>
          <a:lstStyle/>
          <a:p>
            <a:pPr>
              <a:lnSpc>
                <a:spcPct val="113000"/>
              </a:lnSpc>
              <a:spcAft>
                <a:spcPts val="0"/>
              </a:spcAft>
              <a:defRPr sz="3000" b="0">
                <a:solidFill>
                  <a:srgbClr val="7A202C"/>
                </a:solidFill>
                <a:latin typeface="Noto Serif"/>
              </a:defRPr>
            </a:pPr>
            <a:r>
              <a:rPr>
                <a:ea typeface="Noto Sans CJK SC"/>
              </a:rPr>
              <a:t>A structured route to forfeiture analysis</a:t>
            </a:r>
          </a:p>
        </p:txBody>
      </p:sp>
      <p:cxnSp>
        <p:nvCxnSpPr>
          <p:cNvPr id="7" name="Connector 6"/>
          <p:cNvCxnSpPr/>
          <p:nvPr/>
        </p:nvCxnSpPr>
        <p:spPr>
          <a:xfrm>
            <a:off x="621792" y="1490472"/>
            <a:ext cx="10945368" cy="0"/>
          </a:xfrm>
          <a:prstGeom prst="line">
            <a:avLst/>
          </a:prstGeom>
          <a:ln w="10795">
            <a:solidFill>
              <a:srgbClr val="D4A59A"/>
            </a:solidFill>
          </a:ln>
          <a:effectLst/>
        </p:spPr>
        <p:style>
          <a:lnRef idx="2">
            <a:schemeClr val="accent1"/>
          </a:lnRef>
          <a:fillRef idx="0">
            <a:schemeClr val="accent1"/>
          </a:fillRef>
          <a:effectRef idx="0">
            <a:schemeClr val="accent1"/>
          </a:effectRef>
          <a:fontRef idx="minor">
            <a:schemeClr val="tx1"/>
          </a:fontRef>
        </p:style>
      </p:cxnSp>
      <p:sp>
        <p:nvSpPr>
          <p:cNvPr id="8" name="Rectangle 7"/>
          <p:cNvSpPr/>
          <p:nvPr/>
        </p:nvSpPr>
        <p:spPr>
          <a:xfrm>
            <a:off x="630936" y="2478024"/>
            <a:ext cx="2514600" cy="2633472"/>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41247" y="2697480"/>
            <a:ext cx="2057400" cy="237744"/>
          </a:xfrm>
          <a:prstGeom prst="rect">
            <a:avLst/>
          </a:prstGeom>
          <a:noFill/>
          <a:effectLst/>
        </p:spPr>
        <p:txBody>
          <a:bodyPr wrap="square" lIns="0" rIns="0" tIns="0" bIns="0">
            <a:spAutoFit/>
          </a:bodyPr>
          <a:lstStyle/>
          <a:p>
            <a:pPr>
              <a:lnSpc>
                <a:spcPct val="113000"/>
              </a:lnSpc>
              <a:spcAft>
                <a:spcPts val="0"/>
              </a:spcAft>
              <a:defRPr sz="1100" b="1">
                <a:solidFill>
                  <a:srgbClr val="A34450"/>
                </a:solidFill>
                <a:latin typeface="Noto Sans"/>
              </a:defRPr>
            </a:pPr>
            <a:r>
              <a:rPr>
                <a:ea typeface="Noto Sans CJK SC"/>
              </a:rPr>
              <a:t>01</a:t>
            </a:r>
          </a:p>
        </p:txBody>
      </p:sp>
      <p:sp>
        <p:nvSpPr>
          <p:cNvPr id="10" name="TextBox 9"/>
          <p:cNvSpPr txBox="1"/>
          <p:nvPr/>
        </p:nvSpPr>
        <p:spPr>
          <a:xfrm>
            <a:off x="841247" y="3236976"/>
            <a:ext cx="2075688" cy="521207"/>
          </a:xfrm>
          <a:prstGeom prst="rect">
            <a:avLst/>
          </a:prstGeom>
          <a:noFill/>
          <a:effectLst/>
        </p:spPr>
        <p:txBody>
          <a:bodyPr wrap="square" lIns="0" rIns="0" tIns="0" bIns="0">
            <a:spAutoFit/>
          </a:bodyPr>
          <a:lstStyle/>
          <a:p>
            <a:pPr>
              <a:lnSpc>
                <a:spcPct val="113000"/>
              </a:lnSpc>
              <a:spcAft>
                <a:spcPts val="0"/>
              </a:spcAft>
              <a:defRPr sz="2500" b="0">
                <a:solidFill>
                  <a:srgbClr val="7A202C"/>
                </a:solidFill>
                <a:latin typeface="Noto Serif"/>
              </a:defRPr>
            </a:pPr>
            <a:r>
              <a:rPr>
                <a:ea typeface="Noto Sans CJK SC"/>
              </a:rPr>
              <a:t>Breach</a:t>
            </a:r>
          </a:p>
        </p:txBody>
      </p:sp>
      <p:sp>
        <p:nvSpPr>
          <p:cNvPr id="11" name="TextBox 10"/>
          <p:cNvSpPr txBox="1"/>
          <p:nvPr/>
        </p:nvSpPr>
        <p:spPr>
          <a:xfrm>
            <a:off x="850392" y="4032504"/>
            <a:ext cx="2039112" cy="859536"/>
          </a:xfrm>
          <a:prstGeom prst="rect">
            <a:avLst/>
          </a:prstGeom>
          <a:noFill/>
          <a:effectLst/>
        </p:spPr>
        <p:txBody>
          <a:bodyPr wrap="square" lIns="0" rIns="0" tIns="0" bIns="0">
            <a:spAutoFit/>
          </a:bodyPr>
          <a:lstStyle/>
          <a:p>
            <a:pPr>
              <a:lnSpc>
                <a:spcPct val="113000"/>
              </a:lnSpc>
              <a:spcAft>
                <a:spcPts val="0"/>
              </a:spcAft>
              <a:defRPr sz="1500" b="0">
                <a:solidFill>
                  <a:srgbClr val="1E191C"/>
                </a:solidFill>
                <a:latin typeface="Noto Sans"/>
              </a:defRPr>
            </a:pPr>
            <a:r>
              <a:rPr>
                <a:ea typeface="Noto Sans CJK SC"/>
              </a:rPr>
              <a:t>Establish a valid</a:t>
            </a:r>
          </a:p>
          <a:p>
            <a:pPr>
              <a:lnSpc>
                <a:spcPct val="113000"/>
              </a:lnSpc>
              <a:spcAft>
                <a:spcPts val="0"/>
              </a:spcAft>
              <a:defRPr sz="1500" b="0">
                <a:solidFill>
                  <a:srgbClr val="1E191C"/>
                </a:solidFill>
                <a:latin typeface="Noto Sans"/>
              </a:defRPr>
            </a:pPr>
            <a:r>
              <a:rPr>
                <a:ea typeface="Noto Sans CJK SC"/>
              </a:rPr>
              <a:t>breach of covenant.</a:t>
            </a:r>
          </a:p>
        </p:txBody>
      </p:sp>
      <p:cxnSp>
        <p:nvCxnSpPr>
          <p:cNvPr id="12" name="Connector 11"/>
          <p:cNvCxnSpPr/>
          <p:nvPr/>
        </p:nvCxnSpPr>
        <p:spPr>
          <a:xfrm>
            <a:off x="3145536" y="3749039"/>
            <a:ext cx="292608" cy="0"/>
          </a:xfrm>
          <a:prstGeom prst="line">
            <a:avLst/>
          </a:prstGeom>
          <a:ln w="15240">
            <a:solidFill>
              <a:srgbClr val="A34450"/>
            </a:solidFill>
          </a:ln>
          <a:effectLst/>
        </p:spPr>
        <p:style>
          <a:lnRef idx="2">
            <a:schemeClr val="accent1"/>
          </a:lnRef>
          <a:fillRef idx="0">
            <a:schemeClr val="accent1"/>
          </a:fillRef>
          <a:effectRef idx="0">
            <a:schemeClr val="accent1"/>
          </a:effectRef>
          <a:fontRef idx="minor">
            <a:schemeClr val="tx1"/>
          </a:fontRef>
        </p:style>
      </p:cxnSp>
      <p:sp>
        <p:nvSpPr>
          <p:cNvPr id="13" name="Rectangle 12"/>
          <p:cNvSpPr/>
          <p:nvPr/>
        </p:nvSpPr>
        <p:spPr>
          <a:xfrm>
            <a:off x="3438144" y="2478024"/>
            <a:ext cx="2514600" cy="2633472"/>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3648456" y="2697480"/>
            <a:ext cx="2057400" cy="237744"/>
          </a:xfrm>
          <a:prstGeom prst="rect">
            <a:avLst/>
          </a:prstGeom>
          <a:noFill/>
          <a:effectLst/>
        </p:spPr>
        <p:txBody>
          <a:bodyPr wrap="square" lIns="0" rIns="0" tIns="0" bIns="0">
            <a:spAutoFit/>
          </a:bodyPr>
          <a:lstStyle/>
          <a:p>
            <a:pPr>
              <a:lnSpc>
                <a:spcPct val="113000"/>
              </a:lnSpc>
              <a:spcAft>
                <a:spcPts val="0"/>
              </a:spcAft>
              <a:defRPr sz="1100" b="1">
                <a:solidFill>
                  <a:srgbClr val="A34450"/>
                </a:solidFill>
                <a:latin typeface="Noto Sans"/>
              </a:defRPr>
            </a:pPr>
            <a:r>
              <a:rPr>
                <a:ea typeface="Noto Sans CJK SC"/>
              </a:rPr>
              <a:t>02</a:t>
            </a:r>
          </a:p>
        </p:txBody>
      </p:sp>
      <p:sp>
        <p:nvSpPr>
          <p:cNvPr id="15" name="TextBox 14"/>
          <p:cNvSpPr txBox="1"/>
          <p:nvPr/>
        </p:nvSpPr>
        <p:spPr>
          <a:xfrm>
            <a:off x="3648456" y="3236976"/>
            <a:ext cx="2075688" cy="521207"/>
          </a:xfrm>
          <a:prstGeom prst="rect">
            <a:avLst/>
          </a:prstGeom>
          <a:noFill/>
          <a:effectLst/>
        </p:spPr>
        <p:txBody>
          <a:bodyPr wrap="square" lIns="0" rIns="0" tIns="0" bIns="0">
            <a:spAutoFit/>
          </a:bodyPr>
          <a:lstStyle/>
          <a:p>
            <a:pPr>
              <a:lnSpc>
                <a:spcPct val="113000"/>
              </a:lnSpc>
              <a:spcAft>
                <a:spcPts val="0"/>
              </a:spcAft>
              <a:defRPr sz="2500" b="0">
                <a:solidFill>
                  <a:srgbClr val="7A202C"/>
                </a:solidFill>
                <a:latin typeface="Noto Serif"/>
              </a:defRPr>
            </a:pPr>
            <a:r>
              <a:rPr>
                <a:ea typeface="Noto Sans CJK SC"/>
              </a:rPr>
              <a:t>Clause</a:t>
            </a:r>
          </a:p>
        </p:txBody>
      </p:sp>
      <p:sp>
        <p:nvSpPr>
          <p:cNvPr id="16" name="TextBox 15"/>
          <p:cNvSpPr txBox="1"/>
          <p:nvPr/>
        </p:nvSpPr>
        <p:spPr>
          <a:xfrm>
            <a:off x="3657600" y="4032504"/>
            <a:ext cx="2039112" cy="859536"/>
          </a:xfrm>
          <a:prstGeom prst="rect">
            <a:avLst/>
          </a:prstGeom>
          <a:noFill/>
          <a:effectLst/>
        </p:spPr>
        <p:txBody>
          <a:bodyPr wrap="square" lIns="0" rIns="0" tIns="0" bIns="0">
            <a:spAutoFit/>
          </a:bodyPr>
          <a:lstStyle/>
          <a:p>
            <a:pPr>
              <a:lnSpc>
                <a:spcPct val="113000"/>
              </a:lnSpc>
              <a:spcAft>
                <a:spcPts val="0"/>
              </a:spcAft>
              <a:defRPr sz="1500" b="0">
                <a:solidFill>
                  <a:srgbClr val="1E191C"/>
                </a:solidFill>
                <a:latin typeface="Noto Sans"/>
              </a:defRPr>
            </a:pPr>
            <a:r>
              <a:rPr>
                <a:ea typeface="Noto Sans CJK SC"/>
              </a:rPr>
              <a:t>Identify the contractual</a:t>
            </a:r>
          </a:p>
          <a:p>
            <a:pPr>
              <a:lnSpc>
                <a:spcPct val="113000"/>
              </a:lnSpc>
              <a:spcAft>
                <a:spcPts val="0"/>
              </a:spcAft>
              <a:defRPr sz="1500" b="0">
                <a:solidFill>
                  <a:srgbClr val="1E191C"/>
                </a:solidFill>
                <a:latin typeface="Noto Sans"/>
              </a:defRPr>
            </a:pPr>
            <a:r>
              <a:rPr>
                <a:ea typeface="Noto Sans CJK SC"/>
              </a:rPr>
              <a:t>right to forfeit.</a:t>
            </a:r>
          </a:p>
        </p:txBody>
      </p:sp>
      <p:cxnSp>
        <p:nvCxnSpPr>
          <p:cNvPr id="17" name="Connector 16"/>
          <p:cNvCxnSpPr/>
          <p:nvPr/>
        </p:nvCxnSpPr>
        <p:spPr>
          <a:xfrm>
            <a:off x="5952744" y="3749039"/>
            <a:ext cx="292608" cy="0"/>
          </a:xfrm>
          <a:prstGeom prst="line">
            <a:avLst/>
          </a:prstGeom>
          <a:ln w="15240">
            <a:solidFill>
              <a:srgbClr val="A34450"/>
            </a:solidFill>
          </a:ln>
          <a:effectLst/>
        </p:spPr>
        <p:style>
          <a:lnRef idx="2">
            <a:schemeClr val="accent1"/>
          </a:lnRef>
          <a:fillRef idx="0">
            <a:schemeClr val="accent1"/>
          </a:fillRef>
          <a:effectRef idx="0">
            <a:schemeClr val="accent1"/>
          </a:effectRef>
          <a:fontRef idx="minor">
            <a:schemeClr val="tx1"/>
          </a:fontRef>
        </p:style>
      </p:cxnSp>
      <p:sp>
        <p:nvSpPr>
          <p:cNvPr id="18" name="Rectangle 17"/>
          <p:cNvSpPr/>
          <p:nvPr/>
        </p:nvSpPr>
        <p:spPr>
          <a:xfrm>
            <a:off x="6245352" y="2478024"/>
            <a:ext cx="2514600" cy="2633472"/>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455664" y="2697480"/>
            <a:ext cx="2057400" cy="237744"/>
          </a:xfrm>
          <a:prstGeom prst="rect">
            <a:avLst/>
          </a:prstGeom>
          <a:noFill/>
          <a:effectLst/>
        </p:spPr>
        <p:txBody>
          <a:bodyPr wrap="square" lIns="0" rIns="0" tIns="0" bIns="0">
            <a:spAutoFit/>
          </a:bodyPr>
          <a:lstStyle/>
          <a:p>
            <a:pPr>
              <a:lnSpc>
                <a:spcPct val="113000"/>
              </a:lnSpc>
              <a:spcAft>
                <a:spcPts val="0"/>
              </a:spcAft>
              <a:defRPr sz="1100" b="1">
                <a:solidFill>
                  <a:srgbClr val="A34450"/>
                </a:solidFill>
                <a:latin typeface="Noto Sans"/>
              </a:defRPr>
            </a:pPr>
            <a:r>
              <a:rPr>
                <a:ea typeface="Noto Sans CJK SC"/>
              </a:rPr>
              <a:t>03</a:t>
            </a:r>
          </a:p>
        </p:txBody>
      </p:sp>
      <p:sp>
        <p:nvSpPr>
          <p:cNvPr id="20" name="TextBox 19"/>
          <p:cNvSpPr txBox="1"/>
          <p:nvPr/>
        </p:nvSpPr>
        <p:spPr>
          <a:xfrm>
            <a:off x="6455664" y="3236976"/>
            <a:ext cx="2075688" cy="521207"/>
          </a:xfrm>
          <a:prstGeom prst="rect">
            <a:avLst/>
          </a:prstGeom>
          <a:noFill/>
          <a:effectLst/>
        </p:spPr>
        <p:txBody>
          <a:bodyPr wrap="square" lIns="0" rIns="0" tIns="0" bIns="0">
            <a:spAutoFit/>
          </a:bodyPr>
          <a:lstStyle/>
          <a:p>
            <a:pPr>
              <a:lnSpc>
                <a:spcPct val="113000"/>
              </a:lnSpc>
              <a:spcAft>
                <a:spcPts val="0"/>
              </a:spcAft>
              <a:defRPr sz="2500" b="0">
                <a:solidFill>
                  <a:srgbClr val="7A202C"/>
                </a:solidFill>
                <a:latin typeface="Noto Serif"/>
              </a:defRPr>
            </a:pPr>
            <a:r>
              <a:rPr>
                <a:ea typeface="Noto Sans CJK SC"/>
              </a:rPr>
              <a:t>Notice</a:t>
            </a:r>
          </a:p>
        </p:txBody>
      </p:sp>
      <p:sp>
        <p:nvSpPr>
          <p:cNvPr id="21" name="TextBox 20"/>
          <p:cNvSpPr txBox="1"/>
          <p:nvPr/>
        </p:nvSpPr>
        <p:spPr>
          <a:xfrm>
            <a:off x="6464808" y="4032504"/>
            <a:ext cx="2039112" cy="859536"/>
          </a:xfrm>
          <a:prstGeom prst="rect">
            <a:avLst/>
          </a:prstGeom>
          <a:noFill/>
          <a:effectLst/>
        </p:spPr>
        <p:txBody>
          <a:bodyPr wrap="square" lIns="0" rIns="0" tIns="0" bIns="0">
            <a:spAutoFit/>
          </a:bodyPr>
          <a:lstStyle/>
          <a:p>
            <a:pPr>
              <a:lnSpc>
                <a:spcPct val="113000"/>
              </a:lnSpc>
              <a:spcAft>
                <a:spcPts val="0"/>
              </a:spcAft>
              <a:defRPr sz="1500" b="0">
                <a:solidFill>
                  <a:srgbClr val="1E191C"/>
                </a:solidFill>
                <a:latin typeface="Noto Sans"/>
              </a:defRPr>
            </a:pPr>
            <a:r>
              <a:rPr>
                <a:ea typeface="Noto Sans CJK SC"/>
              </a:rPr>
              <a:t>Review applicable</a:t>
            </a:r>
          </a:p>
          <a:p>
            <a:pPr>
              <a:lnSpc>
                <a:spcPct val="113000"/>
              </a:lnSpc>
              <a:spcAft>
                <a:spcPts val="0"/>
              </a:spcAft>
              <a:defRPr sz="1500" b="0">
                <a:solidFill>
                  <a:srgbClr val="1E191C"/>
                </a:solidFill>
                <a:latin typeface="Noto Sans"/>
              </a:defRPr>
            </a:pPr>
            <a:r>
              <a:rPr>
                <a:ea typeface="Noto Sans CJK SC"/>
              </a:rPr>
              <a:t>notice requirements.</a:t>
            </a:r>
          </a:p>
        </p:txBody>
      </p:sp>
      <p:cxnSp>
        <p:nvCxnSpPr>
          <p:cNvPr id="22" name="Connector 21"/>
          <p:cNvCxnSpPr/>
          <p:nvPr/>
        </p:nvCxnSpPr>
        <p:spPr>
          <a:xfrm>
            <a:off x="8759952" y="3749039"/>
            <a:ext cx="292608" cy="0"/>
          </a:xfrm>
          <a:prstGeom prst="line">
            <a:avLst/>
          </a:prstGeom>
          <a:ln w="15240">
            <a:solidFill>
              <a:srgbClr val="A34450"/>
            </a:solidFill>
          </a:ln>
          <a:effectLst/>
        </p:spPr>
        <p:style>
          <a:lnRef idx="2">
            <a:schemeClr val="accent1"/>
          </a:lnRef>
          <a:fillRef idx="0">
            <a:schemeClr val="accent1"/>
          </a:fillRef>
          <a:effectRef idx="0">
            <a:schemeClr val="accent1"/>
          </a:effectRef>
          <a:fontRef idx="minor">
            <a:schemeClr val="tx1"/>
          </a:fontRef>
        </p:style>
      </p:cxnSp>
      <p:sp>
        <p:nvSpPr>
          <p:cNvPr id="23" name="Rectangle 22"/>
          <p:cNvSpPr/>
          <p:nvPr/>
        </p:nvSpPr>
        <p:spPr>
          <a:xfrm>
            <a:off x="9052559" y="2478024"/>
            <a:ext cx="2514600" cy="2633472"/>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9262872" y="2697480"/>
            <a:ext cx="2057400" cy="237744"/>
          </a:xfrm>
          <a:prstGeom prst="rect">
            <a:avLst/>
          </a:prstGeom>
          <a:noFill/>
          <a:effectLst/>
        </p:spPr>
        <p:txBody>
          <a:bodyPr wrap="square" lIns="0" rIns="0" tIns="0" bIns="0">
            <a:spAutoFit/>
          </a:bodyPr>
          <a:lstStyle/>
          <a:p>
            <a:pPr>
              <a:lnSpc>
                <a:spcPct val="113000"/>
              </a:lnSpc>
              <a:spcAft>
                <a:spcPts val="0"/>
              </a:spcAft>
              <a:defRPr sz="1100" b="1">
                <a:solidFill>
                  <a:srgbClr val="A34450"/>
                </a:solidFill>
                <a:latin typeface="Noto Sans"/>
              </a:defRPr>
            </a:pPr>
            <a:r>
              <a:rPr>
                <a:ea typeface="Noto Sans CJK SC"/>
              </a:rPr>
              <a:t>04</a:t>
            </a:r>
          </a:p>
        </p:txBody>
      </p:sp>
      <p:sp>
        <p:nvSpPr>
          <p:cNvPr id="25" name="TextBox 24"/>
          <p:cNvSpPr txBox="1"/>
          <p:nvPr/>
        </p:nvSpPr>
        <p:spPr>
          <a:xfrm>
            <a:off x="9262872" y="3236976"/>
            <a:ext cx="2075688" cy="521207"/>
          </a:xfrm>
          <a:prstGeom prst="rect">
            <a:avLst/>
          </a:prstGeom>
          <a:noFill/>
          <a:effectLst/>
        </p:spPr>
        <p:txBody>
          <a:bodyPr wrap="square" lIns="0" rIns="0" tIns="0" bIns="0">
            <a:spAutoFit/>
          </a:bodyPr>
          <a:lstStyle/>
          <a:p>
            <a:pPr>
              <a:lnSpc>
                <a:spcPct val="113000"/>
              </a:lnSpc>
              <a:spcAft>
                <a:spcPts val="0"/>
              </a:spcAft>
              <a:defRPr sz="2500" b="0">
                <a:solidFill>
                  <a:srgbClr val="7A202C"/>
                </a:solidFill>
                <a:latin typeface="Noto Serif"/>
              </a:defRPr>
            </a:pPr>
            <a:r>
              <a:rPr>
                <a:ea typeface="Noto Sans CJK SC"/>
              </a:rPr>
              <a:t>Outcome</a:t>
            </a:r>
          </a:p>
        </p:txBody>
      </p:sp>
      <p:sp>
        <p:nvSpPr>
          <p:cNvPr id="26" name="TextBox 25"/>
          <p:cNvSpPr txBox="1"/>
          <p:nvPr/>
        </p:nvSpPr>
        <p:spPr>
          <a:xfrm>
            <a:off x="9272015" y="4032504"/>
            <a:ext cx="2039112" cy="859536"/>
          </a:xfrm>
          <a:prstGeom prst="rect">
            <a:avLst/>
          </a:prstGeom>
          <a:noFill/>
          <a:effectLst/>
        </p:spPr>
        <p:txBody>
          <a:bodyPr wrap="square" lIns="0" rIns="0" tIns="0" bIns="0">
            <a:spAutoFit/>
          </a:bodyPr>
          <a:lstStyle/>
          <a:p>
            <a:pPr>
              <a:lnSpc>
                <a:spcPct val="113000"/>
              </a:lnSpc>
              <a:spcAft>
                <a:spcPts val="0"/>
              </a:spcAft>
              <a:defRPr sz="1500" b="0">
                <a:solidFill>
                  <a:srgbClr val="1E191C"/>
                </a:solidFill>
                <a:latin typeface="Noto Sans"/>
              </a:defRPr>
            </a:pPr>
            <a:r>
              <a:rPr>
                <a:ea typeface="Noto Sans CJK SC"/>
              </a:rPr>
              <a:t>Reach a conditional</a:t>
            </a:r>
          </a:p>
          <a:p>
            <a:pPr>
              <a:lnSpc>
                <a:spcPct val="113000"/>
              </a:lnSpc>
              <a:spcAft>
                <a:spcPts val="0"/>
              </a:spcAft>
              <a:defRPr sz="1500" b="0">
                <a:solidFill>
                  <a:srgbClr val="1E191C"/>
                </a:solidFill>
                <a:latin typeface="Noto Sans"/>
              </a:defRPr>
            </a:pPr>
            <a:r>
              <a:rPr>
                <a:ea typeface="Noto Sans CJK SC"/>
              </a:rPr>
              <a:t>view on recovery.</a:t>
            </a:r>
          </a:p>
        </p:txBody>
      </p:sp>
      <p:sp>
        <p:nvSpPr>
          <p:cNvPr id="27" name="Rectangle 26"/>
          <p:cNvSpPr/>
          <p:nvPr/>
        </p:nvSpPr>
        <p:spPr>
          <a:xfrm>
            <a:off x="630936" y="5833872"/>
            <a:ext cx="10936224" cy="393192"/>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95528" y="5925312"/>
            <a:ext cx="10588752" cy="237744"/>
          </a:xfrm>
          <a:prstGeom prst="rect">
            <a:avLst/>
          </a:prstGeom>
          <a:noFill/>
          <a:effectLst/>
        </p:spPr>
        <p:txBody>
          <a:bodyPr wrap="square" lIns="0" rIns="0" tIns="0" bIns="0">
            <a:spAutoFit/>
          </a:bodyPr>
          <a:lstStyle/>
          <a:p>
            <a:pPr>
              <a:lnSpc>
                <a:spcPct val="113000"/>
              </a:lnSpc>
              <a:spcAft>
                <a:spcPts val="0"/>
              </a:spcAft>
              <a:defRPr sz="1150" b="0">
                <a:solidFill>
                  <a:srgbClr val="7A202C"/>
                </a:solidFill>
                <a:latin typeface="Noto Sans"/>
              </a:defRPr>
            </a:pPr>
            <a:r>
              <a:rPr>
                <a:ea typeface="Noto Sans CJK SC"/>
              </a:rPr>
              <a:t>All conditions must be examined before concluding that possession can lawfully be recovered.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621792" y="6437376"/>
            <a:ext cx="10945368"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630936" y="6556248"/>
            <a:ext cx="5486400" cy="237744"/>
          </a:xfrm>
          <a:prstGeom prst="rect">
            <a:avLst/>
          </a:prstGeom>
          <a:noFill/>
          <a:effectLst/>
        </p:spPr>
        <p:txBody>
          <a:bodyPr wrap="square" lIns="0" rIns="0" tIns="0" bIns="0">
            <a:spAutoFit/>
          </a:bodyPr>
          <a:lstStyle/>
          <a:p>
            <a:pPr>
              <a:lnSpc>
                <a:spcPct val="113000"/>
              </a:lnSpc>
              <a:spcAft>
                <a:spcPts val="0"/>
              </a:spcAft>
              <a:defRPr sz="800" b="1">
                <a:solidFill>
                  <a:srgbClr val="666064"/>
                </a:solidFill>
                <a:latin typeface="Noto Sans"/>
              </a:defRPr>
            </a:pPr>
            <a:r>
              <a:rPr>
                <a:ea typeface="Noto Sans CJK SC"/>
              </a:rPr>
              <a:t>5957  /  TENANCY DISPUTE</a:t>
            </a:r>
          </a:p>
        </p:txBody>
      </p:sp>
      <p:sp>
        <p:nvSpPr>
          <p:cNvPr id="4" name="TextBox 3"/>
          <p:cNvSpPr txBox="1"/>
          <p:nvPr/>
        </p:nvSpPr>
        <p:spPr>
          <a:xfrm>
            <a:off x="10149840" y="6537960"/>
            <a:ext cx="1399032" cy="201168"/>
          </a:xfrm>
          <a:prstGeom prst="rect">
            <a:avLst/>
          </a:prstGeom>
          <a:noFill/>
          <a:effectLst/>
        </p:spPr>
        <p:txBody>
          <a:bodyPr wrap="square" lIns="0" rIns="0" tIns="0" bIns="0">
            <a:spAutoFit/>
          </a:bodyPr>
          <a:lstStyle/>
          <a:p>
            <a:pPr algn="r">
              <a:lnSpc>
                <a:spcPct val="113000"/>
              </a:lnSpc>
              <a:spcAft>
                <a:spcPts val="0"/>
              </a:spcAft>
              <a:defRPr sz="800" b="0">
                <a:solidFill>
                  <a:srgbClr val="666064"/>
                </a:solidFill>
                <a:latin typeface="Noto Sans"/>
              </a:defRPr>
            </a:pPr>
            <a:r>
              <a:rPr>
                <a:ea typeface="Noto Sans CJK SC"/>
              </a:rPr>
              <a:t>15  /  30</a:t>
            </a:r>
          </a:p>
        </p:txBody>
      </p:sp>
      <p:sp>
        <p:nvSpPr>
          <p:cNvPr id="5" name="TextBox 4"/>
          <p:cNvSpPr txBox="1"/>
          <p:nvPr/>
        </p:nvSpPr>
        <p:spPr>
          <a:xfrm>
            <a:off x="630936" y="347472"/>
            <a:ext cx="9144000" cy="237744"/>
          </a:xfrm>
          <a:prstGeom prst="rect">
            <a:avLst/>
          </a:prstGeom>
          <a:noFill/>
          <a:effectLst/>
        </p:spPr>
        <p:txBody>
          <a:bodyPr wrap="square" lIns="0" rIns="0" tIns="0" bIns="0">
            <a:spAutoFit/>
          </a:bodyPr>
          <a:lstStyle/>
          <a:p>
            <a:pPr>
              <a:lnSpc>
                <a:spcPct val="113000"/>
              </a:lnSpc>
              <a:spcAft>
                <a:spcPts val="0"/>
              </a:spcAft>
              <a:defRPr sz="900" b="1">
                <a:solidFill>
                  <a:srgbClr val="A34450"/>
                </a:solidFill>
                <a:latin typeface="Noto Sans"/>
              </a:defRPr>
            </a:pPr>
            <a:r>
              <a:rPr>
                <a:ea typeface="Noto Sans CJK SC"/>
              </a:rPr>
              <a:t>CLAUSE ANALYSIS TEMPLATE</a:t>
            </a:r>
          </a:p>
        </p:txBody>
      </p:sp>
      <p:sp>
        <p:nvSpPr>
          <p:cNvPr id="6" name="TextBox 5"/>
          <p:cNvSpPr txBox="1"/>
          <p:nvPr/>
        </p:nvSpPr>
        <p:spPr>
          <a:xfrm>
            <a:off x="603504" y="758952"/>
            <a:ext cx="10972800" cy="612648"/>
          </a:xfrm>
          <a:prstGeom prst="rect">
            <a:avLst/>
          </a:prstGeom>
          <a:noFill/>
          <a:effectLst/>
        </p:spPr>
        <p:txBody>
          <a:bodyPr wrap="square" lIns="0" rIns="0" tIns="0" bIns="0">
            <a:spAutoFit/>
          </a:bodyPr>
          <a:lstStyle/>
          <a:p>
            <a:pPr>
              <a:lnSpc>
                <a:spcPct val="113000"/>
              </a:lnSpc>
              <a:spcAft>
                <a:spcPts val="0"/>
              </a:spcAft>
              <a:defRPr sz="3000" b="0">
                <a:solidFill>
                  <a:srgbClr val="7A202C"/>
                </a:solidFill>
                <a:latin typeface="Noto Serif"/>
              </a:defRPr>
            </a:pPr>
            <a:r>
              <a:rPr>
                <a:ea typeface="Noto Sans CJK SC"/>
              </a:rPr>
              <a:t>Read the clause in its full context</a:t>
            </a:r>
          </a:p>
        </p:txBody>
      </p:sp>
      <p:cxnSp>
        <p:nvCxnSpPr>
          <p:cNvPr id="7" name="Connector 6"/>
          <p:cNvCxnSpPr/>
          <p:nvPr/>
        </p:nvCxnSpPr>
        <p:spPr>
          <a:xfrm>
            <a:off x="621792" y="1490472"/>
            <a:ext cx="10945368" cy="0"/>
          </a:xfrm>
          <a:prstGeom prst="line">
            <a:avLst/>
          </a:prstGeom>
          <a:ln w="10795">
            <a:solidFill>
              <a:srgbClr val="D4A59A"/>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630936" y="1645920"/>
            <a:ext cx="10927080" cy="512064"/>
          </a:xfrm>
          <a:prstGeom prst="rect">
            <a:avLst/>
          </a:prstGeom>
          <a:noFill/>
          <a:effectLst/>
        </p:spPr>
        <p:txBody>
          <a:bodyPr wrap="square" lIns="0" rIns="0" tIns="0" bIns="0">
            <a:spAutoFit/>
          </a:bodyPr>
          <a:lstStyle/>
          <a:p>
            <a:pPr>
              <a:lnSpc>
                <a:spcPct val="113000"/>
              </a:lnSpc>
              <a:spcAft>
                <a:spcPts val="0"/>
              </a:spcAft>
              <a:defRPr sz="1300" b="0">
                <a:solidFill>
                  <a:srgbClr val="666064"/>
                </a:solidFill>
                <a:latin typeface="Noto Sans"/>
              </a:defRPr>
            </a:pPr>
            <a:r>
              <a:rPr>
                <a:ea typeface="Noto Sans CJK SC"/>
              </a:rPr>
              <a:t>Replace the quotation placeholder with exact contractual wording.</a:t>
            </a:r>
          </a:p>
        </p:txBody>
      </p:sp>
      <p:sp>
        <p:nvSpPr>
          <p:cNvPr id="9" name="Rectangle 8"/>
          <p:cNvSpPr/>
          <p:nvPr/>
        </p:nvSpPr>
        <p:spPr>
          <a:xfrm>
            <a:off x="630936" y="2157984"/>
            <a:ext cx="6601968" cy="3493008"/>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59536" y="2240280"/>
            <a:ext cx="914400" cy="1143000"/>
          </a:xfrm>
          <a:prstGeom prst="rect">
            <a:avLst/>
          </a:prstGeom>
          <a:noFill/>
          <a:effectLst/>
        </p:spPr>
        <p:txBody>
          <a:bodyPr wrap="square" lIns="0" rIns="0" tIns="0" bIns="0">
            <a:spAutoFit/>
          </a:bodyPr>
          <a:lstStyle/>
          <a:p>
            <a:pPr>
              <a:lnSpc>
                <a:spcPct val="113000"/>
              </a:lnSpc>
              <a:spcAft>
                <a:spcPts val="0"/>
              </a:spcAft>
              <a:defRPr sz="5800" b="0">
                <a:solidFill>
                  <a:srgbClr val="D4A59A"/>
                </a:solidFill>
                <a:latin typeface="Noto Serif"/>
              </a:defRPr>
            </a:pPr>
            <a:r>
              <a:rPr>
                <a:ea typeface="Noto Sans CJK SC"/>
              </a:rPr>
              <a:t>“</a:t>
            </a:r>
          </a:p>
        </p:txBody>
      </p:sp>
      <p:sp>
        <p:nvSpPr>
          <p:cNvPr id="11" name="TextBox 10"/>
          <p:cNvSpPr txBox="1"/>
          <p:nvPr/>
        </p:nvSpPr>
        <p:spPr>
          <a:xfrm>
            <a:off x="1069848" y="3154680"/>
            <a:ext cx="5614416" cy="1188720"/>
          </a:xfrm>
          <a:prstGeom prst="rect">
            <a:avLst/>
          </a:prstGeom>
          <a:noFill/>
          <a:effectLst/>
        </p:spPr>
        <p:txBody>
          <a:bodyPr wrap="square" lIns="0" rIns="0" tIns="0" bIns="0">
            <a:spAutoFit/>
          </a:bodyPr>
          <a:lstStyle/>
          <a:p>
            <a:pPr>
              <a:lnSpc>
                <a:spcPct val="113000"/>
              </a:lnSpc>
              <a:spcAft>
                <a:spcPts val="0"/>
              </a:spcAft>
              <a:defRPr sz="2600" b="0">
                <a:solidFill>
                  <a:srgbClr val="7A202C"/>
                </a:solidFill>
                <a:latin typeface="Noto Serif"/>
              </a:defRPr>
            </a:pPr>
            <a:r>
              <a:rPr>
                <a:ea typeface="Noto Sans CJK SC"/>
              </a:rPr>
              <a:t>[Insert the exact forfeiture,</a:t>
            </a:r>
          </a:p>
          <a:p>
            <a:pPr>
              <a:lnSpc>
                <a:spcPct val="113000"/>
              </a:lnSpc>
              <a:spcAft>
                <a:spcPts val="0"/>
              </a:spcAft>
              <a:defRPr sz="2600" b="0">
                <a:solidFill>
                  <a:srgbClr val="7A202C"/>
                </a:solidFill>
                <a:latin typeface="Noto Serif"/>
              </a:defRPr>
            </a:pPr>
            <a:r>
              <a:rPr>
                <a:ea typeface="Noto Sans CJK SC"/>
              </a:rPr>
              <a:t>subletting or renewal clause.]</a:t>
            </a:r>
          </a:p>
        </p:txBody>
      </p:sp>
      <p:sp>
        <p:nvSpPr>
          <p:cNvPr id="12" name="TextBox 11"/>
          <p:cNvSpPr txBox="1"/>
          <p:nvPr/>
        </p:nvSpPr>
        <p:spPr>
          <a:xfrm>
            <a:off x="1078992" y="5120640"/>
            <a:ext cx="5577840" cy="237744"/>
          </a:xfrm>
          <a:prstGeom prst="rect">
            <a:avLst/>
          </a:prstGeom>
          <a:noFill/>
          <a:effectLst/>
        </p:spPr>
        <p:txBody>
          <a:bodyPr wrap="square" lIns="0" rIns="0" tIns="0" bIns="0">
            <a:spAutoFit/>
          </a:bodyPr>
          <a:lstStyle/>
          <a:p>
            <a:pPr>
              <a:lnSpc>
                <a:spcPct val="113000"/>
              </a:lnSpc>
              <a:spcAft>
                <a:spcPts val="0"/>
              </a:spcAft>
              <a:defRPr sz="900" b="1">
                <a:solidFill>
                  <a:srgbClr val="A34450"/>
                </a:solidFill>
                <a:latin typeface="Noto Sans"/>
              </a:defRPr>
            </a:pPr>
            <a:r>
              <a:rPr>
                <a:ea typeface="Noto Sans CJK SC"/>
              </a:rPr>
              <a:t>SOURCE: [DOCUMENT / CLAUSE / PAGE]</a:t>
            </a:r>
          </a:p>
        </p:txBody>
      </p:sp>
      <p:sp>
        <p:nvSpPr>
          <p:cNvPr id="13" name="TextBox 12"/>
          <p:cNvSpPr txBox="1"/>
          <p:nvPr/>
        </p:nvSpPr>
        <p:spPr>
          <a:xfrm>
            <a:off x="7754112" y="2359151"/>
            <a:ext cx="411480" cy="237744"/>
          </a:xfrm>
          <a:prstGeom prst="rect">
            <a:avLst/>
          </a:prstGeom>
          <a:noFill/>
          <a:effectLst/>
        </p:spPr>
        <p:txBody>
          <a:bodyPr wrap="square" lIns="0" rIns="0" tIns="0" bIns="0">
            <a:spAutoFit/>
          </a:bodyPr>
          <a:lstStyle/>
          <a:p>
            <a:pPr>
              <a:lnSpc>
                <a:spcPct val="113000"/>
              </a:lnSpc>
              <a:spcAft>
                <a:spcPts val="0"/>
              </a:spcAft>
              <a:defRPr sz="1000" b="1">
                <a:solidFill>
                  <a:srgbClr val="A34450"/>
                </a:solidFill>
                <a:latin typeface="Noto Sans"/>
              </a:defRPr>
            </a:pPr>
            <a:r>
              <a:rPr>
                <a:ea typeface="Noto Sans CJK SC"/>
              </a:rPr>
              <a:t>01</a:t>
            </a:r>
          </a:p>
        </p:txBody>
      </p:sp>
      <p:sp>
        <p:nvSpPr>
          <p:cNvPr id="14" name="TextBox 13"/>
          <p:cNvSpPr txBox="1"/>
          <p:nvPr/>
        </p:nvSpPr>
        <p:spPr>
          <a:xfrm>
            <a:off x="8266176" y="2331720"/>
            <a:ext cx="3227832" cy="329184"/>
          </a:xfrm>
          <a:prstGeom prst="rect">
            <a:avLst/>
          </a:prstGeom>
          <a:noFill/>
          <a:effectLst/>
        </p:spPr>
        <p:txBody>
          <a:bodyPr wrap="square" lIns="0" rIns="0" tIns="0" bIns="0">
            <a:spAutoFit/>
          </a:bodyPr>
          <a:lstStyle/>
          <a:p>
            <a:pPr>
              <a:lnSpc>
                <a:spcPct val="113000"/>
              </a:lnSpc>
              <a:spcAft>
                <a:spcPts val="0"/>
              </a:spcAft>
              <a:defRPr sz="1700" b="1">
                <a:solidFill>
                  <a:srgbClr val="7A202C"/>
                </a:solidFill>
                <a:latin typeface="Noto Sans"/>
              </a:defRPr>
            </a:pPr>
            <a:r>
              <a:rPr>
                <a:ea typeface="Noto Sans CJK SC"/>
              </a:rPr>
              <a:t>Text</a:t>
            </a:r>
          </a:p>
        </p:txBody>
      </p:sp>
      <p:sp>
        <p:nvSpPr>
          <p:cNvPr id="15" name="TextBox 14"/>
          <p:cNvSpPr txBox="1"/>
          <p:nvPr/>
        </p:nvSpPr>
        <p:spPr>
          <a:xfrm>
            <a:off x="8266176" y="2697479"/>
            <a:ext cx="3191256" cy="685800"/>
          </a:xfrm>
          <a:prstGeom prst="rect">
            <a:avLst/>
          </a:prstGeom>
          <a:noFill/>
          <a:effectLst/>
        </p:spPr>
        <p:txBody>
          <a:bodyPr wrap="square" lIns="0" rIns="0" tIns="0" bIns="0">
            <a:spAutoFit/>
          </a:bodyPr>
          <a:lstStyle/>
          <a:p>
            <a:pPr>
              <a:lnSpc>
                <a:spcPct val="113000"/>
              </a:lnSpc>
              <a:spcAft>
                <a:spcPts val="0"/>
              </a:spcAft>
              <a:defRPr sz="1500" b="0">
                <a:solidFill>
                  <a:srgbClr val="1E191C"/>
                </a:solidFill>
                <a:latin typeface="Noto Sans"/>
              </a:defRPr>
            </a:pPr>
            <a:r>
              <a:rPr>
                <a:ea typeface="Noto Sans CJK SC"/>
              </a:rPr>
              <a:t>What does the clause say?</a:t>
            </a:r>
          </a:p>
        </p:txBody>
      </p:sp>
      <p:cxnSp>
        <p:nvCxnSpPr>
          <p:cNvPr id="16" name="Connector 15"/>
          <p:cNvCxnSpPr/>
          <p:nvPr/>
        </p:nvCxnSpPr>
        <p:spPr>
          <a:xfrm>
            <a:off x="8266176" y="3319271"/>
            <a:ext cx="3227832"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7754112" y="3438143"/>
            <a:ext cx="411480" cy="237744"/>
          </a:xfrm>
          <a:prstGeom prst="rect">
            <a:avLst/>
          </a:prstGeom>
          <a:noFill/>
          <a:effectLst/>
        </p:spPr>
        <p:txBody>
          <a:bodyPr wrap="square" lIns="0" rIns="0" tIns="0" bIns="0">
            <a:spAutoFit/>
          </a:bodyPr>
          <a:lstStyle/>
          <a:p>
            <a:pPr>
              <a:lnSpc>
                <a:spcPct val="113000"/>
              </a:lnSpc>
              <a:spcAft>
                <a:spcPts val="0"/>
              </a:spcAft>
              <a:defRPr sz="1000" b="1">
                <a:solidFill>
                  <a:srgbClr val="A34450"/>
                </a:solidFill>
                <a:latin typeface="Noto Sans"/>
              </a:defRPr>
            </a:pPr>
            <a:r>
              <a:rPr>
                <a:ea typeface="Noto Sans CJK SC"/>
              </a:rPr>
              <a:t>02</a:t>
            </a:r>
          </a:p>
        </p:txBody>
      </p:sp>
      <p:sp>
        <p:nvSpPr>
          <p:cNvPr id="18" name="TextBox 17"/>
          <p:cNvSpPr txBox="1"/>
          <p:nvPr/>
        </p:nvSpPr>
        <p:spPr>
          <a:xfrm>
            <a:off x="8266176" y="3410711"/>
            <a:ext cx="3227832" cy="329184"/>
          </a:xfrm>
          <a:prstGeom prst="rect">
            <a:avLst/>
          </a:prstGeom>
          <a:noFill/>
          <a:effectLst/>
        </p:spPr>
        <p:txBody>
          <a:bodyPr wrap="square" lIns="0" rIns="0" tIns="0" bIns="0">
            <a:spAutoFit/>
          </a:bodyPr>
          <a:lstStyle/>
          <a:p>
            <a:pPr>
              <a:lnSpc>
                <a:spcPct val="113000"/>
              </a:lnSpc>
              <a:spcAft>
                <a:spcPts val="0"/>
              </a:spcAft>
              <a:defRPr sz="1700" b="1">
                <a:solidFill>
                  <a:srgbClr val="7A202C"/>
                </a:solidFill>
                <a:latin typeface="Noto Sans"/>
              </a:defRPr>
            </a:pPr>
            <a:r>
              <a:rPr>
                <a:ea typeface="Noto Sans CJK SC"/>
              </a:rPr>
              <a:t>Trigger</a:t>
            </a:r>
          </a:p>
        </p:txBody>
      </p:sp>
      <p:sp>
        <p:nvSpPr>
          <p:cNvPr id="19" name="TextBox 18"/>
          <p:cNvSpPr txBox="1"/>
          <p:nvPr/>
        </p:nvSpPr>
        <p:spPr>
          <a:xfrm>
            <a:off x="8266176" y="3776472"/>
            <a:ext cx="3191256" cy="685800"/>
          </a:xfrm>
          <a:prstGeom prst="rect">
            <a:avLst/>
          </a:prstGeom>
          <a:noFill/>
          <a:effectLst/>
        </p:spPr>
        <p:txBody>
          <a:bodyPr wrap="square" lIns="0" rIns="0" tIns="0" bIns="0">
            <a:spAutoFit/>
          </a:bodyPr>
          <a:lstStyle/>
          <a:p>
            <a:pPr>
              <a:lnSpc>
                <a:spcPct val="113000"/>
              </a:lnSpc>
              <a:spcAft>
                <a:spcPts val="0"/>
              </a:spcAft>
              <a:defRPr sz="1500" b="0">
                <a:solidFill>
                  <a:srgbClr val="1E191C"/>
                </a:solidFill>
                <a:latin typeface="Noto Sans"/>
              </a:defRPr>
            </a:pPr>
            <a:r>
              <a:rPr>
                <a:ea typeface="Noto Sans CJK SC"/>
              </a:rPr>
              <a:t>Which event engages the clause?</a:t>
            </a:r>
          </a:p>
        </p:txBody>
      </p:sp>
      <p:cxnSp>
        <p:nvCxnSpPr>
          <p:cNvPr id="20" name="Connector 19"/>
          <p:cNvCxnSpPr/>
          <p:nvPr/>
        </p:nvCxnSpPr>
        <p:spPr>
          <a:xfrm>
            <a:off x="8266176" y="4398264"/>
            <a:ext cx="3227832"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7754112" y="4517136"/>
            <a:ext cx="411480" cy="237744"/>
          </a:xfrm>
          <a:prstGeom prst="rect">
            <a:avLst/>
          </a:prstGeom>
          <a:noFill/>
          <a:effectLst/>
        </p:spPr>
        <p:txBody>
          <a:bodyPr wrap="square" lIns="0" rIns="0" tIns="0" bIns="0">
            <a:spAutoFit/>
          </a:bodyPr>
          <a:lstStyle/>
          <a:p>
            <a:pPr>
              <a:lnSpc>
                <a:spcPct val="113000"/>
              </a:lnSpc>
              <a:spcAft>
                <a:spcPts val="0"/>
              </a:spcAft>
              <a:defRPr sz="1000" b="1">
                <a:solidFill>
                  <a:srgbClr val="A34450"/>
                </a:solidFill>
                <a:latin typeface="Noto Sans"/>
              </a:defRPr>
            </a:pPr>
            <a:r>
              <a:rPr>
                <a:ea typeface="Noto Sans CJK SC"/>
              </a:rPr>
              <a:t>03</a:t>
            </a:r>
          </a:p>
        </p:txBody>
      </p:sp>
      <p:sp>
        <p:nvSpPr>
          <p:cNvPr id="22" name="TextBox 21"/>
          <p:cNvSpPr txBox="1"/>
          <p:nvPr/>
        </p:nvSpPr>
        <p:spPr>
          <a:xfrm>
            <a:off x="8266176" y="4489704"/>
            <a:ext cx="3227832" cy="329184"/>
          </a:xfrm>
          <a:prstGeom prst="rect">
            <a:avLst/>
          </a:prstGeom>
          <a:noFill/>
          <a:effectLst/>
        </p:spPr>
        <p:txBody>
          <a:bodyPr wrap="square" lIns="0" rIns="0" tIns="0" bIns="0">
            <a:spAutoFit/>
          </a:bodyPr>
          <a:lstStyle/>
          <a:p>
            <a:pPr>
              <a:lnSpc>
                <a:spcPct val="113000"/>
              </a:lnSpc>
              <a:spcAft>
                <a:spcPts val="0"/>
              </a:spcAft>
              <a:defRPr sz="1700" b="1">
                <a:solidFill>
                  <a:srgbClr val="7A202C"/>
                </a:solidFill>
                <a:latin typeface="Noto Sans"/>
              </a:defRPr>
            </a:pPr>
            <a:r>
              <a:rPr>
                <a:ea typeface="Noto Sans CJK SC"/>
              </a:rPr>
              <a:t>Application</a:t>
            </a:r>
          </a:p>
        </p:txBody>
      </p:sp>
      <p:sp>
        <p:nvSpPr>
          <p:cNvPr id="23" name="TextBox 22"/>
          <p:cNvSpPr txBox="1"/>
          <p:nvPr/>
        </p:nvSpPr>
        <p:spPr>
          <a:xfrm>
            <a:off x="8266176" y="4855464"/>
            <a:ext cx="3191256" cy="685800"/>
          </a:xfrm>
          <a:prstGeom prst="rect">
            <a:avLst/>
          </a:prstGeom>
          <a:noFill/>
          <a:effectLst/>
        </p:spPr>
        <p:txBody>
          <a:bodyPr wrap="square" lIns="0" rIns="0" tIns="0" bIns="0">
            <a:spAutoFit/>
          </a:bodyPr>
          <a:lstStyle/>
          <a:p>
            <a:pPr>
              <a:lnSpc>
                <a:spcPct val="113000"/>
              </a:lnSpc>
              <a:spcAft>
                <a:spcPts val="0"/>
              </a:spcAft>
              <a:defRPr sz="1500" b="0">
                <a:solidFill>
                  <a:srgbClr val="1E191C"/>
                </a:solidFill>
                <a:latin typeface="Noto Sans"/>
              </a:defRPr>
            </a:pPr>
            <a:r>
              <a:rPr>
                <a:ea typeface="Noto Sans CJK SC"/>
              </a:rPr>
              <a:t>What evidence supports its use?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621792" y="6437376"/>
            <a:ext cx="10945368"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630936" y="6556248"/>
            <a:ext cx="5486400" cy="237744"/>
          </a:xfrm>
          <a:prstGeom prst="rect">
            <a:avLst/>
          </a:prstGeom>
          <a:noFill/>
          <a:effectLst/>
        </p:spPr>
        <p:txBody>
          <a:bodyPr wrap="square" lIns="0" rIns="0" tIns="0" bIns="0">
            <a:spAutoFit/>
          </a:bodyPr>
          <a:lstStyle/>
          <a:p>
            <a:pPr>
              <a:lnSpc>
                <a:spcPct val="113000"/>
              </a:lnSpc>
              <a:spcAft>
                <a:spcPts val="0"/>
              </a:spcAft>
              <a:defRPr sz="800" b="1">
                <a:solidFill>
                  <a:srgbClr val="666064"/>
                </a:solidFill>
                <a:latin typeface="Noto Sans"/>
              </a:defRPr>
            </a:pPr>
            <a:r>
              <a:rPr>
                <a:ea typeface="Noto Sans CJK SC"/>
              </a:rPr>
              <a:t>5957  /  TENANCY DISPUTE</a:t>
            </a:r>
          </a:p>
        </p:txBody>
      </p:sp>
      <p:sp>
        <p:nvSpPr>
          <p:cNvPr id="4" name="TextBox 3"/>
          <p:cNvSpPr txBox="1"/>
          <p:nvPr/>
        </p:nvSpPr>
        <p:spPr>
          <a:xfrm>
            <a:off x="10149840" y="6537960"/>
            <a:ext cx="1399032" cy="201168"/>
          </a:xfrm>
          <a:prstGeom prst="rect">
            <a:avLst/>
          </a:prstGeom>
          <a:noFill/>
          <a:effectLst/>
        </p:spPr>
        <p:txBody>
          <a:bodyPr wrap="square" lIns="0" rIns="0" tIns="0" bIns="0">
            <a:spAutoFit/>
          </a:bodyPr>
          <a:lstStyle/>
          <a:p>
            <a:pPr algn="r">
              <a:lnSpc>
                <a:spcPct val="113000"/>
              </a:lnSpc>
              <a:spcAft>
                <a:spcPts val="0"/>
              </a:spcAft>
              <a:defRPr sz="800" b="0">
                <a:solidFill>
                  <a:srgbClr val="666064"/>
                </a:solidFill>
                <a:latin typeface="Noto Sans"/>
              </a:defRPr>
            </a:pPr>
            <a:r>
              <a:rPr>
                <a:ea typeface="Noto Sans CJK SC"/>
              </a:rPr>
              <a:t>16  /  30</a:t>
            </a:r>
          </a:p>
        </p:txBody>
      </p:sp>
      <p:sp>
        <p:nvSpPr>
          <p:cNvPr id="5" name="TextBox 4"/>
          <p:cNvSpPr txBox="1"/>
          <p:nvPr/>
        </p:nvSpPr>
        <p:spPr>
          <a:xfrm>
            <a:off x="630936" y="347472"/>
            <a:ext cx="9144000" cy="237744"/>
          </a:xfrm>
          <a:prstGeom prst="rect">
            <a:avLst/>
          </a:prstGeom>
          <a:noFill/>
          <a:effectLst/>
        </p:spPr>
        <p:txBody>
          <a:bodyPr wrap="square" lIns="0" rIns="0" tIns="0" bIns="0">
            <a:spAutoFit/>
          </a:bodyPr>
          <a:lstStyle/>
          <a:p>
            <a:pPr>
              <a:lnSpc>
                <a:spcPct val="113000"/>
              </a:lnSpc>
              <a:spcAft>
                <a:spcPts val="0"/>
              </a:spcAft>
              <a:defRPr sz="900" b="1">
                <a:solidFill>
                  <a:srgbClr val="A34450"/>
                </a:solidFill>
                <a:latin typeface="Noto Sans"/>
              </a:defRPr>
            </a:pPr>
            <a:r>
              <a:rPr>
                <a:ea typeface="Noto Sans CJK SC"/>
              </a:rPr>
              <a:t>EVIDENCE MATRIX</a:t>
            </a:r>
          </a:p>
        </p:txBody>
      </p:sp>
      <p:sp>
        <p:nvSpPr>
          <p:cNvPr id="6" name="TextBox 5"/>
          <p:cNvSpPr txBox="1"/>
          <p:nvPr/>
        </p:nvSpPr>
        <p:spPr>
          <a:xfrm>
            <a:off x="603504" y="758952"/>
            <a:ext cx="10972800" cy="612648"/>
          </a:xfrm>
          <a:prstGeom prst="rect">
            <a:avLst/>
          </a:prstGeom>
          <a:noFill/>
          <a:effectLst/>
        </p:spPr>
        <p:txBody>
          <a:bodyPr wrap="square" lIns="0" rIns="0" tIns="0" bIns="0">
            <a:spAutoFit/>
          </a:bodyPr>
          <a:lstStyle/>
          <a:p>
            <a:pPr>
              <a:lnSpc>
                <a:spcPct val="113000"/>
              </a:lnSpc>
              <a:spcAft>
                <a:spcPts val="0"/>
              </a:spcAft>
              <a:defRPr sz="3000" b="0">
                <a:solidFill>
                  <a:srgbClr val="7A202C"/>
                </a:solidFill>
                <a:latin typeface="Noto Serif"/>
              </a:defRPr>
            </a:pPr>
            <a:r>
              <a:rPr>
                <a:ea typeface="Noto Sans CJK SC"/>
              </a:rPr>
              <a:t>Connect each allegation to evidence</a:t>
            </a:r>
          </a:p>
        </p:txBody>
      </p:sp>
      <p:cxnSp>
        <p:nvCxnSpPr>
          <p:cNvPr id="7" name="Connector 6"/>
          <p:cNvCxnSpPr/>
          <p:nvPr/>
        </p:nvCxnSpPr>
        <p:spPr>
          <a:xfrm>
            <a:off x="621792" y="1490472"/>
            <a:ext cx="10945368" cy="0"/>
          </a:xfrm>
          <a:prstGeom prst="line">
            <a:avLst/>
          </a:prstGeom>
          <a:ln w="10795">
            <a:solidFill>
              <a:srgbClr val="D4A59A"/>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630936" y="1645920"/>
            <a:ext cx="10927080" cy="512064"/>
          </a:xfrm>
          <a:prstGeom prst="rect">
            <a:avLst/>
          </a:prstGeom>
          <a:noFill/>
          <a:effectLst/>
        </p:spPr>
        <p:txBody>
          <a:bodyPr wrap="square" lIns="0" rIns="0" tIns="0" bIns="0">
            <a:spAutoFit/>
          </a:bodyPr>
          <a:lstStyle/>
          <a:p>
            <a:pPr>
              <a:lnSpc>
                <a:spcPct val="113000"/>
              </a:lnSpc>
              <a:spcAft>
                <a:spcPts val="0"/>
              </a:spcAft>
              <a:defRPr sz="1300" b="0">
                <a:solidFill>
                  <a:srgbClr val="666064"/>
                </a:solidFill>
                <a:latin typeface="Noto Sans"/>
              </a:defRPr>
            </a:pPr>
            <a:r>
              <a:rPr>
                <a:ea typeface="Noto Sans CJK SC"/>
              </a:rPr>
              <a:t>An editable review grid; no evidential findings are assumed.</a:t>
            </a:r>
          </a:p>
        </p:txBody>
      </p:sp>
      <p:sp>
        <p:nvSpPr>
          <p:cNvPr id="9" name="Rectangle 8"/>
          <p:cNvSpPr/>
          <p:nvPr/>
        </p:nvSpPr>
        <p:spPr>
          <a:xfrm>
            <a:off x="630936" y="2057400"/>
            <a:ext cx="2852928" cy="512064"/>
          </a:xfrm>
          <a:prstGeom prst="rect">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86384" y="2185416"/>
            <a:ext cx="2542032" cy="283464"/>
          </a:xfrm>
          <a:prstGeom prst="rect">
            <a:avLst/>
          </a:prstGeom>
          <a:noFill/>
          <a:effectLst/>
        </p:spPr>
        <p:txBody>
          <a:bodyPr wrap="square" lIns="0" rIns="0" tIns="0" bIns="0">
            <a:spAutoFit/>
          </a:bodyPr>
          <a:lstStyle/>
          <a:p>
            <a:pPr>
              <a:lnSpc>
                <a:spcPct val="113000"/>
              </a:lnSpc>
              <a:spcAft>
                <a:spcPts val="0"/>
              </a:spcAft>
              <a:defRPr sz="1200" b="1">
                <a:solidFill>
                  <a:srgbClr val="FFFFFF"/>
                </a:solidFill>
                <a:latin typeface="Noto Sans"/>
              </a:defRPr>
            </a:pPr>
            <a:r>
              <a:rPr>
                <a:ea typeface="Noto Sans CJK SC"/>
              </a:rPr>
              <a:t>Allegation / issue</a:t>
            </a:r>
          </a:p>
        </p:txBody>
      </p:sp>
      <p:sp>
        <p:nvSpPr>
          <p:cNvPr id="11" name="Rectangle 10"/>
          <p:cNvSpPr/>
          <p:nvPr/>
        </p:nvSpPr>
        <p:spPr>
          <a:xfrm>
            <a:off x="3483864" y="2057400"/>
            <a:ext cx="3657600" cy="512064"/>
          </a:xfrm>
          <a:prstGeom prst="rect">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3639312" y="2185416"/>
            <a:ext cx="3346704" cy="283464"/>
          </a:xfrm>
          <a:prstGeom prst="rect">
            <a:avLst/>
          </a:prstGeom>
          <a:noFill/>
          <a:effectLst/>
        </p:spPr>
        <p:txBody>
          <a:bodyPr wrap="square" lIns="0" rIns="0" tIns="0" bIns="0">
            <a:spAutoFit/>
          </a:bodyPr>
          <a:lstStyle/>
          <a:p>
            <a:pPr>
              <a:lnSpc>
                <a:spcPct val="113000"/>
              </a:lnSpc>
              <a:spcAft>
                <a:spcPts val="0"/>
              </a:spcAft>
              <a:defRPr sz="1200" b="1">
                <a:solidFill>
                  <a:srgbClr val="FFFFFF"/>
                </a:solidFill>
                <a:latin typeface="Noto Sans"/>
              </a:defRPr>
            </a:pPr>
            <a:r>
              <a:rPr>
                <a:ea typeface="Noto Sans CJK SC"/>
              </a:rPr>
              <a:t>Source material</a:t>
            </a:r>
          </a:p>
        </p:txBody>
      </p:sp>
      <p:sp>
        <p:nvSpPr>
          <p:cNvPr id="13" name="Rectangle 12"/>
          <p:cNvSpPr/>
          <p:nvPr/>
        </p:nvSpPr>
        <p:spPr>
          <a:xfrm>
            <a:off x="7141464" y="2057400"/>
            <a:ext cx="4425696" cy="512064"/>
          </a:xfrm>
          <a:prstGeom prst="rect">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296912" y="2185416"/>
            <a:ext cx="4114800" cy="283464"/>
          </a:xfrm>
          <a:prstGeom prst="rect">
            <a:avLst/>
          </a:prstGeom>
          <a:noFill/>
          <a:effectLst/>
        </p:spPr>
        <p:txBody>
          <a:bodyPr wrap="square" lIns="0" rIns="0" tIns="0" bIns="0">
            <a:spAutoFit/>
          </a:bodyPr>
          <a:lstStyle/>
          <a:p>
            <a:pPr>
              <a:lnSpc>
                <a:spcPct val="113000"/>
              </a:lnSpc>
              <a:spcAft>
                <a:spcPts val="0"/>
              </a:spcAft>
              <a:defRPr sz="1200" b="1">
                <a:solidFill>
                  <a:srgbClr val="FFFFFF"/>
                </a:solidFill>
                <a:latin typeface="Noto Sans"/>
              </a:defRPr>
            </a:pPr>
            <a:r>
              <a:rPr>
                <a:ea typeface="Noto Sans CJK SC"/>
              </a:rPr>
              <a:t>Question to resolve</a:t>
            </a:r>
          </a:p>
        </p:txBody>
      </p:sp>
      <p:sp>
        <p:nvSpPr>
          <p:cNvPr id="15" name="Rectangle 14"/>
          <p:cNvSpPr/>
          <p:nvPr/>
        </p:nvSpPr>
        <p:spPr>
          <a:xfrm>
            <a:off x="630936" y="2569464"/>
            <a:ext cx="2852928" cy="804672"/>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86384" y="2724912"/>
            <a:ext cx="2542032" cy="576072"/>
          </a:xfrm>
          <a:prstGeom prst="rect">
            <a:avLst/>
          </a:prstGeom>
          <a:noFill/>
          <a:effectLst/>
        </p:spPr>
        <p:txBody>
          <a:bodyPr wrap="square" lIns="0" rIns="0" tIns="0" bIns="0">
            <a:spAutoFit/>
          </a:bodyPr>
          <a:lstStyle/>
          <a:p>
            <a:pPr>
              <a:lnSpc>
                <a:spcPct val="113000"/>
              </a:lnSpc>
              <a:spcAft>
                <a:spcPts val="0"/>
              </a:spcAft>
              <a:defRPr sz="1400" b="1">
                <a:solidFill>
                  <a:srgbClr val="7A202C"/>
                </a:solidFill>
                <a:latin typeface="Noto Sans"/>
              </a:defRPr>
            </a:pPr>
            <a:r>
              <a:rPr>
                <a:ea typeface="Noto Sans CJK SC"/>
              </a:rPr>
              <a:t>Unauthorised subletting</a:t>
            </a:r>
          </a:p>
        </p:txBody>
      </p:sp>
      <p:sp>
        <p:nvSpPr>
          <p:cNvPr id="17" name="Rectangle 16"/>
          <p:cNvSpPr/>
          <p:nvPr/>
        </p:nvSpPr>
        <p:spPr>
          <a:xfrm>
            <a:off x="3483864" y="2569464"/>
            <a:ext cx="3657600" cy="804672"/>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3639312" y="2724912"/>
            <a:ext cx="3346704" cy="576072"/>
          </a:xfrm>
          <a:prstGeom prst="rect">
            <a:avLst/>
          </a:prstGeom>
          <a:noFill/>
          <a:effectLst/>
        </p:spPr>
        <p:txBody>
          <a:bodyPr wrap="square" lIns="0" rIns="0" tIns="0" bIns="0">
            <a:spAutoFit/>
          </a:bodyPr>
          <a:lstStyle/>
          <a:p>
            <a:pPr>
              <a:lnSpc>
                <a:spcPct val="113000"/>
              </a:lnSpc>
              <a:spcAft>
                <a:spcPts val="0"/>
              </a:spcAft>
              <a:defRPr sz="1400" b="0">
                <a:solidFill>
                  <a:srgbClr val="1E191C"/>
                </a:solidFill>
                <a:latin typeface="Noto Sans"/>
              </a:defRPr>
            </a:pPr>
            <a:r>
              <a:rPr>
                <a:ea typeface="Noto Sans CJK SC"/>
              </a:rPr>
              <a:t>[Lease / correspondence]</a:t>
            </a:r>
          </a:p>
        </p:txBody>
      </p:sp>
      <p:sp>
        <p:nvSpPr>
          <p:cNvPr id="19" name="Rectangle 18"/>
          <p:cNvSpPr/>
          <p:nvPr/>
        </p:nvSpPr>
        <p:spPr>
          <a:xfrm>
            <a:off x="7141464" y="2569464"/>
            <a:ext cx="4425696" cy="804672"/>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296912" y="2724912"/>
            <a:ext cx="4114800" cy="576072"/>
          </a:xfrm>
          <a:prstGeom prst="rect">
            <a:avLst/>
          </a:prstGeom>
          <a:noFill/>
          <a:effectLst/>
        </p:spPr>
        <p:txBody>
          <a:bodyPr wrap="square" lIns="0" rIns="0" tIns="0" bIns="0">
            <a:spAutoFit/>
          </a:bodyPr>
          <a:lstStyle/>
          <a:p>
            <a:pPr>
              <a:lnSpc>
                <a:spcPct val="113000"/>
              </a:lnSpc>
              <a:spcAft>
                <a:spcPts val="0"/>
              </a:spcAft>
              <a:defRPr sz="1400" b="0">
                <a:solidFill>
                  <a:srgbClr val="1E191C"/>
                </a:solidFill>
                <a:latin typeface="Noto Sans"/>
              </a:defRPr>
            </a:pPr>
            <a:r>
              <a:rPr>
                <a:ea typeface="Noto Sans CJK SC"/>
              </a:rPr>
              <a:t>Was consent required or given?</a:t>
            </a:r>
          </a:p>
        </p:txBody>
      </p:sp>
      <p:cxnSp>
        <p:nvCxnSpPr>
          <p:cNvPr id="21" name="Connector 20"/>
          <p:cNvCxnSpPr/>
          <p:nvPr/>
        </p:nvCxnSpPr>
        <p:spPr>
          <a:xfrm>
            <a:off x="630936" y="3374136"/>
            <a:ext cx="10936224"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22" name="Rectangle 21"/>
          <p:cNvSpPr/>
          <p:nvPr/>
        </p:nvSpPr>
        <p:spPr>
          <a:xfrm>
            <a:off x="630936" y="3374136"/>
            <a:ext cx="2852928" cy="804672"/>
          </a:xfrm>
          <a:prstGeom prst="rect">
            <a:avLst/>
          </a:prstGeom>
          <a:solidFill>
            <a:srgbClr val="FCF9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86384" y="3529584"/>
            <a:ext cx="2542032" cy="576072"/>
          </a:xfrm>
          <a:prstGeom prst="rect">
            <a:avLst/>
          </a:prstGeom>
          <a:noFill/>
          <a:effectLst/>
        </p:spPr>
        <p:txBody>
          <a:bodyPr wrap="square" lIns="0" rIns="0" tIns="0" bIns="0">
            <a:spAutoFit/>
          </a:bodyPr>
          <a:lstStyle/>
          <a:p>
            <a:pPr>
              <a:lnSpc>
                <a:spcPct val="113000"/>
              </a:lnSpc>
              <a:spcAft>
                <a:spcPts val="0"/>
              </a:spcAft>
              <a:defRPr sz="1400" b="1">
                <a:solidFill>
                  <a:srgbClr val="7A202C"/>
                </a:solidFill>
                <a:latin typeface="Noto Sans"/>
              </a:defRPr>
            </a:pPr>
            <a:r>
              <a:rPr>
                <a:ea typeface="Noto Sans CJK SC"/>
              </a:rPr>
              <a:t>Late-night noise</a:t>
            </a:r>
          </a:p>
        </p:txBody>
      </p:sp>
      <p:sp>
        <p:nvSpPr>
          <p:cNvPr id="24" name="Rectangle 23"/>
          <p:cNvSpPr/>
          <p:nvPr/>
        </p:nvSpPr>
        <p:spPr>
          <a:xfrm>
            <a:off x="3483864" y="3374136"/>
            <a:ext cx="3657600" cy="804672"/>
          </a:xfrm>
          <a:prstGeom prst="rect">
            <a:avLst/>
          </a:prstGeom>
          <a:solidFill>
            <a:srgbClr val="FCF9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3639312" y="3529584"/>
            <a:ext cx="3346704" cy="576072"/>
          </a:xfrm>
          <a:prstGeom prst="rect">
            <a:avLst/>
          </a:prstGeom>
          <a:noFill/>
          <a:effectLst/>
        </p:spPr>
        <p:txBody>
          <a:bodyPr wrap="square" lIns="0" rIns="0" tIns="0" bIns="0">
            <a:spAutoFit/>
          </a:bodyPr>
          <a:lstStyle/>
          <a:p>
            <a:pPr>
              <a:lnSpc>
                <a:spcPct val="113000"/>
              </a:lnSpc>
              <a:spcAft>
                <a:spcPts val="0"/>
              </a:spcAft>
              <a:defRPr sz="1400" b="0">
                <a:solidFill>
                  <a:srgbClr val="1E191C"/>
                </a:solidFill>
                <a:latin typeface="Noto Sans"/>
              </a:defRPr>
            </a:pPr>
            <a:r>
              <a:rPr>
                <a:ea typeface="Noto Sans CJK SC"/>
              </a:rPr>
              <a:t>[Complaint / records]</a:t>
            </a:r>
          </a:p>
        </p:txBody>
      </p:sp>
      <p:sp>
        <p:nvSpPr>
          <p:cNvPr id="26" name="Rectangle 25"/>
          <p:cNvSpPr/>
          <p:nvPr/>
        </p:nvSpPr>
        <p:spPr>
          <a:xfrm>
            <a:off x="7141464" y="3374136"/>
            <a:ext cx="4425696" cy="804672"/>
          </a:xfrm>
          <a:prstGeom prst="rect">
            <a:avLst/>
          </a:prstGeom>
          <a:solidFill>
            <a:srgbClr val="FCF9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7296912" y="3529584"/>
            <a:ext cx="4114800" cy="576072"/>
          </a:xfrm>
          <a:prstGeom prst="rect">
            <a:avLst/>
          </a:prstGeom>
          <a:noFill/>
          <a:effectLst/>
        </p:spPr>
        <p:txBody>
          <a:bodyPr wrap="square" lIns="0" rIns="0" tIns="0" bIns="0">
            <a:spAutoFit/>
          </a:bodyPr>
          <a:lstStyle/>
          <a:p>
            <a:pPr>
              <a:lnSpc>
                <a:spcPct val="113000"/>
              </a:lnSpc>
              <a:spcAft>
                <a:spcPts val="0"/>
              </a:spcAft>
              <a:defRPr sz="1400" b="0">
                <a:solidFill>
                  <a:srgbClr val="1E191C"/>
                </a:solidFill>
                <a:latin typeface="Noto Sans"/>
              </a:defRPr>
            </a:pPr>
            <a:r>
              <a:rPr>
                <a:ea typeface="Noto Sans CJK SC"/>
              </a:rPr>
              <a:t>Is a material breach substantiated?</a:t>
            </a:r>
          </a:p>
        </p:txBody>
      </p:sp>
      <p:cxnSp>
        <p:nvCxnSpPr>
          <p:cNvPr id="28" name="Connector 27"/>
          <p:cNvCxnSpPr/>
          <p:nvPr/>
        </p:nvCxnSpPr>
        <p:spPr>
          <a:xfrm>
            <a:off x="630936" y="4178808"/>
            <a:ext cx="10936224"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29" name="Rectangle 28"/>
          <p:cNvSpPr/>
          <p:nvPr/>
        </p:nvSpPr>
        <p:spPr>
          <a:xfrm>
            <a:off x="630936" y="4178808"/>
            <a:ext cx="2852928" cy="804672"/>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786384" y="4334256"/>
            <a:ext cx="2542032" cy="576072"/>
          </a:xfrm>
          <a:prstGeom prst="rect">
            <a:avLst/>
          </a:prstGeom>
          <a:noFill/>
          <a:effectLst/>
        </p:spPr>
        <p:txBody>
          <a:bodyPr wrap="square" lIns="0" rIns="0" tIns="0" bIns="0">
            <a:spAutoFit/>
          </a:bodyPr>
          <a:lstStyle/>
          <a:p>
            <a:pPr>
              <a:lnSpc>
                <a:spcPct val="113000"/>
              </a:lnSpc>
              <a:spcAft>
                <a:spcPts val="0"/>
              </a:spcAft>
              <a:defRPr sz="1400" b="1">
                <a:solidFill>
                  <a:srgbClr val="7A202C"/>
                </a:solidFill>
                <a:latin typeface="Noto Sans"/>
              </a:defRPr>
            </a:pPr>
            <a:r>
              <a:rPr>
                <a:ea typeface="Noto Sans CJK SC"/>
              </a:rPr>
              <a:t>Forfeiture procedure</a:t>
            </a:r>
          </a:p>
        </p:txBody>
      </p:sp>
      <p:sp>
        <p:nvSpPr>
          <p:cNvPr id="31" name="Rectangle 30"/>
          <p:cNvSpPr/>
          <p:nvPr/>
        </p:nvSpPr>
        <p:spPr>
          <a:xfrm>
            <a:off x="3483864" y="4178808"/>
            <a:ext cx="3657600" cy="804672"/>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3639312" y="4334256"/>
            <a:ext cx="3346704" cy="576072"/>
          </a:xfrm>
          <a:prstGeom prst="rect">
            <a:avLst/>
          </a:prstGeom>
          <a:noFill/>
          <a:effectLst/>
        </p:spPr>
        <p:txBody>
          <a:bodyPr wrap="square" lIns="0" rIns="0" tIns="0" bIns="0">
            <a:spAutoFit/>
          </a:bodyPr>
          <a:lstStyle/>
          <a:p>
            <a:pPr>
              <a:lnSpc>
                <a:spcPct val="113000"/>
              </a:lnSpc>
              <a:spcAft>
                <a:spcPts val="0"/>
              </a:spcAft>
              <a:defRPr sz="1400" b="0">
                <a:solidFill>
                  <a:srgbClr val="1E191C"/>
                </a:solidFill>
                <a:latin typeface="Noto Sans"/>
              </a:defRPr>
            </a:pPr>
            <a:r>
              <a:rPr>
                <a:ea typeface="Noto Sans CJK SC"/>
              </a:rPr>
              <a:t>[Notice / service record]</a:t>
            </a:r>
          </a:p>
        </p:txBody>
      </p:sp>
      <p:sp>
        <p:nvSpPr>
          <p:cNvPr id="33" name="Rectangle 32"/>
          <p:cNvSpPr/>
          <p:nvPr/>
        </p:nvSpPr>
        <p:spPr>
          <a:xfrm>
            <a:off x="7141464" y="4178808"/>
            <a:ext cx="4425696" cy="804672"/>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7296912" y="4334256"/>
            <a:ext cx="4114800" cy="576072"/>
          </a:xfrm>
          <a:prstGeom prst="rect">
            <a:avLst/>
          </a:prstGeom>
          <a:noFill/>
          <a:effectLst/>
        </p:spPr>
        <p:txBody>
          <a:bodyPr wrap="square" lIns="0" rIns="0" tIns="0" bIns="0">
            <a:spAutoFit/>
          </a:bodyPr>
          <a:lstStyle/>
          <a:p>
            <a:pPr>
              <a:lnSpc>
                <a:spcPct val="113000"/>
              </a:lnSpc>
              <a:spcAft>
                <a:spcPts val="0"/>
              </a:spcAft>
              <a:defRPr sz="1400" b="0">
                <a:solidFill>
                  <a:srgbClr val="1E191C"/>
                </a:solidFill>
                <a:latin typeface="Noto Sans"/>
              </a:defRPr>
            </a:pPr>
            <a:r>
              <a:rPr>
                <a:ea typeface="Noto Sans CJK SC"/>
              </a:rPr>
              <a:t>Were all requirements met?</a:t>
            </a:r>
          </a:p>
        </p:txBody>
      </p:sp>
      <p:cxnSp>
        <p:nvCxnSpPr>
          <p:cNvPr id="35" name="Connector 34"/>
          <p:cNvCxnSpPr/>
          <p:nvPr/>
        </p:nvCxnSpPr>
        <p:spPr>
          <a:xfrm>
            <a:off x="630936" y="4983480"/>
            <a:ext cx="10936224"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36" name="Rectangle 35"/>
          <p:cNvSpPr/>
          <p:nvPr/>
        </p:nvSpPr>
        <p:spPr>
          <a:xfrm>
            <a:off x="630936" y="4983480"/>
            <a:ext cx="2852928" cy="804672"/>
          </a:xfrm>
          <a:prstGeom prst="rect">
            <a:avLst/>
          </a:prstGeom>
          <a:solidFill>
            <a:srgbClr val="FCF9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86384" y="5138928"/>
            <a:ext cx="2542032" cy="576072"/>
          </a:xfrm>
          <a:prstGeom prst="rect">
            <a:avLst/>
          </a:prstGeom>
          <a:noFill/>
          <a:effectLst/>
        </p:spPr>
        <p:txBody>
          <a:bodyPr wrap="square" lIns="0" rIns="0" tIns="0" bIns="0">
            <a:spAutoFit/>
          </a:bodyPr>
          <a:lstStyle/>
          <a:p>
            <a:pPr>
              <a:lnSpc>
                <a:spcPct val="113000"/>
              </a:lnSpc>
              <a:spcAft>
                <a:spcPts val="0"/>
              </a:spcAft>
              <a:defRPr sz="1400" b="1">
                <a:solidFill>
                  <a:srgbClr val="7A202C"/>
                </a:solidFill>
                <a:latin typeface="Noto Sans"/>
              </a:defRPr>
            </a:pPr>
            <a:r>
              <a:rPr>
                <a:ea typeface="Noto Sans CJK SC"/>
              </a:rPr>
              <a:t>Renewal rent</a:t>
            </a:r>
          </a:p>
        </p:txBody>
      </p:sp>
      <p:sp>
        <p:nvSpPr>
          <p:cNvPr id="38" name="Rectangle 37"/>
          <p:cNvSpPr/>
          <p:nvPr/>
        </p:nvSpPr>
        <p:spPr>
          <a:xfrm>
            <a:off x="3483864" y="4983480"/>
            <a:ext cx="3657600" cy="804672"/>
          </a:xfrm>
          <a:prstGeom prst="rect">
            <a:avLst/>
          </a:prstGeom>
          <a:solidFill>
            <a:srgbClr val="FCF9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3639312" y="5138928"/>
            <a:ext cx="3346704" cy="576072"/>
          </a:xfrm>
          <a:prstGeom prst="rect">
            <a:avLst/>
          </a:prstGeom>
          <a:noFill/>
          <a:effectLst/>
        </p:spPr>
        <p:txBody>
          <a:bodyPr wrap="square" lIns="0" rIns="0" tIns="0" bIns="0">
            <a:spAutoFit/>
          </a:bodyPr>
          <a:lstStyle/>
          <a:p>
            <a:pPr>
              <a:lnSpc>
                <a:spcPct val="113000"/>
              </a:lnSpc>
              <a:spcAft>
                <a:spcPts val="0"/>
              </a:spcAft>
              <a:defRPr sz="1400" b="0">
                <a:solidFill>
                  <a:srgbClr val="1E191C"/>
                </a:solidFill>
                <a:latin typeface="Noto Sans"/>
              </a:defRPr>
            </a:pPr>
            <a:r>
              <a:rPr>
                <a:ea typeface="Noto Sans CJK SC"/>
              </a:rPr>
              <a:t>[Renewal provision]</a:t>
            </a:r>
          </a:p>
        </p:txBody>
      </p:sp>
      <p:sp>
        <p:nvSpPr>
          <p:cNvPr id="40" name="Rectangle 39"/>
          <p:cNvSpPr/>
          <p:nvPr/>
        </p:nvSpPr>
        <p:spPr>
          <a:xfrm>
            <a:off x="7141464" y="4983480"/>
            <a:ext cx="4425696" cy="804672"/>
          </a:xfrm>
          <a:prstGeom prst="rect">
            <a:avLst/>
          </a:prstGeom>
          <a:solidFill>
            <a:srgbClr val="FCF9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296912" y="5138928"/>
            <a:ext cx="4114800" cy="576072"/>
          </a:xfrm>
          <a:prstGeom prst="rect">
            <a:avLst/>
          </a:prstGeom>
          <a:noFill/>
          <a:effectLst/>
        </p:spPr>
        <p:txBody>
          <a:bodyPr wrap="square" lIns="0" rIns="0" tIns="0" bIns="0">
            <a:spAutoFit/>
          </a:bodyPr>
          <a:lstStyle/>
          <a:p>
            <a:pPr>
              <a:lnSpc>
                <a:spcPct val="113000"/>
              </a:lnSpc>
              <a:spcAft>
                <a:spcPts val="0"/>
              </a:spcAft>
              <a:defRPr sz="1400" b="0">
                <a:solidFill>
                  <a:srgbClr val="1E191C"/>
                </a:solidFill>
                <a:latin typeface="Noto Sans"/>
              </a:defRPr>
            </a:pPr>
            <a:r>
              <a:rPr>
                <a:ea typeface="Noto Sans CJK SC"/>
              </a:rPr>
              <a:t>Can the new rent be determined?</a:t>
            </a:r>
          </a:p>
        </p:txBody>
      </p:sp>
      <p:cxnSp>
        <p:nvCxnSpPr>
          <p:cNvPr id="42" name="Connector 41"/>
          <p:cNvCxnSpPr/>
          <p:nvPr/>
        </p:nvCxnSpPr>
        <p:spPr>
          <a:xfrm>
            <a:off x="630936" y="5788152"/>
            <a:ext cx="10936224"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621792" y="6437376"/>
            <a:ext cx="10945368"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630936" y="6556248"/>
            <a:ext cx="5486400" cy="237744"/>
          </a:xfrm>
          <a:prstGeom prst="rect">
            <a:avLst/>
          </a:prstGeom>
          <a:noFill/>
          <a:effectLst/>
        </p:spPr>
        <p:txBody>
          <a:bodyPr wrap="square" lIns="0" rIns="0" tIns="0" bIns="0">
            <a:spAutoFit/>
          </a:bodyPr>
          <a:lstStyle/>
          <a:p>
            <a:pPr>
              <a:lnSpc>
                <a:spcPct val="113000"/>
              </a:lnSpc>
              <a:spcAft>
                <a:spcPts val="0"/>
              </a:spcAft>
              <a:defRPr sz="800" b="1">
                <a:solidFill>
                  <a:srgbClr val="666064"/>
                </a:solidFill>
                <a:latin typeface="Noto Sans"/>
              </a:defRPr>
            </a:pPr>
            <a:r>
              <a:rPr>
                <a:ea typeface="Noto Sans CJK SC"/>
              </a:rPr>
              <a:t>5957  /  TENANCY DISPUTE</a:t>
            </a:r>
          </a:p>
        </p:txBody>
      </p:sp>
      <p:sp>
        <p:nvSpPr>
          <p:cNvPr id="4" name="TextBox 3"/>
          <p:cNvSpPr txBox="1"/>
          <p:nvPr/>
        </p:nvSpPr>
        <p:spPr>
          <a:xfrm>
            <a:off x="10149840" y="6537960"/>
            <a:ext cx="1399032" cy="201168"/>
          </a:xfrm>
          <a:prstGeom prst="rect">
            <a:avLst/>
          </a:prstGeom>
          <a:noFill/>
          <a:effectLst/>
        </p:spPr>
        <p:txBody>
          <a:bodyPr wrap="square" lIns="0" rIns="0" tIns="0" bIns="0">
            <a:spAutoFit/>
          </a:bodyPr>
          <a:lstStyle/>
          <a:p>
            <a:pPr algn="r">
              <a:lnSpc>
                <a:spcPct val="113000"/>
              </a:lnSpc>
              <a:spcAft>
                <a:spcPts val="0"/>
              </a:spcAft>
              <a:defRPr sz="800" b="0">
                <a:solidFill>
                  <a:srgbClr val="666064"/>
                </a:solidFill>
                <a:latin typeface="Noto Sans"/>
              </a:defRPr>
            </a:pPr>
            <a:r>
              <a:rPr>
                <a:ea typeface="Noto Sans CJK SC"/>
              </a:rPr>
              <a:t>17  /  30</a:t>
            </a:r>
          </a:p>
        </p:txBody>
      </p:sp>
      <p:sp>
        <p:nvSpPr>
          <p:cNvPr id="5" name="TextBox 4"/>
          <p:cNvSpPr txBox="1"/>
          <p:nvPr/>
        </p:nvSpPr>
        <p:spPr>
          <a:xfrm>
            <a:off x="630936" y="347472"/>
            <a:ext cx="9144000" cy="237744"/>
          </a:xfrm>
          <a:prstGeom prst="rect">
            <a:avLst/>
          </a:prstGeom>
          <a:noFill/>
          <a:effectLst/>
        </p:spPr>
        <p:txBody>
          <a:bodyPr wrap="square" lIns="0" rIns="0" tIns="0" bIns="0">
            <a:spAutoFit/>
          </a:bodyPr>
          <a:lstStyle/>
          <a:p>
            <a:pPr>
              <a:lnSpc>
                <a:spcPct val="113000"/>
              </a:lnSpc>
              <a:spcAft>
                <a:spcPts val="0"/>
              </a:spcAft>
              <a:defRPr sz="900" b="1">
                <a:solidFill>
                  <a:srgbClr val="A34450"/>
                </a:solidFill>
                <a:latin typeface="Noto Sans"/>
              </a:defRPr>
            </a:pPr>
            <a:r>
              <a:rPr>
                <a:ea typeface="Noto Sans CJK SC"/>
              </a:rPr>
              <a:t>RENEWAL SPOTLIGHT</a:t>
            </a:r>
          </a:p>
        </p:txBody>
      </p:sp>
      <p:sp>
        <p:nvSpPr>
          <p:cNvPr id="6" name="TextBox 5"/>
          <p:cNvSpPr txBox="1"/>
          <p:nvPr/>
        </p:nvSpPr>
        <p:spPr>
          <a:xfrm>
            <a:off x="603504" y="758952"/>
            <a:ext cx="10972800" cy="612648"/>
          </a:xfrm>
          <a:prstGeom prst="rect">
            <a:avLst/>
          </a:prstGeom>
          <a:noFill/>
          <a:effectLst/>
        </p:spPr>
        <p:txBody>
          <a:bodyPr wrap="square" lIns="0" rIns="0" tIns="0" bIns="0">
            <a:spAutoFit/>
          </a:bodyPr>
          <a:lstStyle/>
          <a:p>
            <a:pPr>
              <a:lnSpc>
                <a:spcPct val="113000"/>
              </a:lnSpc>
              <a:spcAft>
                <a:spcPts val="0"/>
              </a:spcAft>
              <a:defRPr sz="3000" b="0">
                <a:solidFill>
                  <a:srgbClr val="7A202C"/>
                </a:solidFill>
                <a:latin typeface="Noto Serif"/>
              </a:defRPr>
            </a:pPr>
            <a:r>
              <a:rPr>
                <a:ea typeface="Noto Sans CJK SC"/>
              </a:rPr>
              <a:t>Issue (b): enforceable renewal</a:t>
            </a:r>
          </a:p>
        </p:txBody>
      </p:sp>
      <p:cxnSp>
        <p:nvCxnSpPr>
          <p:cNvPr id="7" name="Connector 6"/>
          <p:cNvCxnSpPr/>
          <p:nvPr/>
        </p:nvCxnSpPr>
        <p:spPr>
          <a:xfrm>
            <a:off x="621792" y="1490472"/>
            <a:ext cx="10945368" cy="0"/>
          </a:xfrm>
          <a:prstGeom prst="line">
            <a:avLst/>
          </a:prstGeom>
          <a:ln w="10795">
            <a:solidFill>
              <a:srgbClr val="D4A59A"/>
            </a:solidFill>
          </a:ln>
          <a:effectLst/>
        </p:spPr>
        <p:style>
          <a:lnRef idx="2">
            <a:schemeClr val="accent1"/>
          </a:lnRef>
          <a:fillRef idx="0">
            <a:schemeClr val="accent1"/>
          </a:fillRef>
          <a:effectRef idx="0">
            <a:schemeClr val="accent1"/>
          </a:effectRef>
          <a:fontRef idx="minor">
            <a:schemeClr val="tx1"/>
          </a:fontRef>
        </p:style>
      </p:cxnSp>
      <p:sp>
        <p:nvSpPr>
          <p:cNvPr id="8" name="Rectangle 7"/>
          <p:cNvSpPr/>
          <p:nvPr/>
        </p:nvSpPr>
        <p:spPr>
          <a:xfrm>
            <a:off x="8156448" y="1965960"/>
            <a:ext cx="3410712" cy="4087368"/>
          </a:xfrm>
          <a:prstGeom prst="rect">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412480" y="2267712"/>
            <a:ext cx="2834640" cy="237744"/>
          </a:xfrm>
          <a:prstGeom prst="rect">
            <a:avLst/>
          </a:prstGeom>
          <a:noFill/>
          <a:effectLst/>
        </p:spPr>
        <p:txBody>
          <a:bodyPr wrap="square" lIns="0" rIns="0" tIns="0" bIns="0">
            <a:spAutoFit/>
          </a:bodyPr>
          <a:lstStyle/>
          <a:p>
            <a:pPr>
              <a:lnSpc>
                <a:spcPct val="113000"/>
              </a:lnSpc>
              <a:spcAft>
                <a:spcPts val="0"/>
              </a:spcAft>
              <a:defRPr sz="900" b="1">
                <a:solidFill>
                  <a:srgbClr val="E4BEC5"/>
                </a:solidFill>
                <a:latin typeface="Noto Sans"/>
              </a:defRPr>
            </a:pPr>
            <a:r>
              <a:rPr>
                <a:ea typeface="Noto Sans CJK SC"/>
              </a:rPr>
              <a:t>THE KEY VARIABLE</a:t>
            </a:r>
          </a:p>
        </p:txBody>
      </p:sp>
      <p:sp>
        <p:nvSpPr>
          <p:cNvPr id="10" name="TextBox 9"/>
          <p:cNvSpPr txBox="1"/>
          <p:nvPr/>
        </p:nvSpPr>
        <p:spPr>
          <a:xfrm>
            <a:off x="8366760" y="3017520"/>
            <a:ext cx="2743200" cy="1737360"/>
          </a:xfrm>
          <a:prstGeom prst="rect">
            <a:avLst/>
          </a:prstGeom>
          <a:noFill/>
          <a:effectLst/>
        </p:spPr>
        <p:txBody>
          <a:bodyPr wrap="square" lIns="0" rIns="0" tIns="0" bIns="0">
            <a:spAutoFit/>
          </a:bodyPr>
          <a:lstStyle/>
          <a:p>
            <a:pPr>
              <a:lnSpc>
                <a:spcPct val="113000"/>
              </a:lnSpc>
              <a:spcAft>
                <a:spcPts val="0"/>
              </a:spcAft>
              <a:defRPr sz="4600" b="0">
                <a:solidFill>
                  <a:srgbClr val="FFFFFF"/>
                </a:solidFill>
                <a:latin typeface="Noto Serif"/>
              </a:defRPr>
            </a:pPr>
            <a:r>
              <a:rPr>
                <a:ea typeface="Noto Sans CJK SC"/>
              </a:rPr>
              <a:t>New</a:t>
            </a:r>
          </a:p>
          <a:p>
            <a:pPr>
              <a:lnSpc>
                <a:spcPct val="113000"/>
              </a:lnSpc>
              <a:spcAft>
                <a:spcPts val="0"/>
              </a:spcAft>
              <a:defRPr sz="4600" b="0">
                <a:solidFill>
                  <a:srgbClr val="FFFFFF"/>
                </a:solidFill>
                <a:latin typeface="Noto Serif"/>
              </a:defRPr>
            </a:pPr>
            <a:r>
              <a:rPr>
                <a:ea typeface="Noto Sans CJK SC"/>
              </a:rPr>
              <a:t>rent</a:t>
            </a:r>
          </a:p>
        </p:txBody>
      </p:sp>
      <p:sp>
        <p:nvSpPr>
          <p:cNvPr id="11" name="TextBox 10"/>
          <p:cNvSpPr txBox="1"/>
          <p:nvPr/>
        </p:nvSpPr>
        <p:spPr>
          <a:xfrm>
            <a:off x="8430768" y="4956048"/>
            <a:ext cx="2651760" cy="713232"/>
          </a:xfrm>
          <a:prstGeom prst="rect">
            <a:avLst/>
          </a:prstGeom>
          <a:noFill/>
          <a:effectLst/>
        </p:spPr>
        <p:txBody>
          <a:bodyPr wrap="square" lIns="0" rIns="0" tIns="0" bIns="0">
            <a:spAutoFit/>
          </a:bodyPr>
          <a:lstStyle/>
          <a:p>
            <a:pPr>
              <a:lnSpc>
                <a:spcPct val="113000"/>
              </a:lnSpc>
              <a:spcAft>
                <a:spcPts val="0"/>
              </a:spcAft>
              <a:defRPr sz="1800" b="0">
                <a:solidFill>
                  <a:srgbClr val="E9CDD2"/>
                </a:solidFill>
                <a:latin typeface="Noto Sans"/>
              </a:defRPr>
            </a:pPr>
            <a:r>
              <a:rPr>
                <a:ea typeface="Noto Sans CJK SC"/>
              </a:rPr>
              <a:t>Can it be validly</a:t>
            </a:r>
          </a:p>
          <a:p>
            <a:pPr>
              <a:lnSpc>
                <a:spcPct val="113000"/>
              </a:lnSpc>
              <a:spcAft>
                <a:spcPts val="0"/>
              </a:spcAft>
              <a:defRPr sz="1800" b="0">
                <a:solidFill>
                  <a:srgbClr val="E9CDD2"/>
                </a:solidFill>
                <a:latin typeface="Noto Sans"/>
              </a:defRPr>
            </a:pPr>
            <a:r>
              <a:rPr>
                <a:ea typeface="Noto Sans CJK SC"/>
              </a:rPr>
              <a:t>determined?</a:t>
            </a:r>
          </a:p>
        </p:txBody>
      </p:sp>
      <p:sp>
        <p:nvSpPr>
          <p:cNvPr id="12" name="TextBox 11"/>
          <p:cNvSpPr txBox="1"/>
          <p:nvPr/>
        </p:nvSpPr>
        <p:spPr>
          <a:xfrm>
            <a:off x="640080" y="2368296"/>
            <a:ext cx="7086600" cy="1499616"/>
          </a:xfrm>
          <a:prstGeom prst="rect">
            <a:avLst/>
          </a:prstGeom>
          <a:noFill/>
          <a:effectLst/>
        </p:spPr>
        <p:txBody>
          <a:bodyPr wrap="square" lIns="0" rIns="0" tIns="0" bIns="0">
            <a:spAutoFit/>
          </a:bodyPr>
          <a:lstStyle/>
          <a:p>
            <a:pPr>
              <a:lnSpc>
                <a:spcPct val="113000"/>
              </a:lnSpc>
              <a:spcAft>
                <a:spcPts val="0"/>
              </a:spcAft>
              <a:defRPr sz="3300" b="0">
                <a:solidFill>
                  <a:srgbClr val="7A202C"/>
                </a:solidFill>
                <a:latin typeface="Noto Serif"/>
              </a:defRPr>
            </a:pPr>
            <a:r>
              <a:rPr>
                <a:ea typeface="Noto Sans CJK SC"/>
              </a:rPr>
              <a:t>Can Angela enforce renewal</a:t>
            </a:r>
          </a:p>
          <a:p>
            <a:pPr>
              <a:lnSpc>
                <a:spcPct val="113000"/>
              </a:lnSpc>
              <a:spcAft>
                <a:spcPts val="0"/>
              </a:spcAft>
              <a:defRPr sz="3300" b="0">
                <a:solidFill>
                  <a:srgbClr val="7A202C"/>
                </a:solidFill>
                <a:latin typeface="Noto Serif"/>
              </a:defRPr>
            </a:pPr>
            <a:r>
              <a:rPr>
                <a:ea typeface="Noto Sans CJK SC"/>
              </a:rPr>
              <a:t>of the tenancy?</a:t>
            </a:r>
          </a:p>
        </p:txBody>
      </p:sp>
      <p:sp>
        <p:nvSpPr>
          <p:cNvPr id="13" name="TextBox 12"/>
          <p:cNvSpPr txBox="1"/>
          <p:nvPr/>
        </p:nvSpPr>
        <p:spPr>
          <a:xfrm>
            <a:off x="685800" y="4151376"/>
            <a:ext cx="6611112" cy="932688"/>
          </a:xfrm>
          <a:prstGeom prst="rect">
            <a:avLst/>
          </a:prstGeom>
          <a:noFill/>
          <a:effectLst/>
        </p:spPr>
        <p:txBody>
          <a:bodyPr wrap="square" lIns="0" rIns="0" tIns="0" bIns="0">
            <a:spAutoFit/>
          </a:bodyPr>
          <a:lstStyle/>
          <a:p>
            <a:pPr>
              <a:lnSpc>
                <a:spcPct val="113000"/>
              </a:lnSpc>
              <a:spcAft>
                <a:spcPts val="0"/>
              </a:spcAft>
              <a:defRPr sz="2000" b="0">
                <a:solidFill>
                  <a:srgbClr val="1E191C"/>
                </a:solidFill>
                <a:latin typeface="Noto Sans"/>
              </a:defRPr>
            </a:pPr>
            <a:r>
              <a:rPr>
                <a:ea typeface="Noto Sans CJK SC"/>
              </a:rPr>
              <a:t>The original analysis turns on the rent-determination mechanism in the renewal arrangement.</a:t>
            </a:r>
          </a:p>
        </p:txBody>
      </p:sp>
      <p:sp>
        <p:nvSpPr>
          <p:cNvPr id="14" name="TextBox 13"/>
          <p:cNvSpPr txBox="1"/>
          <p:nvPr/>
        </p:nvSpPr>
        <p:spPr>
          <a:xfrm>
            <a:off x="685800" y="5596128"/>
            <a:ext cx="6492240" cy="393192"/>
          </a:xfrm>
          <a:prstGeom prst="rect">
            <a:avLst/>
          </a:prstGeom>
          <a:noFill/>
          <a:effectLst/>
        </p:spPr>
        <p:txBody>
          <a:bodyPr wrap="square" lIns="0" rIns="0" tIns="0" bIns="0">
            <a:spAutoFit/>
          </a:bodyPr>
          <a:lstStyle/>
          <a:p>
            <a:pPr>
              <a:lnSpc>
                <a:spcPct val="113000"/>
              </a:lnSpc>
              <a:spcAft>
                <a:spcPts val="0"/>
              </a:spcAft>
              <a:defRPr sz="1400" b="0">
                <a:solidFill>
                  <a:srgbClr val="666064"/>
                </a:solidFill>
                <a:latin typeface="Noto Sans"/>
              </a:defRPr>
            </a:pPr>
            <a:r>
              <a:rPr>
                <a:ea typeface="Noto Sans CJK SC"/>
              </a:rPr>
              <a:t>The noise complaint is background to this question.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621792" y="6437376"/>
            <a:ext cx="10945368"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630936" y="6556248"/>
            <a:ext cx="5486400" cy="237744"/>
          </a:xfrm>
          <a:prstGeom prst="rect">
            <a:avLst/>
          </a:prstGeom>
          <a:noFill/>
          <a:effectLst/>
        </p:spPr>
        <p:txBody>
          <a:bodyPr wrap="square" lIns="0" rIns="0" tIns="0" bIns="0">
            <a:spAutoFit/>
          </a:bodyPr>
          <a:lstStyle/>
          <a:p>
            <a:pPr>
              <a:lnSpc>
                <a:spcPct val="113000"/>
              </a:lnSpc>
              <a:spcAft>
                <a:spcPts val="0"/>
              </a:spcAft>
              <a:defRPr sz="800" b="1">
                <a:solidFill>
                  <a:srgbClr val="666064"/>
                </a:solidFill>
                <a:latin typeface="Noto Sans"/>
              </a:defRPr>
            </a:pPr>
            <a:r>
              <a:rPr>
                <a:ea typeface="Noto Sans CJK SC"/>
              </a:rPr>
              <a:t>5957  /  TENANCY DISPUTE</a:t>
            </a:r>
          </a:p>
        </p:txBody>
      </p:sp>
      <p:sp>
        <p:nvSpPr>
          <p:cNvPr id="4" name="TextBox 3"/>
          <p:cNvSpPr txBox="1"/>
          <p:nvPr/>
        </p:nvSpPr>
        <p:spPr>
          <a:xfrm>
            <a:off x="10149840" y="6537960"/>
            <a:ext cx="1399032" cy="201168"/>
          </a:xfrm>
          <a:prstGeom prst="rect">
            <a:avLst/>
          </a:prstGeom>
          <a:noFill/>
          <a:effectLst/>
        </p:spPr>
        <p:txBody>
          <a:bodyPr wrap="square" lIns="0" rIns="0" tIns="0" bIns="0">
            <a:spAutoFit/>
          </a:bodyPr>
          <a:lstStyle/>
          <a:p>
            <a:pPr algn="r">
              <a:lnSpc>
                <a:spcPct val="113000"/>
              </a:lnSpc>
              <a:spcAft>
                <a:spcPts val="0"/>
              </a:spcAft>
              <a:defRPr sz="800" b="0">
                <a:solidFill>
                  <a:srgbClr val="666064"/>
                </a:solidFill>
                <a:latin typeface="Noto Sans"/>
              </a:defRPr>
            </a:pPr>
            <a:r>
              <a:rPr>
                <a:ea typeface="Noto Sans CJK SC"/>
              </a:rPr>
              <a:t>18  /  30</a:t>
            </a:r>
          </a:p>
        </p:txBody>
      </p:sp>
      <p:sp>
        <p:nvSpPr>
          <p:cNvPr id="5" name="TextBox 4"/>
          <p:cNvSpPr txBox="1"/>
          <p:nvPr/>
        </p:nvSpPr>
        <p:spPr>
          <a:xfrm>
            <a:off x="630936" y="347472"/>
            <a:ext cx="9144000" cy="237744"/>
          </a:xfrm>
          <a:prstGeom prst="rect">
            <a:avLst/>
          </a:prstGeom>
          <a:noFill/>
          <a:effectLst/>
        </p:spPr>
        <p:txBody>
          <a:bodyPr wrap="square" lIns="0" rIns="0" tIns="0" bIns="0">
            <a:spAutoFit/>
          </a:bodyPr>
          <a:lstStyle/>
          <a:p>
            <a:pPr>
              <a:lnSpc>
                <a:spcPct val="113000"/>
              </a:lnSpc>
              <a:spcAft>
                <a:spcPts val="0"/>
              </a:spcAft>
              <a:defRPr sz="900" b="1">
                <a:solidFill>
                  <a:srgbClr val="A34450"/>
                </a:solidFill>
                <a:latin typeface="Noto Sans"/>
              </a:defRPr>
            </a:pPr>
            <a:r>
              <a:rPr>
                <a:ea typeface="Noto Sans CJK SC"/>
              </a:rPr>
              <a:t>RENEWAL FRAMEWORK</a:t>
            </a:r>
          </a:p>
        </p:txBody>
      </p:sp>
      <p:sp>
        <p:nvSpPr>
          <p:cNvPr id="6" name="TextBox 5"/>
          <p:cNvSpPr txBox="1"/>
          <p:nvPr/>
        </p:nvSpPr>
        <p:spPr>
          <a:xfrm>
            <a:off x="603504" y="758952"/>
            <a:ext cx="10972800" cy="612648"/>
          </a:xfrm>
          <a:prstGeom prst="rect">
            <a:avLst/>
          </a:prstGeom>
          <a:noFill/>
          <a:effectLst/>
        </p:spPr>
        <p:txBody>
          <a:bodyPr wrap="square" lIns="0" rIns="0" tIns="0" bIns="0">
            <a:spAutoFit/>
          </a:bodyPr>
          <a:lstStyle/>
          <a:p>
            <a:pPr>
              <a:lnSpc>
                <a:spcPct val="113000"/>
              </a:lnSpc>
              <a:spcAft>
                <a:spcPts val="0"/>
              </a:spcAft>
              <a:defRPr sz="3000" b="0">
                <a:solidFill>
                  <a:srgbClr val="7A202C"/>
                </a:solidFill>
                <a:latin typeface="Noto Serif"/>
              </a:defRPr>
            </a:pPr>
            <a:r>
              <a:rPr>
                <a:ea typeface="Noto Sans CJK SC"/>
              </a:rPr>
              <a:t>Map the renewal question</a:t>
            </a:r>
          </a:p>
        </p:txBody>
      </p:sp>
      <p:cxnSp>
        <p:nvCxnSpPr>
          <p:cNvPr id="7" name="Connector 6"/>
          <p:cNvCxnSpPr/>
          <p:nvPr/>
        </p:nvCxnSpPr>
        <p:spPr>
          <a:xfrm>
            <a:off x="621792" y="1490472"/>
            <a:ext cx="10945368" cy="0"/>
          </a:xfrm>
          <a:prstGeom prst="line">
            <a:avLst/>
          </a:prstGeom>
          <a:ln w="10795">
            <a:solidFill>
              <a:srgbClr val="D4A59A"/>
            </a:solidFill>
          </a:ln>
          <a:effectLst/>
        </p:spPr>
        <p:style>
          <a:lnRef idx="2">
            <a:schemeClr val="accent1"/>
          </a:lnRef>
          <a:fillRef idx="0">
            <a:schemeClr val="accent1"/>
          </a:fillRef>
          <a:effectRef idx="0">
            <a:schemeClr val="accent1"/>
          </a:effectRef>
          <a:fontRef idx="minor">
            <a:schemeClr val="tx1"/>
          </a:fontRef>
        </p:style>
      </p:cxnSp>
      <p:sp>
        <p:nvSpPr>
          <p:cNvPr id="8" name="Rectangle 7"/>
          <p:cNvSpPr/>
          <p:nvPr/>
        </p:nvSpPr>
        <p:spPr>
          <a:xfrm>
            <a:off x="630936" y="2121408"/>
            <a:ext cx="3310128" cy="3273552"/>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630936" y="2121408"/>
            <a:ext cx="32004" cy="3273552"/>
          </a:xfrm>
          <a:prstGeom prst="rect">
            <a:avLst/>
          </a:prstGeom>
          <a:solidFill>
            <a:srgbClr val="A3445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50392" y="2331720"/>
            <a:ext cx="2871216" cy="594360"/>
          </a:xfrm>
          <a:prstGeom prst="rect">
            <a:avLst/>
          </a:prstGeom>
          <a:noFill/>
          <a:effectLst/>
        </p:spPr>
        <p:txBody>
          <a:bodyPr wrap="square" lIns="0" rIns="0" tIns="0" bIns="0">
            <a:spAutoFit/>
          </a:bodyPr>
          <a:lstStyle/>
          <a:p>
            <a:pPr>
              <a:lnSpc>
                <a:spcPct val="113000"/>
              </a:lnSpc>
              <a:spcAft>
                <a:spcPts val="0"/>
              </a:spcAft>
              <a:defRPr sz="2300" b="0">
                <a:solidFill>
                  <a:srgbClr val="7A202C"/>
                </a:solidFill>
                <a:latin typeface="Noto Serif"/>
              </a:defRPr>
            </a:pPr>
            <a:r>
              <a:rPr>
                <a:ea typeface="Noto Sans CJK SC"/>
              </a:rPr>
              <a:t>The provision</a:t>
            </a:r>
          </a:p>
        </p:txBody>
      </p:sp>
      <p:sp>
        <p:nvSpPr>
          <p:cNvPr id="11" name="TextBox 10"/>
          <p:cNvSpPr txBox="1"/>
          <p:nvPr/>
        </p:nvSpPr>
        <p:spPr>
          <a:xfrm>
            <a:off x="859536" y="3054096"/>
            <a:ext cx="2852928" cy="2194560"/>
          </a:xfrm>
          <a:prstGeom prst="rect">
            <a:avLst/>
          </a:prstGeom>
          <a:noFill/>
          <a:effectLst/>
        </p:spPr>
        <p:txBody>
          <a:bodyPr wrap="square" lIns="0" rIns="0" tIns="0" bIns="0">
            <a:spAutoFit/>
          </a:bodyPr>
          <a:lstStyle/>
          <a:p>
            <a:pPr>
              <a:lnSpc>
                <a:spcPct val="113000"/>
              </a:lnSpc>
              <a:spcAft>
                <a:spcPts val="0"/>
              </a:spcAft>
              <a:defRPr sz="1600" b="0">
                <a:solidFill>
                  <a:srgbClr val="1E191C"/>
                </a:solidFill>
                <a:latin typeface="Noto Sans"/>
              </a:defRPr>
            </a:pPr>
            <a:r>
              <a:rPr>
                <a:ea typeface="Noto Sans CJK SC"/>
              </a:rPr>
              <a:t>Locate the renewal term</a:t>
            </a:r>
          </a:p>
          <a:p>
            <a:pPr>
              <a:lnSpc>
                <a:spcPct val="113000"/>
              </a:lnSpc>
              <a:spcAft>
                <a:spcPts val="0"/>
              </a:spcAft>
              <a:defRPr sz="1600" b="0">
                <a:solidFill>
                  <a:srgbClr val="1E191C"/>
                </a:solidFill>
                <a:latin typeface="Noto Sans"/>
              </a:defRPr>
            </a:pPr>
            <a:r>
              <a:rPr>
                <a:ea typeface="Noto Sans CJK SC"/>
              </a:rPr>
              <a:t>in the agreement.</a:t>
            </a:r>
          </a:p>
        </p:txBody>
      </p:sp>
      <p:sp>
        <p:nvSpPr>
          <p:cNvPr id="12" name="Rectangle 11"/>
          <p:cNvSpPr/>
          <p:nvPr/>
        </p:nvSpPr>
        <p:spPr>
          <a:xfrm>
            <a:off x="4453128" y="2121408"/>
            <a:ext cx="3310128" cy="3273552"/>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4453128" y="2121408"/>
            <a:ext cx="32004" cy="3273552"/>
          </a:xfrm>
          <a:prstGeom prst="rect">
            <a:avLst/>
          </a:prstGeom>
          <a:solidFill>
            <a:srgbClr val="A3445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672584" y="2331720"/>
            <a:ext cx="2871216" cy="594360"/>
          </a:xfrm>
          <a:prstGeom prst="rect">
            <a:avLst/>
          </a:prstGeom>
          <a:noFill/>
          <a:effectLst/>
        </p:spPr>
        <p:txBody>
          <a:bodyPr wrap="square" lIns="0" rIns="0" tIns="0" bIns="0">
            <a:spAutoFit/>
          </a:bodyPr>
          <a:lstStyle/>
          <a:p>
            <a:pPr>
              <a:lnSpc>
                <a:spcPct val="113000"/>
              </a:lnSpc>
              <a:spcAft>
                <a:spcPts val="0"/>
              </a:spcAft>
              <a:defRPr sz="2300" b="0">
                <a:solidFill>
                  <a:srgbClr val="7A202C"/>
                </a:solidFill>
                <a:latin typeface="Noto Serif"/>
              </a:defRPr>
            </a:pPr>
            <a:r>
              <a:rPr>
                <a:ea typeface="Noto Sans CJK SC"/>
              </a:rPr>
              <a:t>The mechanism</a:t>
            </a:r>
          </a:p>
        </p:txBody>
      </p:sp>
      <p:sp>
        <p:nvSpPr>
          <p:cNvPr id="15" name="TextBox 14"/>
          <p:cNvSpPr txBox="1"/>
          <p:nvPr/>
        </p:nvSpPr>
        <p:spPr>
          <a:xfrm>
            <a:off x="4681728" y="3054096"/>
            <a:ext cx="2852928" cy="2194560"/>
          </a:xfrm>
          <a:prstGeom prst="rect">
            <a:avLst/>
          </a:prstGeom>
          <a:noFill/>
          <a:effectLst/>
        </p:spPr>
        <p:txBody>
          <a:bodyPr wrap="square" lIns="0" rIns="0" tIns="0" bIns="0">
            <a:spAutoFit/>
          </a:bodyPr>
          <a:lstStyle/>
          <a:p>
            <a:pPr>
              <a:lnSpc>
                <a:spcPct val="113000"/>
              </a:lnSpc>
              <a:spcAft>
                <a:spcPts val="0"/>
              </a:spcAft>
              <a:defRPr sz="1600" b="0">
                <a:solidFill>
                  <a:srgbClr val="1E191C"/>
                </a:solidFill>
                <a:latin typeface="Noto Sans"/>
              </a:defRPr>
            </a:pPr>
            <a:r>
              <a:rPr>
                <a:ea typeface="Noto Sans CJK SC"/>
              </a:rPr>
              <a:t>Assess how the new rent</a:t>
            </a:r>
          </a:p>
          <a:p>
            <a:pPr>
              <a:lnSpc>
                <a:spcPct val="113000"/>
              </a:lnSpc>
              <a:spcAft>
                <a:spcPts val="0"/>
              </a:spcAft>
              <a:defRPr sz="1600" b="0">
                <a:solidFill>
                  <a:srgbClr val="1E191C"/>
                </a:solidFill>
                <a:latin typeface="Noto Sans"/>
              </a:defRPr>
            </a:pPr>
            <a:r>
              <a:rPr>
                <a:ea typeface="Noto Sans CJK SC"/>
              </a:rPr>
              <a:t>can be determined.</a:t>
            </a:r>
          </a:p>
        </p:txBody>
      </p:sp>
      <p:sp>
        <p:nvSpPr>
          <p:cNvPr id="16" name="Rectangle 15"/>
          <p:cNvSpPr/>
          <p:nvPr/>
        </p:nvSpPr>
        <p:spPr>
          <a:xfrm>
            <a:off x="8275320" y="2121408"/>
            <a:ext cx="3310128" cy="3273552"/>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8275320" y="2121408"/>
            <a:ext cx="32004" cy="3273552"/>
          </a:xfrm>
          <a:prstGeom prst="rect">
            <a:avLst/>
          </a:prstGeom>
          <a:solidFill>
            <a:srgbClr val="A3445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494776" y="2331720"/>
            <a:ext cx="2871216" cy="594360"/>
          </a:xfrm>
          <a:prstGeom prst="rect">
            <a:avLst/>
          </a:prstGeom>
          <a:noFill/>
          <a:effectLst/>
        </p:spPr>
        <p:txBody>
          <a:bodyPr wrap="square" lIns="0" rIns="0" tIns="0" bIns="0">
            <a:spAutoFit/>
          </a:bodyPr>
          <a:lstStyle/>
          <a:p>
            <a:pPr>
              <a:lnSpc>
                <a:spcPct val="113000"/>
              </a:lnSpc>
              <a:spcAft>
                <a:spcPts val="0"/>
              </a:spcAft>
              <a:defRPr sz="2300" b="0">
                <a:solidFill>
                  <a:srgbClr val="7A202C"/>
                </a:solidFill>
                <a:latin typeface="Noto Serif"/>
              </a:defRPr>
            </a:pPr>
            <a:r>
              <a:rPr>
                <a:ea typeface="Noto Sans CJK SC"/>
              </a:rPr>
              <a:t>The conclusion</a:t>
            </a:r>
          </a:p>
        </p:txBody>
      </p:sp>
      <p:sp>
        <p:nvSpPr>
          <p:cNvPr id="19" name="TextBox 18"/>
          <p:cNvSpPr txBox="1"/>
          <p:nvPr/>
        </p:nvSpPr>
        <p:spPr>
          <a:xfrm>
            <a:off x="8503920" y="3054096"/>
            <a:ext cx="2852928" cy="2194560"/>
          </a:xfrm>
          <a:prstGeom prst="rect">
            <a:avLst/>
          </a:prstGeom>
          <a:noFill/>
          <a:effectLst/>
        </p:spPr>
        <p:txBody>
          <a:bodyPr wrap="square" lIns="0" rIns="0" tIns="0" bIns="0">
            <a:spAutoFit/>
          </a:bodyPr>
          <a:lstStyle/>
          <a:p>
            <a:pPr>
              <a:lnSpc>
                <a:spcPct val="113000"/>
              </a:lnSpc>
              <a:spcAft>
                <a:spcPts val="0"/>
              </a:spcAft>
              <a:defRPr sz="1600" b="0">
                <a:solidFill>
                  <a:srgbClr val="1E191C"/>
                </a:solidFill>
                <a:latin typeface="Noto Sans"/>
              </a:defRPr>
            </a:pPr>
            <a:r>
              <a:rPr>
                <a:ea typeface="Noto Sans CJK SC"/>
              </a:rPr>
              <a:t>State the resulting view</a:t>
            </a:r>
          </a:p>
          <a:p>
            <a:pPr>
              <a:lnSpc>
                <a:spcPct val="113000"/>
              </a:lnSpc>
              <a:spcAft>
                <a:spcPts val="0"/>
              </a:spcAft>
              <a:defRPr sz="1600" b="0">
                <a:solidFill>
                  <a:srgbClr val="1E191C"/>
                </a:solidFill>
                <a:latin typeface="Noto Sans"/>
              </a:defRPr>
            </a:pPr>
            <a:r>
              <a:rPr>
                <a:ea typeface="Noto Sans CJK SC"/>
              </a:rPr>
              <a:t>in conditional terms.</a:t>
            </a:r>
          </a:p>
        </p:txBody>
      </p:sp>
      <p:cxnSp>
        <p:nvCxnSpPr>
          <p:cNvPr id="20" name="Connector 19"/>
          <p:cNvCxnSpPr/>
          <p:nvPr/>
        </p:nvCxnSpPr>
        <p:spPr>
          <a:xfrm>
            <a:off x="3941063" y="3730752"/>
            <a:ext cx="512064" cy="0"/>
          </a:xfrm>
          <a:prstGeom prst="line">
            <a:avLst/>
          </a:prstGeom>
          <a:ln w="16510">
            <a:solidFill>
              <a:srgbClr val="A34450"/>
            </a:solidFill>
          </a:ln>
          <a:effectLst/>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a:off x="7763256" y="3730752"/>
            <a:ext cx="512064" cy="0"/>
          </a:xfrm>
          <a:prstGeom prst="line">
            <a:avLst/>
          </a:prstGeom>
          <a:ln w="16510">
            <a:solidFill>
              <a:srgbClr val="A34450"/>
            </a:solidFill>
          </a:ln>
          <a:effectLst/>
        </p:spPr>
        <p:style>
          <a:lnRef idx="2">
            <a:schemeClr val="accent1"/>
          </a:lnRef>
          <a:fillRef idx="0">
            <a:schemeClr val="accent1"/>
          </a:fillRef>
          <a:effectRef idx="0">
            <a:schemeClr val="accent1"/>
          </a:effectRef>
          <a:fontRef idx="minor">
            <a:schemeClr val="tx1"/>
          </a:fontRef>
        </p:style>
      </p:cxnSp>
      <p:sp>
        <p:nvSpPr>
          <p:cNvPr id="22" name="Rectangle 21"/>
          <p:cNvSpPr/>
          <p:nvPr/>
        </p:nvSpPr>
        <p:spPr>
          <a:xfrm>
            <a:off x="630936" y="5833872"/>
            <a:ext cx="10936224" cy="393192"/>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95528" y="5925312"/>
            <a:ext cx="10588752" cy="237744"/>
          </a:xfrm>
          <a:prstGeom prst="rect">
            <a:avLst/>
          </a:prstGeom>
          <a:noFill/>
          <a:effectLst/>
        </p:spPr>
        <p:txBody>
          <a:bodyPr wrap="square" lIns="0" rIns="0" tIns="0" bIns="0">
            <a:spAutoFit/>
          </a:bodyPr>
          <a:lstStyle/>
          <a:p>
            <a:pPr>
              <a:lnSpc>
                <a:spcPct val="113000"/>
              </a:lnSpc>
              <a:spcAft>
                <a:spcPts val="0"/>
              </a:spcAft>
              <a:defRPr sz="1150" b="0">
                <a:solidFill>
                  <a:srgbClr val="7A202C"/>
                </a:solidFill>
                <a:latin typeface="Noto Sans"/>
              </a:defRPr>
            </a:pPr>
            <a:r>
              <a:rPr>
                <a:ea typeface="Noto Sans CJK SC"/>
              </a:rPr>
              <a:t>A renewal conclusion depends on the wording and operation of the renewal arrangement.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7A202C"/>
        </a:solidFill>
        <a:effectLst/>
      </p:bgPr>
    </p:bg>
    <p:spTree>
      <p:nvGrpSpPr>
        <p:cNvPr id="1" name=""/>
        <p:cNvGrpSpPr/>
        <p:nvPr/>
      </p:nvGrpSpPr>
      <p:grpSpPr/>
      <p:cxnSp>
        <p:nvCxnSpPr>
          <p:cNvPr id="2" name="Connector 1"/>
          <p:cNvCxnSpPr/>
          <p:nvPr/>
        </p:nvCxnSpPr>
        <p:spPr>
          <a:xfrm>
            <a:off x="621792" y="6437376"/>
            <a:ext cx="10945368" cy="0"/>
          </a:xfrm>
          <a:prstGeom prst="line">
            <a:avLst/>
          </a:prstGeom>
          <a:ln w="7620">
            <a:solidFill>
              <a:srgbClr val="9C5663"/>
            </a:solidFill>
          </a:ln>
          <a:effectLst/>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630936" y="6556248"/>
            <a:ext cx="5486400" cy="237744"/>
          </a:xfrm>
          <a:prstGeom prst="rect">
            <a:avLst/>
          </a:prstGeom>
          <a:noFill/>
          <a:effectLst/>
        </p:spPr>
        <p:txBody>
          <a:bodyPr wrap="square" lIns="0" rIns="0" tIns="0" bIns="0">
            <a:spAutoFit/>
          </a:bodyPr>
          <a:lstStyle/>
          <a:p>
            <a:pPr>
              <a:lnSpc>
                <a:spcPct val="113000"/>
              </a:lnSpc>
              <a:spcAft>
                <a:spcPts val="0"/>
              </a:spcAft>
              <a:defRPr sz="800" b="1">
                <a:solidFill>
                  <a:srgbClr val="D8BAC0"/>
                </a:solidFill>
                <a:latin typeface="Noto Sans"/>
              </a:defRPr>
            </a:pPr>
            <a:r>
              <a:rPr>
                <a:ea typeface="Noto Sans CJK SC"/>
              </a:rPr>
              <a:t>5957  /  TENANCY DISPUTE</a:t>
            </a:r>
          </a:p>
        </p:txBody>
      </p:sp>
      <p:sp>
        <p:nvSpPr>
          <p:cNvPr id="4" name="TextBox 3"/>
          <p:cNvSpPr txBox="1"/>
          <p:nvPr/>
        </p:nvSpPr>
        <p:spPr>
          <a:xfrm>
            <a:off x="10149840" y="6537960"/>
            <a:ext cx="1399032" cy="201168"/>
          </a:xfrm>
          <a:prstGeom prst="rect">
            <a:avLst/>
          </a:prstGeom>
          <a:noFill/>
          <a:effectLst/>
        </p:spPr>
        <p:txBody>
          <a:bodyPr wrap="square" lIns="0" rIns="0" tIns="0" bIns="0">
            <a:spAutoFit/>
          </a:bodyPr>
          <a:lstStyle/>
          <a:p>
            <a:pPr algn="r">
              <a:lnSpc>
                <a:spcPct val="113000"/>
              </a:lnSpc>
              <a:spcAft>
                <a:spcPts val="0"/>
              </a:spcAft>
              <a:defRPr sz="800" b="0">
                <a:solidFill>
                  <a:srgbClr val="D8BAC0"/>
                </a:solidFill>
                <a:latin typeface="Noto Sans"/>
              </a:defRPr>
            </a:pPr>
            <a:r>
              <a:rPr>
                <a:ea typeface="Noto Sans CJK SC"/>
              </a:rPr>
              <a:t>19  /  30</a:t>
            </a:r>
          </a:p>
        </p:txBody>
      </p:sp>
      <p:sp>
        <p:nvSpPr>
          <p:cNvPr id="5" name="TextBox 4"/>
          <p:cNvSpPr txBox="1"/>
          <p:nvPr/>
        </p:nvSpPr>
        <p:spPr>
          <a:xfrm>
            <a:off x="676656" y="621792"/>
            <a:ext cx="9144000" cy="237744"/>
          </a:xfrm>
          <a:prstGeom prst="rect">
            <a:avLst/>
          </a:prstGeom>
          <a:noFill/>
          <a:effectLst/>
        </p:spPr>
        <p:txBody>
          <a:bodyPr wrap="square" lIns="0" rIns="0" tIns="0" bIns="0">
            <a:spAutoFit/>
          </a:bodyPr>
          <a:lstStyle/>
          <a:p>
            <a:pPr>
              <a:lnSpc>
                <a:spcPct val="113000"/>
              </a:lnSpc>
              <a:spcAft>
                <a:spcPts val="0"/>
              </a:spcAft>
              <a:defRPr sz="900" b="1">
                <a:solidFill>
                  <a:srgbClr val="E9CDD2"/>
                </a:solidFill>
                <a:latin typeface="Noto Sans"/>
              </a:defRPr>
            </a:pPr>
            <a:r>
              <a:rPr>
                <a:ea typeface="Noto Sans CJK SC"/>
              </a:rPr>
              <a:t>CASE BRIEFING  /  SECTION 03</a:t>
            </a:r>
          </a:p>
        </p:txBody>
      </p:sp>
      <p:sp>
        <p:nvSpPr>
          <p:cNvPr id="6" name="TextBox 5"/>
          <p:cNvSpPr txBox="1"/>
          <p:nvPr/>
        </p:nvSpPr>
        <p:spPr>
          <a:xfrm>
            <a:off x="8887968" y="1271016"/>
            <a:ext cx="2423160" cy="2194560"/>
          </a:xfrm>
          <a:prstGeom prst="rect">
            <a:avLst/>
          </a:prstGeom>
          <a:noFill/>
          <a:effectLst/>
        </p:spPr>
        <p:txBody>
          <a:bodyPr wrap="square" lIns="0" rIns="0" tIns="0" bIns="0">
            <a:spAutoFit/>
          </a:bodyPr>
          <a:lstStyle/>
          <a:p>
            <a:pPr algn="r">
              <a:lnSpc>
                <a:spcPct val="113000"/>
              </a:lnSpc>
              <a:spcAft>
                <a:spcPts val="0"/>
              </a:spcAft>
              <a:defRPr sz="11200" b="0">
                <a:solidFill>
                  <a:srgbClr val="9C4858"/>
                </a:solidFill>
                <a:latin typeface="Noto Serif"/>
              </a:defRPr>
            </a:pPr>
            <a:r>
              <a:rPr>
                <a:ea typeface="Noto Sans CJK SC"/>
              </a:rPr>
              <a:t>03</a:t>
            </a:r>
          </a:p>
        </p:txBody>
      </p:sp>
      <p:cxnSp>
        <p:nvCxnSpPr>
          <p:cNvPr id="7" name="Connector 6"/>
          <p:cNvCxnSpPr/>
          <p:nvPr/>
        </p:nvCxnSpPr>
        <p:spPr>
          <a:xfrm>
            <a:off x="694944" y="2267712"/>
            <a:ext cx="813816" cy="0"/>
          </a:xfrm>
          <a:prstGeom prst="line">
            <a:avLst/>
          </a:prstGeom>
          <a:ln w="25400">
            <a:solidFill>
              <a:srgbClr val="D4A59A"/>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640080" y="2688336"/>
            <a:ext cx="9875520" cy="1170432"/>
          </a:xfrm>
          <a:prstGeom prst="rect">
            <a:avLst/>
          </a:prstGeom>
          <a:noFill/>
          <a:effectLst/>
        </p:spPr>
        <p:txBody>
          <a:bodyPr wrap="square" lIns="0" rIns="0" tIns="0" bIns="0">
            <a:spAutoFit/>
          </a:bodyPr>
          <a:lstStyle/>
          <a:p>
            <a:pPr>
              <a:lnSpc>
                <a:spcPct val="113000"/>
              </a:lnSpc>
              <a:spcAft>
                <a:spcPts val="0"/>
              </a:spcAft>
              <a:defRPr sz="4500" b="0">
                <a:solidFill>
                  <a:srgbClr val="FFFFFF"/>
                </a:solidFill>
                <a:latin typeface="Noto Serif"/>
              </a:defRPr>
            </a:pPr>
            <a:r>
              <a:rPr>
                <a:ea typeface="Noto Sans CJK SC"/>
              </a:rPr>
              <a:t>Arguments &amp; evaluation</a:t>
            </a:r>
          </a:p>
        </p:txBody>
      </p:sp>
      <p:sp>
        <p:nvSpPr>
          <p:cNvPr id="9" name="TextBox 8"/>
          <p:cNvSpPr txBox="1"/>
          <p:nvPr/>
        </p:nvSpPr>
        <p:spPr>
          <a:xfrm>
            <a:off x="694944" y="4343400"/>
            <a:ext cx="8686800" cy="777240"/>
          </a:xfrm>
          <a:prstGeom prst="rect">
            <a:avLst/>
          </a:prstGeom>
          <a:noFill/>
          <a:effectLst/>
        </p:spPr>
        <p:txBody>
          <a:bodyPr wrap="square" lIns="0" rIns="0" tIns="0" bIns="0">
            <a:spAutoFit/>
          </a:bodyPr>
          <a:lstStyle/>
          <a:p>
            <a:pPr>
              <a:lnSpc>
                <a:spcPct val="113000"/>
              </a:lnSpc>
              <a:spcAft>
                <a:spcPts val="0"/>
              </a:spcAft>
              <a:defRPr sz="2100" b="0">
                <a:solidFill>
                  <a:srgbClr val="E9CDD2"/>
                </a:solidFill>
                <a:latin typeface="Noto Sans"/>
              </a:defRPr>
            </a:pPr>
            <a:r>
              <a:rPr>
                <a:ea typeface="Noto Sans CJK SC"/>
              </a:rPr>
              <a:t>Compare the positions while keeping the conclusions conditional.</a:t>
            </a:r>
          </a:p>
        </p:txBody>
      </p:sp>
      <p:cxnSp>
        <p:nvCxnSpPr>
          <p:cNvPr id="10" name="Connector 9"/>
          <p:cNvCxnSpPr/>
          <p:nvPr/>
        </p:nvCxnSpPr>
        <p:spPr>
          <a:xfrm>
            <a:off x="9015984" y="4123944"/>
            <a:ext cx="0" cy="1728216"/>
          </a:xfrm>
          <a:prstGeom prst="line">
            <a:avLst/>
          </a:prstGeom>
          <a:ln w="8890">
            <a:solidFill>
              <a:srgbClr val="A25562"/>
            </a:solidFill>
          </a:ln>
          <a:effectLst/>
        </p:spPr>
        <p:style>
          <a:lnRef idx="2">
            <a:schemeClr val="accent1"/>
          </a:lnRef>
          <a:fillRef idx="0">
            <a:schemeClr val="accent1"/>
          </a:fillRef>
          <a:effectRef idx="0">
            <a:schemeClr val="accent1"/>
          </a:effectRef>
          <a:fontRef idx="minor">
            <a:schemeClr val="tx1"/>
          </a:fontRef>
        </p:style>
      </p:cxnSp>
      <p:cxnSp>
        <p:nvCxnSpPr>
          <p:cNvPr id="11" name="Connector 10"/>
          <p:cNvCxnSpPr/>
          <p:nvPr/>
        </p:nvCxnSpPr>
        <p:spPr>
          <a:xfrm>
            <a:off x="9674352" y="4123944"/>
            <a:ext cx="0" cy="1728216"/>
          </a:xfrm>
          <a:prstGeom prst="line">
            <a:avLst/>
          </a:prstGeom>
          <a:ln w="8890">
            <a:solidFill>
              <a:srgbClr val="A25562"/>
            </a:solidFill>
          </a:ln>
          <a:effectLst/>
        </p:spPr>
        <p:style>
          <a:lnRef idx="2">
            <a:schemeClr val="accent1"/>
          </a:lnRef>
          <a:fillRef idx="0">
            <a:schemeClr val="accent1"/>
          </a:fillRef>
          <a:effectRef idx="0">
            <a:schemeClr val="accent1"/>
          </a:effectRef>
          <a:fontRef idx="minor">
            <a:schemeClr val="tx1"/>
          </a:fontRef>
        </p:style>
      </p:cxnSp>
      <p:cxnSp>
        <p:nvCxnSpPr>
          <p:cNvPr id="12" name="Connector 11"/>
          <p:cNvCxnSpPr/>
          <p:nvPr/>
        </p:nvCxnSpPr>
        <p:spPr>
          <a:xfrm>
            <a:off x="10332719" y="4123944"/>
            <a:ext cx="0" cy="1728216"/>
          </a:xfrm>
          <a:prstGeom prst="line">
            <a:avLst/>
          </a:prstGeom>
          <a:ln w="8890">
            <a:solidFill>
              <a:srgbClr val="A25562"/>
            </a:solidFill>
          </a:ln>
          <a:effectLst/>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a:off x="10991088" y="4123944"/>
            <a:ext cx="0" cy="1728216"/>
          </a:xfrm>
          <a:prstGeom prst="line">
            <a:avLst/>
          </a:prstGeom>
          <a:ln w="8890">
            <a:solidFill>
              <a:srgbClr val="A25562"/>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 name="TextBox 4"/>
          <p:cNvSpPr txBox="1"/>
          <p:nvPr/>
        </p:nvSpPr>
        <p:spPr>
          <a:xfrm>
            <a:off x="594360" y="274320"/>
            <a:ext cx="8229600" cy="228600"/>
          </a:xfrm>
          <a:prstGeom prst="rect">
            <a:avLst/>
          </a:prstGeom>
          <a:noFill/>
          <a:effectLst/>
        </p:spPr>
        <p:txBody>
          <a:bodyPr wrap="square" lIns="0" rIns="0" tIns="0" bIns="0">
            <a:spAutoFit/>
          </a:bodyPr>
          <a:lstStyle/>
          <a:p>
            <a:pPr>
              <a:lnSpc>
                <a:spcPct val="113000"/>
              </a:lnSpc>
              <a:spcAft>
                <a:spcPts val="0"/>
              </a:spcAft>
              <a:defRPr sz="800" b="1">
                <a:solidFill>
                  <a:srgbClr val="A34450"/>
                </a:solidFill>
                <a:latin typeface="Noto Sans"/>
              </a:defRPr>
            </a:pPr>
            <a:r>
              <a:rPr>
                <a:ea typeface="Noto Sans CJK SC"/>
              </a:rPr>
              <a:t>TENANCY DISPUTE  /  CASE BRIEFING</a:t>
            </a:r>
          </a:p>
        </p:txBody>
      </p:sp>
      <p:sp>
        <p:nvSpPr>
          <p:cNvPr id="6" name="TextBox 5"/>
          <p:cNvSpPr txBox="1"/>
          <p:nvPr/>
        </p:nvSpPr>
        <p:spPr>
          <a:xfrm>
            <a:off x="576072" y="667512"/>
            <a:ext cx="11064240" cy="640080"/>
          </a:xfrm>
          <a:prstGeom prst="rect">
            <a:avLst/>
          </a:prstGeom>
          <a:noFill/>
          <a:effectLst/>
        </p:spPr>
        <p:txBody>
          <a:bodyPr wrap="square" lIns="0" rIns="0" tIns="0" bIns="0">
            <a:spAutoFit/>
          </a:bodyPr>
          <a:lstStyle/>
          <a:p>
            <a:pPr>
              <a:lnSpc>
                <a:spcPct val="113000"/>
              </a:lnSpc>
              <a:spcAft>
                <a:spcPts val="0"/>
              </a:spcAft>
              <a:defRPr sz="2900" b="0">
                <a:solidFill>
                  <a:srgbClr val="7A202C"/>
                </a:solidFill>
                <a:latin typeface="Noto Serif"/>
              </a:defRPr>
            </a:pPr>
            <a:r>
              <a:rPr>
                <a:ea typeface="Noto Sans CJK SC"/>
              </a:rPr>
              <a:t>Arguments &amp; Conditional Conclusions</a:t>
            </a:r>
          </a:p>
        </p:txBody>
      </p:sp>
      <p:cxnSp>
        <p:nvCxnSpPr>
          <p:cNvPr id="7" name="Connector 6"/>
          <p:cNvCxnSpPr/>
          <p:nvPr/>
        </p:nvCxnSpPr>
        <p:spPr>
          <a:xfrm>
            <a:off x="603504" y="1399032"/>
            <a:ext cx="10981944" cy="0"/>
          </a:xfrm>
          <a:prstGeom prst="line">
            <a:avLst/>
          </a:prstGeom>
          <a:ln w="12700">
            <a:solidFill>
              <a:srgbClr val="D4A59A"/>
            </a:solidFill>
          </a:ln>
          <a:effectLst/>
        </p:spPr>
        <p:style>
          <a:lnRef idx="2">
            <a:schemeClr val="accent1"/>
          </a:lnRef>
          <a:fillRef idx="0">
            <a:schemeClr val="accent1"/>
          </a:fillRef>
          <a:effectRef idx="0">
            <a:schemeClr val="accent1"/>
          </a:effectRef>
          <a:fontRef idx="minor">
            <a:schemeClr val="tx1"/>
          </a:fontRef>
        </p:style>
      </p:cxnSp>
      <p:sp>
        <p:nvSpPr>
          <p:cNvPr id="8" name="Rectangle 7"/>
          <p:cNvSpPr/>
          <p:nvPr/>
        </p:nvSpPr>
        <p:spPr>
          <a:xfrm>
            <a:off x="612648" y="1627632"/>
            <a:ext cx="5303520" cy="521207"/>
          </a:xfrm>
          <a:prstGeom prst="rect">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95528" y="1719072"/>
            <a:ext cx="4937760" cy="329184"/>
          </a:xfrm>
          <a:prstGeom prst="rect">
            <a:avLst/>
          </a:prstGeom>
          <a:noFill/>
          <a:effectLst/>
        </p:spPr>
        <p:txBody>
          <a:bodyPr wrap="square" lIns="0" rIns="0" tIns="0" bIns="0">
            <a:spAutoFit/>
          </a:bodyPr>
          <a:lstStyle/>
          <a:p>
            <a:pPr>
              <a:lnSpc>
                <a:spcPct val="113000"/>
              </a:lnSpc>
              <a:spcAft>
                <a:spcPts val="0"/>
              </a:spcAft>
              <a:defRPr sz="1900" b="0">
                <a:solidFill>
                  <a:srgbClr val="FFFFFF"/>
                </a:solidFill>
                <a:latin typeface="Noto Serif"/>
              </a:defRPr>
            </a:pPr>
            <a:r>
              <a:rPr>
                <a:ea typeface="Noto Sans CJK SC"/>
              </a:rPr>
              <a:t>Frederick’s Position</a:t>
            </a:r>
          </a:p>
        </p:txBody>
      </p:sp>
      <p:sp>
        <p:nvSpPr>
          <p:cNvPr id="10" name="TextBox 9"/>
          <p:cNvSpPr txBox="1"/>
          <p:nvPr/>
        </p:nvSpPr>
        <p:spPr>
          <a:xfrm>
            <a:off x="640080" y="2231136"/>
            <a:ext cx="5212080" cy="237744"/>
          </a:xfrm>
          <a:prstGeom prst="rect">
            <a:avLst/>
          </a:prstGeom>
          <a:noFill/>
          <a:effectLst/>
        </p:spPr>
        <p:txBody>
          <a:bodyPr wrap="square" lIns="0" rIns="0" tIns="0" bIns="0">
            <a:spAutoFit/>
          </a:bodyPr>
          <a:lstStyle/>
          <a:p>
            <a:pPr>
              <a:lnSpc>
                <a:spcPct val="113000"/>
              </a:lnSpc>
              <a:spcAft>
                <a:spcPts val="0"/>
              </a:spcAft>
              <a:defRPr sz="1100" b="0">
                <a:solidFill>
                  <a:srgbClr val="5A5A5A"/>
                </a:solidFill>
                <a:latin typeface="Noto Sans"/>
              </a:defRPr>
            </a:pPr>
            <a:r>
              <a:rPr>
                <a:ea typeface="Noto Sans CJK SC"/>
              </a:rPr>
              <a:t>Landlord — seeking to recover possession</a:t>
            </a:r>
          </a:p>
        </p:txBody>
      </p:sp>
      <p:sp>
        <p:nvSpPr>
          <p:cNvPr id="11" name="Rectangle 10"/>
          <p:cNvSpPr/>
          <p:nvPr/>
        </p:nvSpPr>
        <p:spPr>
          <a:xfrm>
            <a:off x="6272784" y="1627632"/>
            <a:ext cx="5303520" cy="521207"/>
          </a:xfrm>
          <a:prstGeom prst="rect">
            <a:avLst/>
          </a:prstGeom>
          <a:solidFill>
            <a:srgbClr val="A3445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455664" y="1719072"/>
            <a:ext cx="4937760" cy="329184"/>
          </a:xfrm>
          <a:prstGeom prst="rect">
            <a:avLst/>
          </a:prstGeom>
          <a:noFill/>
          <a:effectLst/>
        </p:spPr>
        <p:txBody>
          <a:bodyPr wrap="square" lIns="0" rIns="0" tIns="0" bIns="0">
            <a:spAutoFit/>
          </a:bodyPr>
          <a:lstStyle/>
          <a:p>
            <a:pPr>
              <a:lnSpc>
                <a:spcPct val="113000"/>
              </a:lnSpc>
              <a:spcAft>
                <a:spcPts val="0"/>
              </a:spcAft>
              <a:defRPr sz="1900" b="0">
                <a:solidFill>
                  <a:srgbClr val="FFFFFF"/>
                </a:solidFill>
                <a:latin typeface="Noto Serif"/>
              </a:defRPr>
            </a:pPr>
            <a:r>
              <a:rPr>
                <a:ea typeface="Noto Sans CJK SC"/>
              </a:rPr>
              <a:t>Angela’s Position</a:t>
            </a:r>
          </a:p>
        </p:txBody>
      </p:sp>
      <p:sp>
        <p:nvSpPr>
          <p:cNvPr id="13" name="TextBox 12"/>
          <p:cNvSpPr txBox="1"/>
          <p:nvPr/>
        </p:nvSpPr>
        <p:spPr>
          <a:xfrm>
            <a:off x="6300216" y="2231136"/>
            <a:ext cx="5212080" cy="237744"/>
          </a:xfrm>
          <a:prstGeom prst="rect">
            <a:avLst/>
          </a:prstGeom>
          <a:noFill/>
          <a:effectLst/>
        </p:spPr>
        <p:txBody>
          <a:bodyPr wrap="square" lIns="0" rIns="0" tIns="0" bIns="0">
            <a:spAutoFit/>
          </a:bodyPr>
          <a:lstStyle/>
          <a:p>
            <a:pPr>
              <a:lnSpc>
                <a:spcPct val="113000"/>
              </a:lnSpc>
              <a:spcAft>
                <a:spcPts val="0"/>
              </a:spcAft>
              <a:defRPr sz="1100" b="0">
                <a:solidFill>
                  <a:srgbClr val="5A5A5A"/>
                </a:solidFill>
                <a:latin typeface="Noto Sans"/>
              </a:defRPr>
            </a:pPr>
            <a:r>
              <a:rPr>
                <a:ea typeface="Noto Sans CJK SC"/>
              </a:rPr>
              <a:t>Tenant — seeking to remain / renew</a:t>
            </a:r>
          </a:p>
        </p:txBody>
      </p:sp>
      <p:sp>
        <p:nvSpPr>
          <p:cNvPr id="14" name="Oval 13"/>
          <p:cNvSpPr/>
          <p:nvPr/>
        </p:nvSpPr>
        <p:spPr>
          <a:xfrm>
            <a:off x="612648" y="2702052"/>
            <a:ext cx="283464" cy="283464"/>
          </a:xfrm>
          <a:prstGeom prst="ellipse">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12648" y="2725826"/>
            <a:ext cx="283464" cy="219456"/>
          </a:xfrm>
          <a:prstGeom prst="rect">
            <a:avLst/>
          </a:prstGeom>
          <a:noFill/>
          <a:effectLst/>
        </p:spPr>
        <p:txBody>
          <a:bodyPr wrap="square" lIns="0" rIns="0" tIns="0" bIns="0">
            <a:spAutoFit/>
          </a:bodyPr>
          <a:lstStyle/>
          <a:p>
            <a:pPr algn="ctr">
              <a:lnSpc>
                <a:spcPct val="113000"/>
              </a:lnSpc>
              <a:spcAft>
                <a:spcPts val="0"/>
              </a:spcAft>
              <a:defRPr sz="1100" b="1">
                <a:solidFill>
                  <a:srgbClr val="FFFFFF"/>
                </a:solidFill>
                <a:latin typeface="Noto Sans"/>
              </a:defRPr>
            </a:pPr>
            <a:r>
              <a:rPr>
                <a:ea typeface="Noto Sans CJK SC"/>
              </a:rPr>
              <a:t>1</a:t>
            </a:r>
          </a:p>
        </p:txBody>
      </p:sp>
      <p:sp>
        <p:nvSpPr>
          <p:cNvPr id="16" name="TextBox 15"/>
          <p:cNvSpPr txBox="1"/>
          <p:nvPr/>
        </p:nvSpPr>
        <p:spPr>
          <a:xfrm>
            <a:off x="1024128" y="2688336"/>
            <a:ext cx="4800600" cy="228600"/>
          </a:xfrm>
          <a:prstGeom prst="rect">
            <a:avLst/>
          </a:prstGeom>
          <a:noFill/>
          <a:effectLst/>
        </p:spPr>
        <p:txBody>
          <a:bodyPr wrap="square" lIns="0" rIns="0" tIns="0" bIns="0">
            <a:spAutoFit/>
          </a:bodyPr>
          <a:lstStyle/>
          <a:p>
            <a:pPr>
              <a:lnSpc>
                <a:spcPct val="113000"/>
              </a:lnSpc>
              <a:spcAft>
                <a:spcPts val="0"/>
              </a:spcAft>
              <a:defRPr sz="1100" b="1">
                <a:solidFill>
                  <a:srgbClr val="7A202C"/>
                </a:solidFill>
                <a:latin typeface="Noto Sans"/>
              </a:defRPr>
            </a:pPr>
            <a:r>
              <a:rPr>
                <a:ea typeface="Noto Sans CJK SC"/>
              </a:rPr>
              <a:t>Subletting breach</a:t>
            </a:r>
          </a:p>
        </p:txBody>
      </p:sp>
      <p:sp>
        <p:nvSpPr>
          <p:cNvPr id="17" name="TextBox 16"/>
          <p:cNvSpPr txBox="1"/>
          <p:nvPr/>
        </p:nvSpPr>
        <p:spPr>
          <a:xfrm>
            <a:off x="1024128" y="2916936"/>
            <a:ext cx="4818888" cy="429768"/>
          </a:xfrm>
          <a:prstGeom prst="rect">
            <a:avLst/>
          </a:prstGeom>
          <a:noFill/>
          <a:effectLst/>
        </p:spPr>
        <p:txBody>
          <a:bodyPr wrap="square" lIns="0" rIns="0" tIns="0" bIns="0">
            <a:spAutoFit/>
          </a:bodyPr>
          <a:lstStyle/>
          <a:p>
            <a:pPr>
              <a:lnSpc>
                <a:spcPct val="113000"/>
              </a:lnSpc>
              <a:spcAft>
                <a:spcPts val="0"/>
              </a:spcAft>
              <a:defRPr sz="1200" b="0">
                <a:solidFill>
                  <a:srgbClr val="1E191C"/>
                </a:solidFill>
                <a:latin typeface="Noto Sans"/>
              </a:defRPr>
            </a:pPr>
            <a:r>
              <a:rPr>
                <a:ea typeface="Noto Sans CJK SC"/>
              </a:rPr>
              <a:t>Angela sublet to Charles without consent, potentially violating the tenancy agreement.</a:t>
            </a:r>
          </a:p>
        </p:txBody>
      </p:sp>
      <p:cxnSp>
        <p:nvCxnSpPr>
          <p:cNvPr id="18" name="Connector 17"/>
          <p:cNvCxnSpPr/>
          <p:nvPr/>
        </p:nvCxnSpPr>
        <p:spPr>
          <a:xfrm>
            <a:off x="1024128" y="3300984"/>
            <a:ext cx="4828032" cy="0"/>
          </a:xfrm>
          <a:prstGeom prst="line">
            <a:avLst/>
          </a:prstGeom>
          <a:ln w="6985">
            <a:solidFill>
              <a:srgbClr val="EADDE0"/>
            </a:solidFill>
          </a:ln>
          <a:effectLst/>
        </p:spPr>
        <p:style>
          <a:lnRef idx="2">
            <a:schemeClr val="accent1"/>
          </a:lnRef>
          <a:fillRef idx="0">
            <a:schemeClr val="accent1"/>
          </a:fillRef>
          <a:effectRef idx="0">
            <a:schemeClr val="accent1"/>
          </a:effectRef>
          <a:fontRef idx="minor">
            <a:schemeClr val="tx1"/>
          </a:fontRef>
        </p:style>
      </p:cxnSp>
      <p:sp>
        <p:nvSpPr>
          <p:cNvPr id="19" name="Oval 18"/>
          <p:cNvSpPr/>
          <p:nvPr/>
        </p:nvSpPr>
        <p:spPr>
          <a:xfrm>
            <a:off x="612648" y="3369564"/>
            <a:ext cx="283464" cy="283464"/>
          </a:xfrm>
          <a:prstGeom prst="ellipse">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12648" y="3393338"/>
            <a:ext cx="283464" cy="219456"/>
          </a:xfrm>
          <a:prstGeom prst="rect">
            <a:avLst/>
          </a:prstGeom>
          <a:noFill/>
          <a:effectLst/>
        </p:spPr>
        <p:txBody>
          <a:bodyPr wrap="square" lIns="0" rIns="0" tIns="0" bIns="0">
            <a:spAutoFit/>
          </a:bodyPr>
          <a:lstStyle/>
          <a:p>
            <a:pPr algn="ctr">
              <a:lnSpc>
                <a:spcPct val="113000"/>
              </a:lnSpc>
              <a:spcAft>
                <a:spcPts val="0"/>
              </a:spcAft>
              <a:defRPr sz="1100" b="1">
                <a:solidFill>
                  <a:srgbClr val="FFFFFF"/>
                </a:solidFill>
                <a:latin typeface="Noto Sans"/>
              </a:defRPr>
            </a:pPr>
            <a:r>
              <a:rPr>
                <a:ea typeface="Noto Sans CJK SC"/>
              </a:rPr>
              <a:t>2</a:t>
            </a:r>
          </a:p>
        </p:txBody>
      </p:sp>
      <p:sp>
        <p:nvSpPr>
          <p:cNvPr id="21" name="TextBox 20"/>
          <p:cNvSpPr txBox="1"/>
          <p:nvPr/>
        </p:nvSpPr>
        <p:spPr>
          <a:xfrm>
            <a:off x="1024128" y="3355848"/>
            <a:ext cx="4800600" cy="228600"/>
          </a:xfrm>
          <a:prstGeom prst="rect">
            <a:avLst/>
          </a:prstGeom>
          <a:noFill/>
          <a:effectLst/>
        </p:spPr>
        <p:txBody>
          <a:bodyPr wrap="square" lIns="0" rIns="0" tIns="0" bIns="0">
            <a:spAutoFit/>
          </a:bodyPr>
          <a:lstStyle/>
          <a:p>
            <a:pPr>
              <a:lnSpc>
                <a:spcPct val="113000"/>
              </a:lnSpc>
              <a:spcAft>
                <a:spcPts val="0"/>
              </a:spcAft>
              <a:defRPr sz="1100" b="1">
                <a:solidFill>
                  <a:srgbClr val="7A202C"/>
                </a:solidFill>
                <a:latin typeface="Noto Sans"/>
              </a:defRPr>
            </a:pPr>
            <a:r>
              <a:rPr>
                <a:ea typeface="Noto Sans CJK SC"/>
              </a:rPr>
              <a:t>Noise nuisance</a:t>
            </a:r>
          </a:p>
        </p:txBody>
      </p:sp>
      <p:sp>
        <p:nvSpPr>
          <p:cNvPr id="22" name="TextBox 21"/>
          <p:cNvSpPr txBox="1"/>
          <p:nvPr/>
        </p:nvSpPr>
        <p:spPr>
          <a:xfrm>
            <a:off x="1024128" y="3584448"/>
            <a:ext cx="4818888" cy="429768"/>
          </a:xfrm>
          <a:prstGeom prst="rect">
            <a:avLst/>
          </a:prstGeom>
          <a:noFill/>
          <a:effectLst/>
        </p:spPr>
        <p:txBody>
          <a:bodyPr wrap="square" lIns="0" rIns="0" tIns="0" bIns="0">
            <a:spAutoFit/>
          </a:bodyPr>
          <a:lstStyle/>
          <a:p>
            <a:pPr>
              <a:lnSpc>
                <a:spcPct val="113000"/>
              </a:lnSpc>
              <a:spcAft>
                <a:spcPts val="0"/>
              </a:spcAft>
              <a:defRPr sz="1200" b="0">
                <a:solidFill>
                  <a:srgbClr val="1E191C"/>
                </a:solidFill>
                <a:latin typeface="Noto Sans"/>
              </a:defRPr>
            </a:pPr>
            <a:r>
              <a:rPr>
                <a:ea typeface="Noto Sans CJK SC"/>
              </a:rPr>
              <a:t>Late-night noise complaints indicate an alleged breach of quiet enjoyment / tenant-like use covenants.</a:t>
            </a:r>
          </a:p>
        </p:txBody>
      </p:sp>
      <p:cxnSp>
        <p:nvCxnSpPr>
          <p:cNvPr id="23" name="Connector 22"/>
          <p:cNvCxnSpPr/>
          <p:nvPr/>
        </p:nvCxnSpPr>
        <p:spPr>
          <a:xfrm>
            <a:off x="1024128" y="3968496"/>
            <a:ext cx="4828032" cy="0"/>
          </a:xfrm>
          <a:prstGeom prst="line">
            <a:avLst/>
          </a:prstGeom>
          <a:ln w="6985">
            <a:solidFill>
              <a:srgbClr val="EADDE0"/>
            </a:solidFill>
          </a:ln>
          <a:effectLst/>
        </p:spPr>
        <p:style>
          <a:lnRef idx="2">
            <a:schemeClr val="accent1"/>
          </a:lnRef>
          <a:fillRef idx="0">
            <a:schemeClr val="accent1"/>
          </a:fillRef>
          <a:effectRef idx="0">
            <a:schemeClr val="accent1"/>
          </a:effectRef>
          <a:fontRef idx="minor">
            <a:schemeClr val="tx1"/>
          </a:fontRef>
        </p:style>
      </p:cxnSp>
      <p:sp>
        <p:nvSpPr>
          <p:cNvPr id="24" name="Oval 23"/>
          <p:cNvSpPr/>
          <p:nvPr/>
        </p:nvSpPr>
        <p:spPr>
          <a:xfrm>
            <a:off x="612648" y="4037076"/>
            <a:ext cx="283464" cy="283464"/>
          </a:xfrm>
          <a:prstGeom prst="ellipse">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612648" y="4060850"/>
            <a:ext cx="283464" cy="219456"/>
          </a:xfrm>
          <a:prstGeom prst="rect">
            <a:avLst/>
          </a:prstGeom>
          <a:noFill/>
          <a:effectLst/>
        </p:spPr>
        <p:txBody>
          <a:bodyPr wrap="square" lIns="0" rIns="0" tIns="0" bIns="0">
            <a:spAutoFit/>
          </a:bodyPr>
          <a:lstStyle/>
          <a:p>
            <a:pPr algn="ctr">
              <a:lnSpc>
                <a:spcPct val="113000"/>
              </a:lnSpc>
              <a:spcAft>
                <a:spcPts val="0"/>
              </a:spcAft>
              <a:defRPr sz="1100" b="1">
                <a:solidFill>
                  <a:srgbClr val="FFFFFF"/>
                </a:solidFill>
                <a:latin typeface="Noto Sans"/>
              </a:defRPr>
            </a:pPr>
            <a:r>
              <a:rPr>
                <a:ea typeface="Noto Sans CJK SC"/>
              </a:rPr>
              <a:t>3</a:t>
            </a:r>
          </a:p>
        </p:txBody>
      </p:sp>
      <p:sp>
        <p:nvSpPr>
          <p:cNvPr id="26" name="TextBox 25"/>
          <p:cNvSpPr txBox="1"/>
          <p:nvPr/>
        </p:nvSpPr>
        <p:spPr>
          <a:xfrm>
            <a:off x="1024128" y="4023360"/>
            <a:ext cx="4800600" cy="228600"/>
          </a:xfrm>
          <a:prstGeom prst="rect">
            <a:avLst/>
          </a:prstGeom>
          <a:noFill/>
          <a:effectLst/>
        </p:spPr>
        <p:txBody>
          <a:bodyPr wrap="square" lIns="0" rIns="0" tIns="0" bIns="0">
            <a:spAutoFit/>
          </a:bodyPr>
          <a:lstStyle/>
          <a:p>
            <a:pPr>
              <a:lnSpc>
                <a:spcPct val="113000"/>
              </a:lnSpc>
              <a:spcAft>
                <a:spcPts val="0"/>
              </a:spcAft>
              <a:defRPr sz="1100" b="1">
                <a:solidFill>
                  <a:srgbClr val="7A202C"/>
                </a:solidFill>
                <a:latin typeface="Noto Sans"/>
              </a:defRPr>
            </a:pPr>
            <a:r>
              <a:rPr>
                <a:ea typeface="Noto Sans CJK SC"/>
              </a:rPr>
              <a:t>Forfeiture right</a:t>
            </a:r>
          </a:p>
        </p:txBody>
      </p:sp>
      <p:sp>
        <p:nvSpPr>
          <p:cNvPr id="27" name="TextBox 26"/>
          <p:cNvSpPr txBox="1"/>
          <p:nvPr/>
        </p:nvSpPr>
        <p:spPr>
          <a:xfrm>
            <a:off x="1024128" y="4251960"/>
            <a:ext cx="4818888" cy="429768"/>
          </a:xfrm>
          <a:prstGeom prst="rect">
            <a:avLst/>
          </a:prstGeom>
          <a:noFill/>
          <a:effectLst/>
        </p:spPr>
        <p:txBody>
          <a:bodyPr wrap="square" lIns="0" rIns="0" tIns="0" bIns="0">
            <a:spAutoFit/>
          </a:bodyPr>
          <a:lstStyle/>
          <a:p>
            <a:pPr>
              <a:lnSpc>
                <a:spcPct val="113000"/>
              </a:lnSpc>
              <a:spcAft>
                <a:spcPts val="0"/>
              </a:spcAft>
              <a:defRPr sz="1200" b="0">
                <a:solidFill>
                  <a:srgbClr val="1E191C"/>
                </a:solidFill>
                <a:latin typeface="Noto Sans"/>
              </a:defRPr>
            </a:pPr>
            <a:r>
              <a:rPr>
                <a:ea typeface="Noto Sans CJK SC"/>
              </a:rPr>
              <a:t>If the lease contains a forfeiture clause, Frederick may lawfully terminate early and re-enter.</a:t>
            </a:r>
          </a:p>
        </p:txBody>
      </p:sp>
      <p:cxnSp>
        <p:nvCxnSpPr>
          <p:cNvPr id="28" name="Connector 27"/>
          <p:cNvCxnSpPr/>
          <p:nvPr/>
        </p:nvCxnSpPr>
        <p:spPr>
          <a:xfrm>
            <a:off x="1024128" y="4636008"/>
            <a:ext cx="4828032" cy="0"/>
          </a:xfrm>
          <a:prstGeom prst="line">
            <a:avLst/>
          </a:prstGeom>
          <a:ln w="6985">
            <a:solidFill>
              <a:srgbClr val="EADDE0"/>
            </a:solidFill>
          </a:ln>
          <a:effectLst/>
        </p:spPr>
        <p:style>
          <a:lnRef idx="2">
            <a:schemeClr val="accent1"/>
          </a:lnRef>
          <a:fillRef idx="0">
            <a:schemeClr val="accent1"/>
          </a:fillRef>
          <a:effectRef idx="0">
            <a:schemeClr val="accent1"/>
          </a:effectRef>
          <a:fontRef idx="minor">
            <a:schemeClr val="tx1"/>
          </a:fontRef>
        </p:style>
      </p:cxnSp>
      <p:sp>
        <p:nvSpPr>
          <p:cNvPr id="29" name="Oval 28"/>
          <p:cNvSpPr/>
          <p:nvPr/>
        </p:nvSpPr>
        <p:spPr>
          <a:xfrm>
            <a:off x="612648" y="4704588"/>
            <a:ext cx="283464" cy="283464"/>
          </a:xfrm>
          <a:prstGeom prst="ellipse">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612648" y="4728362"/>
            <a:ext cx="283464" cy="219456"/>
          </a:xfrm>
          <a:prstGeom prst="rect">
            <a:avLst/>
          </a:prstGeom>
          <a:noFill/>
          <a:effectLst/>
        </p:spPr>
        <p:txBody>
          <a:bodyPr wrap="square" lIns="0" rIns="0" tIns="0" bIns="0">
            <a:spAutoFit/>
          </a:bodyPr>
          <a:lstStyle/>
          <a:p>
            <a:pPr algn="ctr">
              <a:lnSpc>
                <a:spcPct val="113000"/>
              </a:lnSpc>
              <a:spcAft>
                <a:spcPts val="0"/>
              </a:spcAft>
              <a:defRPr sz="1100" b="1">
                <a:solidFill>
                  <a:srgbClr val="FFFFFF"/>
                </a:solidFill>
                <a:latin typeface="Noto Sans"/>
              </a:defRPr>
            </a:pPr>
            <a:r>
              <a:rPr>
                <a:ea typeface="Noto Sans CJK SC"/>
              </a:rPr>
              <a:t>4</a:t>
            </a:r>
          </a:p>
        </p:txBody>
      </p:sp>
      <p:sp>
        <p:nvSpPr>
          <p:cNvPr id="31" name="TextBox 30"/>
          <p:cNvSpPr txBox="1"/>
          <p:nvPr/>
        </p:nvSpPr>
        <p:spPr>
          <a:xfrm>
            <a:off x="1024128" y="4690872"/>
            <a:ext cx="4800600" cy="228600"/>
          </a:xfrm>
          <a:prstGeom prst="rect">
            <a:avLst/>
          </a:prstGeom>
          <a:noFill/>
          <a:effectLst/>
        </p:spPr>
        <p:txBody>
          <a:bodyPr wrap="square" lIns="0" rIns="0" tIns="0" bIns="0">
            <a:spAutoFit/>
          </a:bodyPr>
          <a:lstStyle/>
          <a:p>
            <a:pPr>
              <a:lnSpc>
                <a:spcPct val="113000"/>
              </a:lnSpc>
              <a:spcAft>
                <a:spcPts val="0"/>
              </a:spcAft>
              <a:defRPr sz="1100" b="1">
                <a:solidFill>
                  <a:srgbClr val="7A202C"/>
                </a:solidFill>
                <a:latin typeface="Noto Sans"/>
              </a:defRPr>
            </a:pPr>
            <a:r>
              <a:rPr>
                <a:ea typeface="Noto Sans CJK SC"/>
              </a:rPr>
              <a:t>Renewal negotiation</a:t>
            </a:r>
          </a:p>
        </p:txBody>
      </p:sp>
      <p:sp>
        <p:nvSpPr>
          <p:cNvPr id="32" name="TextBox 31"/>
          <p:cNvSpPr txBox="1"/>
          <p:nvPr/>
        </p:nvSpPr>
        <p:spPr>
          <a:xfrm>
            <a:off x="1024128" y="4919472"/>
            <a:ext cx="4818888" cy="429768"/>
          </a:xfrm>
          <a:prstGeom prst="rect">
            <a:avLst/>
          </a:prstGeom>
          <a:noFill/>
          <a:effectLst/>
        </p:spPr>
        <p:txBody>
          <a:bodyPr wrap="square" lIns="0" rIns="0" tIns="0" bIns="0">
            <a:spAutoFit/>
          </a:bodyPr>
          <a:lstStyle/>
          <a:p>
            <a:pPr>
              <a:lnSpc>
                <a:spcPct val="113000"/>
              </a:lnSpc>
              <a:spcAft>
                <a:spcPts val="0"/>
              </a:spcAft>
              <a:defRPr sz="1200" b="0">
                <a:solidFill>
                  <a:srgbClr val="1E191C"/>
                </a:solidFill>
                <a:latin typeface="Noto Sans"/>
              </a:defRPr>
            </a:pPr>
            <a:r>
              <a:rPr>
                <a:ea typeface="Noto Sans CJK SC"/>
              </a:rPr>
              <a:t>At expiry, Frederick need not renew on the same terms; the new rent is negotiable.</a:t>
            </a:r>
          </a:p>
        </p:txBody>
      </p:sp>
      <p:sp>
        <p:nvSpPr>
          <p:cNvPr id="33" name="Oval 32"/>
          <p:cNvSpPr/>
          <p:nvPr/>
        </p:nvSpPr>
        <p:spPr>
          <a:xfrm>
            <a:off x="6272784" y="2702052"/>
            <a:ext cx="283464" cy="283464"/>
          </a:xfrm>
          <a:prstGeom prst="ellipse">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272784" y="2725826"/>
            <a:ext cx="283464" cy="219456"/>
          </a:xfrm>
          <a:prstGeom prst="rect">
            <a:avLst/>
          </a:prstGeom>
          <a:noFill/>
          <a:effectLst/>
        </p:spPr>
        <p:txBody>
          <a:bodyPr wrap="square" lIns="0" rIns="0" tIns="0" bIns="0">
            <a:spAutoFit/>
          </a:bodyPr>
          <a:lstStyle/>
          <a:p>
            <a:pPr algn="ctr">
              <a:lnSpc>
                <a:spcPct val="113000"/>
              </a:lnSpc>
              <a:spcAft>
                <a:spcPts val="0"/>
              </a:spcAft>
              <a:defRPr sz="1100" b="1">
                <a:solidFill>
                  <a:srgbClr val="FFFFFF"/>
                </a:solidFill>
                <a:latin typeface="Noto Sans"/>
              </a:defRPr>
            </a:pPr>
            <a:r>
              <a:rPr>
                <a:ea typeface="Noto Sans CJK SC"/>
              </a:rPr>
              <a:t>1</a:t>
            </a:r>
          </a:p>
        </p:txBody>
      </p:sp>
      <p:sp>
        <p:nvSpPr>
          <p:cNvPr id="35" name="TextBox 34"/>
          <p:cNvSpPr txBox="1"/>
          <p:nvPr/>
        </p:nvSpPr>
        <p:spPr>
          <a:xfrm>
            <a:off x="6684264" y="2688336"/>
            <a:ext cx="4800600" cy="228600"/>
          </a:xfrm>
          <a:prstGeom prst="rect">
            <a:avLst/>
          </a:prstGeom>
          <a:noFill/>
          <a:effectLst/>
        </p:spPr>
        <p:txBody>
          <a:bodyPr wrap="square" lIns="0" rIns="0" tIns="0" bIns="0">
            <a:spAutoFit/>
          </a:bodyPr>
          <a:lstStyle/>
          <a:p>
            <a:pPr>
              <a:lnSpc>
                <a:spcPct val="113000"/>
              </a:lnSpc>
              <a:spcAft>
                <a:spcPts val="0"/>
              </a:spcAft>
              <a:defRPr sz="1100" b="1">
                <a:solidFill>
                  <a:srgbClr val="7A202C"/>
                </a:solidFill>
                <a:latin typeface="Noto Sans"/>
              </a:defRPr>
            </a:pPr>
            <a:r>
              <a:rPr>
                <a:ea typeface="Noto Sans CJK SC"/>
              </a:rPr>
              <a:t>No proven breach</a:t>
            </a:r>
          </a:p>
        </p:txBody>
      </p:sp>
      <p:sp>
        <p:nvSpPr>
          <p:cNvPr id="36" name="TextBox 35"/>
          <p:cNvSpPr txBox="1"/>
          <p:nvPr/>
        </p:nvSpPr>
        <p:spPr>
          <a:xfrm>
            <a:off x="6684264" y="2916936"/>
            <a:ext cx="4818888" cy="429768"/>
          </a:xfrm>
          <a:prstGeom prst="rect">
            <a:avLst/>
          </a:prstGeom>
          <a:noFill/>
          <a:effectLst/>
        </p:spPr>
        <p:txBody>
          <a:bodyPr wrap="square" lIns="0" rIns="0" tIns="0" bIns="0">
            <a:spAutoFit/>
          </a:bodyPr>
          <a:lstStyle/>
          <a:p>
            <a:pPr>
              <a:lnSpc>
                <a:spcPct val="113000"/>
              </a:lnSpc>
              <a:spcAft>
                <a:spcPts val="0"/>
              </a:spcAft>
              <a:defRPr sz="1200" b="0">
                <a:solidFill>
                  <a:srgbClr val="1E191C"/>
                </a:solidFill>
                <a:latin typeface="Noto Sans"/>
              </a:defRPr>
            </a:pPr>
            <a:r>
              <a:rPr>
                <a:ea typeface="Noto Sans CJK SC"/>
              </a:rPr>
              <a:t>A complaint alone is not proof; noise must be substantiated and material.</a:t>
            </a:r>
          </a:p>
        </p:txBody>
      </p:sp>
      <p:cxnSp>
        <p:nvCxnSpPr>
          <p:cNvPr id="37" name="Connector 36"/>
          <p:cNvCxnSpPr/>
          <p:nvPr/>
        </p:nvCxnSpPr>
        <p:spPr>
          <a:xfrm>
            <a:off x="6684264" y="3300984"/>
            <a:ext cx="4828032" cy="0"/>
          </a:xfrm>
          <a:prstGeom prst="line">
            <a:avLst/>
          </a:prstGeom>
          <a:ln w="6985">
            <a:solidFill>
              <a:srgbClr val="EADDE0"/>
            </a:solidFill>
          </a:ln>
          <a:effectLst/>
        </p:spPr>
        <p:style>
          <a:lnRef idx="2">
            <a:schemeClr val="accent1"/>
          </a:lnRef>
          <a:fillRef idx="0">
            <a:schemeClr val="accent1"/>
          </a:fillRef>
          <a:effectRef idx="0">
            <a:schemeClr val="accent1"/>
          </a:effectRef>
          <a:fontRef idx="minor">
            <a:schemeClr val="tx1"/>
          </a:fontRef>
        </p:style>
      </p:cxnSp>
      <p:sp>
        <p:nvSpPr>
          <p:cNvPr id="38" name="Oval 37"/>
          <p:cNvSpPr/>
          <p:nvPr/>
        </p:nvSpPr>
        <p:spPr>
          <a:xfrm>
            <a:off x="6272784" y="3369564"/>
            <a:ext cx="283464" cy="283464"/>
          </a:xfrm>
          <a:prstGeom prst="ellipse">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6272784" y="3393338"/>
            <a:ext cx="283464" cy="219456"/>
          </a:xfrm>
          <a:prstGeom prst="rect">
            <a:avLst/>
          </a:prstGeom>
          <a:noFill/>
          <a:effectLst/>
        </p:spPr>
        <p:txBody>
          <a:bodyPr wrap="square" lIns="0" rIns="0" tIns="0" bIns="0">
            <a:spAutoFit/>
          </a:bodyPr>
          <a:lstStyle/>
          <a:p>
            <a:pPr algn="ctr">
              <a:lnSpc>
                <a:spcPct val="113000"/>
              </a:lnSpc>
              <a:spcAft>
                <a:spcPts val="0"/>
              </a:spcAft>
              <a:defRPr sz="1100" b="1">
                <a:solidFill>
                  <a:srgbClr val="FFFFFF"/>
                </a:solidFill>
                <a:latin typeface="Noto Sans"/>
              </a:defRPr>
            </a:pPr>
            <a:r>
              <a:rPr>
                <a:ea typeface="Noto Sans CJK SC"/>
              </a:rPr>
              <a:t>2</a:t>
            </a:r>
          </a:p>
        </p:txBody>
      </p:sp>
      <p:sp>
        <p:nvSpPr>
          <p:cNvPr id="40" name="TextBox 39"/>
          <p:cNvSpPr txBox="1"/>
          <p:nvPr/>
        </p:nvSpPr>
        <p:spPr>
          <a:xfrm>
            <a:off x="6684264" y="3355848"/>
            <a:ext cx="4800600" cy="228600"/>
          </a:xfrm>
          <a:prstGeom prst="rect">
            <a:avLst/>
          </a:prstGeom>
          <a:noFill/>
          <a:effectLst/>
        </p:spPr>
        <p:txBody>
          <a:bodyPr wrap="square" lIns="0" rIns="0" tIns="0" bIns="0">
            <a:spAutoFit/>
          </a:bodyPr>
          <a:lstStyle/>
          <a:p>
            <a:pPr>
              <a:lnSpc>
                <a:spcPct val="113000"/>
              </a:lnSpc>
              <a:spcAft>
                <a:spcPts val="0"/>
              </a:spcAft>
              <a:defRPr sz="1100" b="1">
                <a:solidFill>
                  <a:srgbClr val="7A202C"/>
                </a:solidFill>
                <a:latin typeface="Noto Sans"/>
              </a:defRPr>
            </a:pPr>
            <a:r>
              <a:rPr>
                <a:ea typeface="Noto Sans CJK SC"/>
              </a:rPr>
              <a:t>Subletting may be permitted</a:t>
            </a:r>
          </a:p>
        </p:txBody>
      </p:sp>
      <p:sp>
        <p:nvSpPr>
          <p:cNvPr id="41" name="TextBox 40"/>
          <p:cNvSpPr txBox="1"/>
          <p:nvPr/>
        </p:nvSpPr>
        <p:spPr>
          <a:xfrm>
            <a:off x="6684264" y="3584448"/>
            <a:ext cx="4818888" cy="429768"/>
          </a:xfrm>
          <a:prstGeom prst="rect">
            <a:avLst/>
          </a:prstGeom>
          <a:noFill/>
          <a:effectLst/>
        </p:spPr>
        <p:txBody>
          <a:bodyPr wrap="square" lIns="0" rIns="0" tIns="0" bIns="0">
            <a:spAutoFit/>
          </a:bodyPr>
          <a:lstStyle/>
          <a:p>
            <a:pPr>
              <a:lnSpc>
                <a:spcPct val="113000"/>
              </a:lnSpc>
              <a:spcAft>
                <a:spcPts val="0"/>
              </a:spcAft>
              <a:defRPr sz="1200" b="0">
                <a:solidFill>
                  <a:srgbClr val="1E191C"/>
                </a:solidFill>
                <a:latin typeface="Noto Sans"/>
              </a:defRPr>
            </a:pPr>
            <a:r>
              <a:rPr>
                <a:ea typeface="Noto Sans CJK SC"/>
              </a:rPr>
              <a:t>The tenancy agreement may allow subletting, or consent may have been implied.</a:t>
            </a:r>
          </a:p>
        </p:txBody>
      </p:sp>
      <p:cxnSp>
        <p:nvCxnSpPr>
          <p:cNvPr id="42" name="Connector 41"/>
          <p:cNvCxnSpPr/>
          <p:nvPr/>
        </p:nvCxnSpPr>
        <p:spPr>
          <a:xfrm>
            <a:off x="6684264" y="3968496"/>
            <a:ext cx="4828032" cy="0"/>
          </a:xfrm>
          <a:prstGeom prst="line">
            <a:avLst/>
          </a:prstGeom>
          <a:ln w="6985">
            <a:solidFill>
              <a:srgbClr val="EADDE0"/>
            </a:solidFill>
          </a:ln>
          <a:effectLst/>
        </p:spPr>
        <p:style>
          <a:lnRef idx="2">
            <a:schemeClr val="accent1"/>
          </a:lnRef>
          <a:fillRef idx="0">
            <a:schemeClr val="accent1"/>
          </a:fillRef>
          <a:effectRef idx="0">
            <a:schemeClr val="accent1"/>
          </a:effectRef>
          <a:fontRef idx="minor">
            <a:schemeClr val="tx1"/>
          </a:fontRef>
        </p:style>
      </p:cxnSp>
      <p:sp>
        <p:nvSpPr>
          <p:cNvPr id="43" name="Oval 42"/>
          <p:cNvSpPr/>
          <p:nvPr/>
        </p:nvSpPr>
        <p:spPr>
          <a:xfrm>
            <a:off x="6272784" y="4037076"/>
            <a:ext cx="283464" cy="283464"/>
          </a:xfrm>
          <a:prstGeom prst="ellipse">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6272784" y="4060850"/>
            <a:ext cx="283464" cy="219456"/>
          </a:xfrm>
          <a:prstGeom prst="rect">
            <a:avLst/>
          </a:prstGeom>
          <a:noFill/>
          <a:effectLst/>
        </p:spPr>
        <p:txBody>
          <a:bodyPr wrap="square" lIns="0" rIns="0" tIns="0" bIns="0">
            <a:spAutoFit/>
          </a:bodyPr>
          <a:lstStyle/>
          <a:p>
            <a:pPr algn="ctr">
              <a:lnSpc>
                <a:spcPct val="113000"/>
              </a:lnSpc>
              <a:spcAft>
                <a:spcPts val="0"/>
              </a:spcAft>
              <a:defRPr sz="1100" b="1">
                <a:solidFill>
                  <a:srgbClr val="FFFFFF"/>
                </a:solidFill>
                <a:latin typeface="Noto Sans"/>
              </a:defRPr>
            </a:pPr>
            <a:r>
              <a:rPr>
                <a:ea typeface="Noto Sans CJK SC"/>
              </a:rPr>
              <a:t>3</a:t>
            </a:r>
          </a:p>
        </p:txBody>
      </p:sp>
      <p:sp>
        <p:nvSpPr>
          <p:cNvPr id="45" name="TextBox 44"/>
          <p:cNvSpPr txBox="1"/>
          <p:nvPr/>
        </p:nvSpPr>
        <p:spPr>
          <a:xfrm>
            <a:off x="6684264" y="4023360"/>
            <a:ext cx="4800600" cy="228600"/>
          </a:xfrm>
          <a:prstGeom prst="rect">
            <a:avLst/>
          </a:prstGeom>
          <a:noFill/>
          <a:effectLst/>
        </p:spPr>
        <p:txBody>
          <a:bodyPr wrap="square" lIns="0" rIns="0" tIns="0" bIns="0">
            <a:spAutoFit/>
          </a:bodyPr>
          <a:lstStyle/>
          <a:p>
            <a:pPr>
              <a:lnSpc>
                <a:spcPct val="113000"/>
              </a:lnSpc>
              <a:spcAft>
                <a:spcPts val="0"/>
              </a:spcAft>
              <a:defRPr sz="1100" b="1">
                <a:solidFill>
                  <a:srgbClr val="7A202C"/>
                </a:solidFill>
                <a:latin typeface="Noto Sans"/>
              </a:defRPr>
            </a:pPr>
            <a:r>
              <a:rPr>
                <a:ea typeface="Noto Sans CJK SC"/>
              </a:rPr>
              <a:t>Procedural requirements</a:t>
            </a:r>
          </a:p>
        </p:txBody>
      </p:sp>
      <p:sp>
        <p:nvSpPr>
          <p:cNvPr id="46" name="TextBox 45"/>
          <p:cNvSpPr txBox="1"/>
          <p:nvPr/>
        </p:nvSpPr>
        <p:spPr>
          <a:xfrm>
            <a:off x="6684264" y="4251960"/>
            <a:ext cx="4818888" cy="429768"/>
          </a:xfrm>
          <a:prstGeom prst="rect">
            <a:avLst/>
          </a:prstGeom>
          <a:noFill/>
          <a:effectLst/>
        </p:spPr>
        <p:txBody>
          <a:bodyPr wrap="square" lIns="0" rIns="0" tIns="0" bIns="0">
            <a:spAutoFit/>
          </a:bodyPr>
          <a:lstStyle/>
          <a:p>
            <a:pPr>
              <a:lnSpc>
                <a:spcPct val="113000"/>
              </a:lnSpc>
              <a:spcAft>
                <a:spcPts val="0"/>
              </a:spcAft>
              <a:defRPr sz="1200" b="0">
                <a:solidFill>
                  <a:srgbClr val="1E191C"/>
                </a:solidFill>
                <a:latin typeface="Noto Sans"/>
              </a:defRPr>
            </a:pPr>
            <a:r>
              <a:rPr>
                <a:ea typeface="Noto Sans CJK SC"/>
              </a:rPr>
              <a:t>Frederick must meet all statutory notice requirements; defective procedure invalidates forfeiture.</a:t>
            </a:r>
          </a:p>
        </p:txBody>
      </p:sp>
      <p:cxnSp>
        <p:nvCxnSpPr>
          <p:cNvPr id="47" name="Connector 46"/>
          <p:cNvCxnSpPr/>
          <p:nvPr/>
        </p:nvCxnSpPr>
        <p:spPr>
          <a:xfrm>
            <a:off x="6684264" y="4636008"/>
            <a:ext cx="4828032" cy="0"/>
          </a:xfrm>
          <a:prstGeom prst="line">
            <a:avLst/>
          </a:prstGeom>
          <a:ln w="6985">
            <a:solidFill>
              <a:srgbClr val="EADDE0"/>
            </a:solidFill>
          </a:ln>
          <a:effectLst/>
        </p:spPr>
        <p:style>
          <a:lnRef idx="2">
            <a:schemeClr val="accent1"/>
          </a:lnRef>
          <a:fillRef idx="0">
            <a:schemeClr val="accent1"/>
          </a:fillRef>
          <a:effectRef idx="0">
            <a:schemeClr val="accent1"/>
          </a:effectRef>
          <a:fontRef idx="minor">
            <a:schemeClr val="tx1"/>
          </a:fontRef>
        </p:style>
      </p:cxnSp>
      <p:sp>
        <p:nvSpPr>
          <p:cNvPr id="48" name="Oval 47"/>
          <p:cNvSpPr/>
          <p:nvPr/>
        </p:nvSpPr>
        <p:spPr>
          <a:xfrm>
            <a:off x="6272784" y="4704588"/>
            <a:ext cx="283464" cy="283464"/>
          </a:xfrm>
          <a:prstGeom prst="ellipse">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6272784" y="4728362"/>
            <a:ext cx="283464" cy="219456"/>
          </a:xfrm>
          <a:prstGeom prst="rect">
            <a:avLst/>
          </a:prstGeom>
          <a:noFill/>
          <a:effectLst/>
        </p:spPr>
        <p:txBody>
          <a:bodyPr wrap="square" lIns="0" rIns="0" tIns="0" bIns="0">
            <a:spAutoFit/>
          </a:bodyPr>
          <a:lstStyle/>
          <a:p>
            <a:pPr algn="ctr">
              <a:lnSpc>
                <a:spcPct val="113000"/>
              </a:lnSpc>
              <a:spcAft>
                <a:spcPts val="0"/>
              </a:spcAft>
              <a:defRPr sz="1100" b="1">
                <a:solidFill>
                  <a:srgbClr val="FFFFFF"/>
                </a:solidFill>
                <a:latin typeface="Noto Sans"/>
              </a:defRPr>
            </a:pPr>
            <a:r>
              <a:rPr>
                <a:ea typeface="Noto Sans CJK SC"/>
              </a:rPr>
              <a:t>4</a:t>
            </a:r>
          </a:p>
        </p:txBody>
      </p:sp>
      <p:sp>
        <p:nvSpPr>
          <p:cNvPr id="50" name="TextBox 49"/>
          <p:cNvSpPr txBox="1"/>
          <p:nvPr/>
        </p:nvSpPr>
        <p:spPr>
          <a:xfrm>
            <a:off x="6684264" y="4690872"/>
            <a:ext cx="4800600" cy="228600"/>
          </a:xfrm>
          <a:prstGeom prst="rect">
            <a:avLst/>
          </a:prstGeom>
          <a:noFill/>
          <a:effectLst/>
        </p:spPr>
        <p:txBody>
          <a:bodyPr wrap="square" lIns="0" rIns="0" tIns="0" bIns="0">
            <a:spAutoFit/>
          </a:bodyPr>
          <a:lstStyle/>
          <a:p>
            <a:pPr>
              <a:lnSpc>
                <a:spcPct val="113000"/>
              </a:lnSpc>
              <a:spcAft>
                <a:spcPts val="0"/>
              </a:spcAft>
              <a:defRPr sz="1100" b="1">
                <a:solidFill>
                  <a:srgbClr val="7A202C"/>
                </a:solidFill>
                <a:latin typeface="Noto Sans"/>
              </a:defRPr>
            </a:pPr>
            <a:r>
              <a:rPr>
                <a:ea typeface="Noto Sans CJK SC"/>
              </a:rPr>
              <a:t>Renewal right</a:t>
            </a:r>
          </a:p>
        </p:txBody>
      </p:sp>
      <p:sp>
        <p:nvSpPr>
          <p:cNvPr id="51" name="TextBox 50"/>
          <p:cNvSpPr txBox="1"/>
          <p:nvPr/>
        </p:nvSpPr>
        <p:spPr>
          <a:xfrm>
            <a:off x="6684264" y="4919472"/>
            <a:ext cx="4818888" cy="429768"/>
          </a:xfrm>
          <a:prstGeom prst="rect">
            <a:avLst/>
          </a:prstGeom>
          <a:noFill/>
          <a:effectLst/>
        </p:spPr>
        <p:txBody>
          <a:bodyPr wrap="square" lIns="0" rIns="0" tIns="0" bIns="0">
            <a:spAutoFit/>
          </a:bodyPr>
          <a:lstStyle/>
          <a:p>
            <a:pPr>
              <a:lnSpc>
                <a:spcPct val="113000"/>
              </a:lnSpc>
              <a:spcAft>
                <a:spcPts val="0"/>
              </a:spcAft>
              <a:defRPr sz="1200" b="0">
                <a:solidFill>
                  <a:srgbClr val="1E191C"/>
                </a:solidFill>
                <a:latin typeface="Noto Sans"/>
              </a:defRPr>
            </a:pPr>
            <a:r>
              <a:rPr>
                <a:ea typeface="Noto Sans CJK SC"/>
              </a:rPr>
              <a:t>A renewal provision, or a valid way to determine fair new rent, may support enforcement of renewal.</a:t>
            </a:r>
          </a:p>
        </p:txBody>
      </p:sp>
      <p:sp>
        <p:nvSpPr>
          <p:cNvPr id="52" name="Rectangle 51"/>
          <p:cNvSpPr/>
          <p:nvPr/>
        </p:nvSpPr>
        <p:spPr>
          <a:xfrm>
            <a:off x="612648" y="5495544"/>
            <a:ext cx="10972800" cy="777240"/>
          </a:xfrm>
          <a:prstGeom prst="rect">
            <a:avLst/>
          </a:prstGeom>
          <a:solidFill>
            <a:srgbClr val="F8F0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804672" y="5650992"/>
            <a:ext cx="1618488" cy="502920"/>
          </a:xfrm>
          <a:prstGeom prst="rect">
            <a:avLst/>
          </a:prstGeom>
          <a:noFill/>
          <a:effectLst/>
        </p:spPr>
        <p:txBody>
          <a:bodyPr wrap="square" lIns="0" rIns="0" tIns="0" bIns="0">
            <a:spAutoFit/>
          </a:bodyPr>
          <a:lstStyle/>
          <a:p>
            <a:pPr>
              <a:lnSpc>
                <a:spcPct val="113000"/>
              </a:lnSpc>
              <a:spcAft>
                <a:spcPts val="0"/>
              </a:spcAft>
              <a:defRPr sz="1000" b="1">
                <a:solidFill>
                  <a:srgbClr val="7A202C"/>
                </a:solidFill>
                <a:latin typeface="Noto Sans"/>
              </a:defRPr>
            </a:pPr>
            <a:r>
              <a:rPr>
                <a:ea typeface="Noto Sans CJK SC"/>
              </a:rPr>
              <a:t>CONDITIONAL</a:t>
            </a:r>
          </a:p>
          <a:p>
            <a:pPr>
              <a:lnSpc>
                <a:spcPct val="113000"/>
              </a:lnSpc>
              <a:spcAft>
                <a:spcPts val="0"/>
              </a:spcAft>
              <a:defRPr sz="1000" b="1">
                <a:solidFill>
                  <a:srgbClr val="7A202C"/>
                </a:solidFill>
                <a:latin typeface="Noto Sans"/>
              </a:defRPr>
            </a:pPr>
            <a:r>
              <a:rPr>
                <a:ea typeface="Noto Sans CJK SC"/>
              </a:rPr>
              <a:t>CONCLUSIONS</a:t>
            </a:r>
          </a:p>
        </p:txBody>
      </p:sp>
      <p:cxnSp>
        <p:nvCxnSpPr>
          <p:cNvPr id="54" name="Connector 53"/>
          <p:cNvCxnSpPr/>
          <p:nvPr/>
        </p:nvCxnSpPr>
        <p:spPr>
          <a:xfrm>
            <a:off x="2560320" y="5614416"/>
            <a:ext cx="0" cy="530352"/>
          </a:xfrm>
          <a:prstGeom prst="line">
            <a:avLst/>
          </a:prstGeom>
          <a:ln w="9525">
            <a:solidFill>
              <a:srgbClr val="D4A59A"/>
            </a:solidFill>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2743200" y="5650992"/>
            <a:ext cx="4078224" cy="630936"/>
          </a:xfrm>
          <a:prstGeom prst="rect">
            <a:avLst/>
          </a:prstGeom>
          <a:noFill/>
          <a:effectLst/>
        </p:spPr>
        <p:txBody>
          <a:bodyPr wrap="square" lIns="0" rIns="0" tIns="0" bIns="0">
            <a:spAutoFit/>
          </a:bodyPr>
          <a:lstStyle/>
          <a:p>
            <a:pPr>
              <a:lnSpc>
                <a:spcPct val="113000"/>
              </a:lnSpc>
              <a:spcAft>
                <a:spcPts val="0"/>
              </a:spcAft>
              <a:defRPr sz="1150" b="0">
                <a:solidFill>
                  <a:srgbClr val="1E191C"/>
                </a:solidFill>
                <a:latin typeface="Noto Sans"/>
              </a:defRPr>
            </a:pPr>
            <a:r>
              <a:rPr sz="1100">
                <a:ea typeface="Noto Sans CJK SC"/>
              </a:rPr>
              <a:t>(a) Recovery requires a proven breach and strict compliance with contractual and statutory forfeiture requirements.</a:t>
            </a:r>
          </a:p>
        </p:txBody>
      </p:sp>
      <p:sp>
        <p:nvSpPr>
          <p:cNvPr id="56" name="TextBox 55"/>
          <p:cNvSpPr txBox="1"/>
          <p:nvPr/>
        </p:nvSpPr>
        <p:spPr>
          <a:xfrm>
            <a:off x="7104888" y="5650992"/>
            <a:ext cx="4206240" cy="521207"/>
          </a:xfrm>
          <a:prstGeom prst="rect">
            <a:avLst/>
          </a:prstGeom>
          <a:noFill/>
          <a:effectLst/>
        </p:spPr>
        <p:txBody>
          <a:bodyPr wrap="square" lIns="0" rIns="0" tIns="0" bIns="0">
            <a:spAutoFit/>
          </a:bodyPr>
          <a:lstStyle/>
          <a:p>
            <a:pPr>
              <a:lnSpc>
                <a:spcPct val="113000"/>
              </a:lnSpc>
              <a:spcAft>
                <a:spcPts val="0"/>
              </a:spcAft>
              <a:defRPr sz="1150" b="0">
                <a:solidFill>
                  <a:srgbClr val="1E191C"/>
                </a:solidFill>
                <a:latin typeface="Noto Sans"/>
              </a:defRPr>
            </a:pPr>
            <a:r>
              <a:rPr>
                <a:ea typeface="Noto Sans CJK SC"/>
              </a:rPr>
              <a:t>(b) Renewal turns on whether new rent can be validly determined; the noise complaint is not decisive.</a:t>
            </a:r>
          </a:p>
        </p:txBody>
      </p:sp>
      <p:cxnSp>
        <p:nvCxnSpPr>
          <p:cNvPr id="57" name="Connector 56"/>
          <p:cNvCxnSpPr/>
          <p:nvPr/>
        </p:nvCxnSpPr>
        <p:spPr>
          <a:xfrm>
            <a:off x="612648" y="6473952"/>
            <a:ext cx="10972800" cy="0"/>
          </a:xfrm>
          <a:prstGeom prst="line">
            <a:avLst/>
          </a:prstGeom>
          <a:ln w="7620">
            <a:solidFill>
              <a:srgbClr val="E6CDD0"/>
            </a:solidFill>
          </a:ln>
          <a:effectLst/>
        </p:spPr>
        <p:style>
          <a:lnRef idx="2">
            <a:schemeClr val="accent1"/>
          </a:lnRef>
          <a:fillRef idx="0">
            <a:schemeClr val="accent1"/>
          </a:fillRef>
          <a:effectRef idx="0">
            <a:schemeClr val="accent1"/>
          </a:effectRef>
          <a:fontRef idx="minor">
            <a:schemeClr val="tx1"/>
          </a:fontRef>
        </p:style>
      </p:cxnSp>
      <p:sp>
        <p:nvSpPr>
          <p:cNvPr id="58" name="TextBox 57"/>
          <p:cNvSpPr txBox="1"/>
          <p:nvPr/>
        </p:nvSpPr>
        <p:spPr>
          <a:xfrm>
            <a:off x="612648" y="6574536"/>
            <a:ext cx="9601200" cy="182880"/>
          </a:xfrm>
          <a:prstGeom prst="rect">
            <a:avLst/>
          </a:prstGeom>
          <a:noFill/>
          <a:effectLst/>
        </p:spPr>
        <p:txBody>
          <a:bodyPr wrap="square" lIns="0" rIns="0" tIns="0" bIns="0">
            <a:spAutoFit/>
          </a:bodyPr>
          <a:lstStyle/>
          <a:p>
            <a:pPr>
              <a:lnSpc>
                <a:spcPct val="113000"/>
              </a:lnSpc>
              <a:spcAft>
                <a:spcPts val="0"/>
              </a:spcAft>
              <a:defRPr sz="800" b="0">
                <a:solidFill>
                  <a:srgbClr val="5A5A5A"/>
                </a:solidFill>
                <a:latin typeface="Noto Sans"/>
              </a:defRPr>
            </a:pPr>
            <a:r>
              <a:rPr>
                <a:ea typeface="Noto Sans CJK SC"/>
              </a:rPr>
              <a:t>Member 1 — Arguments &amp; Conditional Conclusions  |  Final analysis by Member 10</a:t>
            </a:r>
          </a:p>
        </p:txBody>
      </p:sp>
      <p:sp>
        <p:nvSpPr>
          <p:cNvPr id="59" name="TextBox 58"/>
          <p:cNvSpPr txBox="1"/>
          <p:nvPr/>
        </p:nvSpPr>
        <p:spPr>
          <a:xfrm>
            <a:off x="10972800" y="6547104"/>
            <a:ext cx="594360" cy="228600"/>
          </a:xfrm>
          <a:prstGeom prst="rect">
            <a:avLst/>
          </a:prstGeom>
          <a:noFill/>
          <a:effectLst/>
        </p:spPr>
        <p:txBody>
          <a:bodyPr wrap="square" lIns="0" rIns="0" tIns="0" bIns="0">
            <a:spAutoFit/>
          </a:bodyPr>
          <a:lstStyle/>
          <a:p>
            <a:pPr algn="r">
              <a:lnSpc>
                <a:spcPct val="113000"/>
              </a:lnSpc>
              <a:spcAft>
                <a:spcPts val="0"/>
              </a:spcAft>
              <a:defRPr sz="1000" b="0">
                <a:solidFill>
                  <a:srgbClr val="7A202C"/>
                </a:solidFill>
                <a:latin typeface="Noto Sans"/>
              </a:defRPr>
            </a:pPr>
            <a:r>
              <a:rPr>
                <a:ea typeface="Noto Sans CJK SC"/>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621792" y="6437376"/>
            <a:ext cx="10945368"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630936" y="6556248"/>
            <a:ext cx="5486400" cy="237744"/>
          </a:xfrm>
          <a:prstGeom prst="rect">
            <a:avLst/>
          </a:prstGeom>
          <a:noFill/>
          <a:effectLst/>
        </p:spPr>
        <p:txBody>
          <a:bodyPr wrap="square" lIns="0" rIns="0" tIns="0" bIns="0">
            <a:spAutoFit/>
          </a:bodyPr>
          <a:lstStyle/>
          <a:p>
            <a:pPr>
              <a:lnSpc>
                <a:spcPct val="113000"/>
              </a:lnSpc>
              <a:spcAft>
                <a:spcPts val="0"/>
              </a:spcAft>
              <a:defRPr sz="800" b="1">
                <a:solidFill>
                  <a:srgbClr val="666064"/>
                </a:solidFill>
                <a:latin typeface="Noto Sans"/>
              </a:defRPr>
            </a:pPr>
            <a:r>
              <a:rPr>
                <a:ea typeface="Noto Sans CJK SC"/>
              </a:rPr>
              <a:t>5957  /  TENANCY DISPUTE</a:t>
            </a:r>
          </a:p>
        </p:txBody>
      </p:sp>
      <p:sp>
        <p:nvSpPr>
          <p:cNvPr id="4" name="TextBox 3"/>
          <p:cNvSpPr txBox="1"/>
          <p:nvPr/>
        </p:nvSpPr>
        <p:spPr>
          <a:xfrm>
            <a:off x="10149840" y="6537960"/>
            <a:ext cx="1399032" cy="201168"/>
          </a:xfrm>
          <a:prstGeom prst="rect">
            <a:avLst/>
          </a:prstGeom>
          <a:noFill/>
          <a:effectLst/>
        </p:spPr>
        <p:txBody>
          <a:bodyPr wrap="square" lIns="0" rIns="0" tIns="0" bIns="0">
            <a:spAutoFit/>
          </a:bodyPr>
          <a:lstStyle/>
          <a:p>
            <a:pPr algn="r">
              <a:lnSpc>
                <a:spcPct val="113000"/>
              </a:lnSpc>
              <a:spcAft>
                <a:spcPts val="0"/>
              </a:spcAft>
              <a:defRPr sz="800" b="0">
                <a:solidFill>
                  <a:srgbClr val="666064"/>
                </a:solidFill>
                <a:latin typeface="Noto Sans"/>
              </a:defRPr>
            </a:pPr>
            <a:r>
              <a:rPr>
                <a:ea typeface="Noto Sans CJK SC"/>
              </a:rPr>
              <a:t>21  /  30</a:t>
            </a:r>
          </a:p>
        </p:txBody>
      </p:sp>
      <p:sp>
        <p:nvSpPr>
          <p:cNvPr id="5" name="TextBox 4"/>
          <p:cNvSpPr txBox="1"/>
          <p:nvPr/>
        </p:nvSpPr>
        <p:spPr>
          <a:xfrm>
            <a:off x="630936" y="347472"/>
            <a:ext cx="9144000" cy="237744"/>
          </a:xfrm>
          <a:prstGeom prst="rect">
            <a:avLst/>
          </a:prstGeom>
          <a:noFill/>
          <a:effectLst/>
        </p:spPr>
        <p:txBody>
          <a:bodyPr wrap="square" lIns="0" rIns="0" tIns="0" bIns="0">
            <a:spAutoFit/>
          </a:bodyPr>
          <a:lstStyle/>
          <a:p>
            <a:pPr>
              <a:lnSpc>
                <a:spcPct val="113000"/>
              </a:lnSpc>
              <a:spcAft>
                <a:spcPts val="0"/>
              </a:spcAft>
              <a:defRPr sz="900" b="1">
                <a:solidFill>
                  <a:srgbClr val="A34450"/>
                </a:solidFill>
                <a:latin typeface="Noto Sans"/>
              </a:defRPr>
            </a:pPr>
            <a:r>
              <a:rPr>
                <a:ea typeface="Noto Sans CJK SC"/>
              </a:rPr>
              <a:t>LANDLORD ARGUMENT BRIEF</a:t>
            </a:r>
          </a:p>
        </p:txBody>
      </p:sp>
      <p:sp>
        <p:nvSpPr>
          <p:cNvPr id="6" name="TextBox 5"/>
          <p:cNvSpPr txBox="1"/>
          <p:nvPr/>
        </p:nvSpPr>
        <p:spPr>
          <a:xfrm>
            <a:off x="603504" y="758952"/>
            <a:ext cx="10972800" cy="612648"/>
          </a:xfrm>
          <a:prstGeom prst="rect">
            <a:avLst/>
          </a:prstGeom>
          <a:noFill/>
          <a:effectLst/>
        </p:spPr>
        <p:txBody>
          <a:bodyPr wrap="square" lIns="0" rIns="0" tIns="0" bIns="0">
            <a:spAutoFit/>
          </a:bodyPr>
          <a:lstStyle/>
          <a:p>
            <a:pPr>
              <a:lnSpc>
                <a:spcPct val="113000"/>
              </a:lnSpc>
              <a:spcAft>
                <a:spcPts val="0"/>
              </a:spcAft>
              <a:defRPr sz="3000" b="0">
                <a:solidFill>
                  <a:srgbClr val="7A202C"/>
                </a:solidFill>
                <a:latin typeface="Noto Serif"/>
              </a:defRPr>
            </a:pPr>
            <a:r>
              <a:rPr>
                <a:ea typeface="Noto Sans CJK SC"/>
              </a:rPr>
              <a:t>Frederick’s position</a:t>
            </a:r>
          </a:p>
        </p:txBody>
      </p:sp>
      <p:cxnSp>
        <p:nvCxnSpPr>
          <p:cNvPr id="7" name="Connector 6"/>
          <p:cNvCxnSpPr/>
          <p:nvPr/>
        </p:nvCxnSpPr>
        <p:spPr>
          <a:xfrm>
            <a:off x="621792" y="1490472"/>
            <a:ext cx="10945368" cy="0"/>
          </a:xfrm>
          <a:prstGeom prst="line">
            <a:avLst/>
          </a:prstGeom>
          <a:ln w="10795">
            <a:solidFill>
              <a:srgbClr val="D4A59A"/>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630936" y="1645920"/>
            <a:ext cx="10927080" cy="512064"/>
          </a:xfrm>
          <a:prstGeom prst="rect">
            <a:avLst/>
          </a:prstGeom>
          <a:noFill/>
          <a:effectLst/>
        </p:spPr>
        <p:txBody>
          <a:bodyPr wrap="square" lIns="0" rIns="0" tIns="0" bIns="0">
            <a:spAutoFit/>
          </a:bodyPr>
          <a:lstStyle/>
          <a:p>
            <a:pPr>
              <a:lnSpc>
                <a:spcPct val="113000"/>
              </a:lnSpc>
              <a:spcAft>
                <a:spcPts val="0"/>
              </a:spcAft>
              <a:defRPr sz="1300" b="0">
                <a:solidFill>
                  <a:srgbClr val="666064"/>
                </a:solidFill>
                <a:latin typeface="Noto Sans"/>
              </a:defRPr>
            </a:pPr>
            <a:r>
              <a:rPr>
                <a:ea typeface="Noto Sans CJK SC"/>
              </a:rPr>
              <a:t>Objective: recover possession before the fixed term expires.</a:t>
            </a:r>
          </a:p>
        </p:txBody>
      </p:sp>
      <p:sp>
        <p:nvSpPr>
          <p:cNvPr id="9" name="Rectangle 8"/>
          <p:cNvSpPr/>
          <p:nvPr/>
        </p:nvSpPr>
        <p:spPr>
          <a:xfrm>
            <a:off x="630936" y="2231136"/>
            <a:ext cx="2971800" cy="3822191"/>
          </a:xfrm>
          <a:prstGeom prst="rect">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86968" y="2551176"/>
            <a:ext cx="2459736" cy="237744"/>
          </a:xfrm>
          <a:prstGeom prst="rect">
            <a:avLst/>
          </a:prstGeom>
          <a:noFill/>
          <a:effectLst/>
        </p:spPr>
        <p:txBody>
          <a:bodyPr wrap="square" lIns="0" rIns="0" tIns="0" bIns="0">
            <a:spAutoFit/>
          </a:bodyPr>
          <a:lstStyle/>
          <a:p>
            <a:pPr>
              <a:lnSpc>
                <a:spcPct val="113000"/>
              </a:lnSpc>
              <a:spcAft>
                <a:spcPts val="0"/>
              </a:spcAft>
              <a:defRPr sz="1000" b="1">
                <a:solidFill>
                  <a:srgbClr val="E6BEC5"/>
                </a:solidFill>
                <a:latin typeface="Noto Sans"/>
              </a:defRPr>
            </a:pPr>
            <a:r>
              <a:rPr>
                <a:ea typeface="Noto Sans CJK SC"/>
              </a:rPr>
              <a:t>LANDLORD</a:t>
            </a:r>
          </a:p>
        </p:txBody>
      </p:sp>
      <p:sp>
        <p:nvSpPr>
          <p:cNvPr id="11" name="TextBox 10"/>
          <p:cNvSpPr txBox="1"/>
          <p:nvPr/>
        </p:nvSpPr>
        <p:spPr>
          <a:xfrm>
            <a:off x="868680" y="3108960"/>
            <a:ext cx="2468880" cy="1197864"/>
          </a:xfrm>
          <a:prstGeom prst="rect">
            <a:avLst/>
          </a:prstGeom>
          <a:noFill/>
          <a:effectLst/>
        </p:spPr>
        <p:txBody>
          <a:bodyPr wrap="square" lIns="0" rIns="0" tIns="0" bIns="0">
            <a:spAutoFit/>
          </a:bodyPr>
          <a:lstStyle/>
          <a:p>
            <a:pPr>
              <a:lnSpc>
                <a:spcPct val="113000"/>
              </a:lnSpc>
              <a:spcAft>
                <a:spcPts val="0"/>
              </a:spcAft>
              <a:defRPr sz="2900" b="0">
                <a:solidFill>
                  <a:srgbClr val="FFFFFF"/>
                </a:solidFill>
                <a:latin typeface="Noto Serif"/>
              </a:defRPr>
            </a:pPr>
            <a:r>
              <a:rPr>
                <a:ea typeface="Noto Sans CJK SC"/>
              </a:rPr>
              <a:t>Recovery</a:t>
            </a:r>
          </a:p>
          <a:p>
            <a:pPr>
              <a:lnSpc>
                <a:spcPct val="113000"/>
              </a:lnSpc>
              <a:spcAft>
                <a:spcPts val="0"/>
              </a:spcAft>
              <a:defRPr sz="2900" b="0">
                <a:solidFill>
                  <a:srgbClr val="FFFFFF"/>
                </a:solidFill>
                <a:latin typeface="Noto Serif"/>
              </a:defRPr>
            </a:pPr>
            <a:r>
              <a:rPr>
                <a:ea typeface="Noto Sans CJK SC"/>
              </a:rPr>
              <a:t>of possession</a:t>
            </a:r>
          </a:p>
        </p:txBody>
      </p:sp>
      <p:sp>
        <p:nvSpPr>
          <p:cNvPr id="12" name="TextBox 11"/>
          <p:cNvSpPr txBox="1"/>
          <p:nvPr/>
        </p:nvSpPr>
        <p:spPr>
          <a:xfrm>
            <a:off x="905256" y="4773168"/>
            <a:ext cx="2368296" cy="886968"/>
          </a:xfrm>
          <a:prstGeom prst="rect">
            <a:avLst/>
          </a:prstGeom>
          <a:noFill/>
          <a:effectLst/>
        </p:spPr>
        <p:txBody>
          <a:bodyPr wrap="square" lIns="0" rIns="0" tIns="0" bIns="0">
            <a:spAutoFit/>
          </a:bodyPr>
          <a:lstStyle/>
          <a:p>
            <a:pPr>
              <a:lnSpc>
                <a:spcPct val="113000"/>
              </a:lnSpc>
              <a:spcAft>
                <a:spcPts val="0"/>
              </a:spcAft>
              <a:defRPr sz="1600" b="0">
                <a:solidFill>
                  <a:srgbClr val="E9CDD2"/>
                </a:solidFill>
                <a:latin typeface="Noto Sans"/>
              </a:defRPr>
            </a:pPr>
            <a:r>
              <a:rPr>
                <a:ea typeface="Noto Sans CJK SC"/>
              </a:rPr>
              <a:t>Arguments remain</a:t>
            </a:r>
          </a:p>
          <a:p>
            <a:pPr>
              <a:lnSpc>
                <a:spcPct val="113000"/>
              </a:lnSpc>
              <a:spcAft>
                <a:spcPts val="0"/>
              </a:spcAft>
              <a:defRPr sz="1600" b="0">
                <a:solidFill>
                  <a:srgbClr val="E9CDD2"/>
                </a:solidFill>
                <a:latin typeface="Noto Sans"/>
              </a:defRPr>
            </a:pPr>
            <a:r>
              <a:rPr>
                <a:ea typeface="Noto Sans CJK SC"/>
              </a:rPr>
              <a:t>subject to proof</a:t>
            </a:r>
          </a:p>
          <a:p>
            <a:pPr>
              <a:lnSpc>
                <a:spcPct val="113000"/>
              </a:lnSpc>
              <a:spcAft>
                <a:spcPts val="0"/>
              </a:spcAft>
              <a:defRPr sz="1600" b="0">
                <a:solidFill>
                  <a:srgbClr val="E9CDD2"/>
                </a:solidFill>
                <a:latin typeface="Noto Sans"/>
              </a:defRPr>
            </a:pPr>
            <a:r>
              <a:rPr>
                <a:ea typeface="Noto Sans CJK SC"/>
              </a:rPr>
              <a:t>and procedure.</a:t>
            </a:r>
          </a:p>
        </p:txBody>
      </p:sp>
      <p:sp>
        <p:nvSpPr>
          <p:cNvPr id="13" name="TextBox 12"/>
          <p:cNvSpPr txBox="1"/>
          <p:nvPr/>
        </p:nvSpPr>
        <p:spPr>
          <a:xfrm>
            <a:off x="4114800" y="2231136"/>
            <a:ext cx="411480" cy="237744"/>
          </a:xfrm>
          <a:prstGeom prst="rect">
            <a:avLst/>
          </a:prstGeom>
          <a:noFill/>
          <a:effectLst/>
        </p:spPr>
        <p:txBody>
          <a:bodyPr wrap="square" lIns="0" rIns="0" tIns="0" bIns="0">
            <a:spAutoFit/>
          </a:bodyPr>
          <a:lstStyle/>
          <a:p>
            <a:pPr>
              <a:lnSpc>
                <a:spcPct val="113000"/>
              </a:lnSpc>
              <a:spcAft>
                <a:spcPts val="0"/>
              </a:spcAft>
              <a:defRPr sz="1000" b="1">
                <a:solidFill>
                  <a:srgbClr val="A34450"/>
                </a:solidFill>
                <a:latin typeface="Noto Sans"/>
              </a:defRPr>
            </a:pPr>
            <a:r>
              <a:rPr>
                <a:ea typeface="Noto Sans CJK SC"/>
              </a:rPr>
              <a:t>01</a:t>
            </a:r>
          </a:p>
        </p:txBody>
      </p:sp>
      <p:sp>
        <p:nvSpPr>
          <p:cNvPr id="14" name="TextBox 13"/>
          <p:cNvSpPr txBox="1"/>
          <p:nvPr/>
        </p:nvSpPr>
        <p:spPr>
          <a:xfrm>
            <a:off x="4626864" y="2203704"/>
            <a:ext cx="6894575" cy="329184"/>
          </a:xfrm>
          <a:prstGeom prst="rect">
            <a:avLst/>
          </a:prstGeom>
          <a:noFill/>
          <a:effectLst/>
        </p:spPr>
        <p:txBody>
          <a:bodyPr wrap="square" lIns="0" rIns="0" tIns="0" bIns="0">
            <a:spAutoFit/>
          </a:bodyPr>
          <a:lstStyle/>
          <a:p>
            <a:pPr>
              <a:lnSpc>
                <a:spcPct val="113000"/>
              </a:lnSpc>
              <a:spcAft>
                <a:spcPts val="0"/>
              </a:spcAft>
              <a:defRPr sz="1700" b="1">
                <a:solidFill>
                  <a:srgbClr val="7A202C"/>
                </a:solidFill>
                <a:latin typeface="Noto Sans"/>
              </a:defRPr>
            </a:pPr>
            <a:r>
              <a:rPr>
                <a:ea typeface="Noto Sans CJK SC"/>
              </a:rPr>
              <a:t>Subletting breach</a:t>
            </a:r>
          </a:p>
        </p:txBody>
      </p:sp>
      <p:sp>
        <p:nvSpPr>
          <p:cNvPr id="15" name="TextBox 14"/>
          <p:cNvSpPr txBox="1"/>
          <p:nvPr/>
        </p:nvSpPr>
        <p:spPr>
          <a:xfrm>
            <a:off x="4626864" y="2569464"/>
            <a:ext cx="6858000" cy="548640"/>
          </a:xfrm>
          <a:prstGeom prst="rect">
            <a:avLst/>
          </a:prstGeom>
          <a:noFill/>
          <a:effectLst/>
        </p:spPr>
        <p:txBody>
          <a:bodyPr wrap="square" lIns="0" rIns="0" tIns="0" bIns="0">
            <a:spAutoFit/>
          </a:bodyPr>
          <a:lstStyle/>
          <a:p>
            <a:pPr>
              <a:lnSpc>
                <a:spcPct val="113000"/>
              </a:lnSpc>
              <a:spcAft>
                <a:spcPts val="0"/>
              </a:spcAft>
              <a:defRPr sz="1600" b="0">
                <a:solidFill>
                  <a:srgbClr val="1E191C"/>
                </a:solidFill>
                <a:latin typeface="Noto Sans"/>
              </a:defRPr>
            </a:pPr>
            <a:r>
              <a:rPr>
                <a:ea typeface="Noto Sans CJK SC"/>
              </a:rPr>
              <a:t>Angela sublet to Charles without consent, potentially breaching the lease.</a:t>
            </a:r>
          </a:p>
        </p:txBody>
      </p:sp>
      <p:cxnSp>
        <p:nvCxnSpPr>
          <p:cNvPr id="16" name="Connector 15"/>
          <p:cNvCxnSpPr/>
          <p:nvPr/>
        </p:nvCxnSpPr>
        <p:spPr>
          <a:xfrm>
            <a:off x="4626864" y="3054096"/>
            <a:ext cx="6894576"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4114800" y="3172968"/>
            <a:ext cx="411480" cy="237744"/>
          </a:xfrm>
          <a:prstGeom prst="rect">
            <a:avLst/>
          </a:prstGeom>
          <a:noFill/>
          <a:effectLst/>
        </p:spPr>
        <p:txBody>
          <a:bodyPr wrap="square" lIns="0" rIns="0" tIns="0" bIns="0">
            <a:spAutoFit/>
          </a:bodyPr>
          <a:lstStyle/>
          <a:p>
            <a:pPr>
              <a:lnSpc>
                <a:spcPct val="113000"/>
              </a:lnSpc>
              <a:spcAft>
                <a:spcPts val="0"/>
              </a:spcAft>
              <a:defRPr sz="1000" b="1">
                <a:solidFill>
                  <a:srgbClr val="A34450"/>
                </a:solidFill>
                <a:latin typeface="Noto Sans"/>
              </a:defRPr>
            </a:pPr>
            <a:r>
              <a:rPr>
                <a:ea typeface="Noto Sans CJK SC"/>
              </a:rPr>
              <a:t>02</a:t>
            </a:r>
          </a:p>
        </p:txBody>
      </p:sp>
      <p:sp>
        <p:nvSpPr>
          <p:cNvPr id="18" name="TextBox 17"/>
          <p:cNvSpPr txBox="1"/>
          <p:nvPr/>
        </p:nvSpPr>
        <p:spPr>
          <a:xfrm>
            <a:off x="4626864" y="3145536"/>
            <a:ext cx="6894575" cy="329184"/>
          </a:xfrm>
          <a:prstGeom prst="rect">
            <a:avLst/>
          </a:prstGeom>
          <a:noFill/>
          <a:effectLst/>
        </p:spPr>
        <p:txBody>
          <a:bodyPr wrap="square" lIns="0" rIns="0" tIns="0" bIns="0">
            <a:spAutoFit/>
          </a:bodyPr>
          <a:lstStyle/>
          <a:p>
            <a:pPr>
              <a:lnSpc>
                <a:spcPct val="113000"/>
              </a:lnSpc>
              <a:spcAft>
                <a:spcPts val="0"/>
              </a:spcAft>
              <a:defRPr sz="1700" b="1">
                <a:solidFill>
                  <a:srgbClr val="7A202C"/>
                </a:solidFill>
                <a:latin typeface="Noto Sans"/>
              </a:defRPr>
            </a:pPr>
            <a:r>
              <a:rPr>
                <a:ea typeface="Noto Sans CJK SC"/>
              </a:rPr>
              <a:t>Noise nuisance</a:t>
            </a:r>
          </a:p>
        </p:txBody>
      </p:sp>
      <p:sp>
        <p:nvSpPr>
          <p:cNvPr id="19" name="TextBox 18"/>
          <p:cNvSpPr txBox="1"/>
          <p:nvPr/>
        </p:nvSpPr>
        <p:spPr>
          <a:xfrm>
            <a:off x="4626864" y="3511296"/>
            <a:ext cx="6858000" cy="548640"/>
          </a:xfrm>
          <a:prstGeom prst="rect">
            <a:avLst/>
          </a:prstGeom>
          <a:noFill/>
          <a:effectLst/>
        </p:spPr>
        <p:txBody>
          <a:bodyPr wrap="square" lIns="0" rIns="0" tIns="0" bIns="0">
            <a:spAutoFit/>
          </a:bodyPr>
          <a:lstStyle/>
          <a:p>
            <a:pPr>
              <a:lnSpc>
                <a:spcPct val="113000"/>
              </a:lnSpc>
              <a:spcAft>
                <a:spcPts val="0"/>
              </a:spcAft>
              <a:defRPr sz="1600" b="0">
                <a:solidFill>
                  <a:srgbClr val="1E191C"/>
                </a:solidFill>
                <a:latin typeface="Noto Sans"/>
              </a:defRPr>
            </a:pPr>
            <a:r>
              <a:rPr>
                <a:ea typeface="Noto Sans CJK SC"/>
              </a:rPr>
              <a:t>Late-night noise complaints may support an alleged covenant breach.</a:t>
            </a:r>
          </a:p>
        </p:txBody>
      </p:sp>
      <p:cxnSp>
        <p:nvCxnSpPr>
          <p:cNvPr id="20" name="Connector 19"/>
          <p:cNvCxnSpPr/>
          <p:nvPr/>
        </p:nvCxnSpPr>
        <p:spPr>
          <a:xfrm>
            <a:off x="4626864" y="3995928"/>
            <a:ext cx="6894576"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4114800" y="4114800"/>
            <a:ext cx="411480" cy="237744"/>
          </a:xfrm>
          <a:prstGeom prst="rect">
            <a:avLst/>
          </a:prstGeom>
          <a:noFill/>
          <a:effectLst/>
        </p:spPr>
        <p:txBody>
          <a:bodyPr wrap="square" lIns="0" rIns="0" tIns="0" bIns="0">
            <a:spAutoFit/>
          </a:bodyPr>
          <a:lstStyle/>
          <a:p>
            <a:pPr>
              <a:lnSpc>
                <a:spcPct val="113000"/>
              </a:lnSpc>
              <a:spcAft>
                <a:spcPts val="0"/>
              </a:spcAft>
              <a:defRPr sz="1000" b="1">
                <a:solidFill>
                  <a:srgbClr val="A34450"/>
                </a:solidFill>
                <a:latin typeface="Noto Sans"/>
              </a:defRPr>
            </a:pPr>
            <a:r>
              <a:rPr>
                <a:ea typeface="Noto Sans CJK SC"/>
              </a:rPr>
              <a:t>03</a:t>
            </a:r>
          </a:p>
        </p:txBody>
      </p:sp>
      <p:sp>
        <p:nvSpPr>
          <p:cNvPr id="22" name="TextBox 21"/>
          <p:cNvSpPr txBox="1"/>
          <p:nvPr/>
        </p:nvSpPr>
        <p:spPr>
          <a:xfrm>
            <a:off x="4626864" y="4087368"/>
            <a:ext cx="6894575" cy="329184"/>
          </a:xfrm>
          <a:prstGeom prst="rect">
            <a:avLst/>
          </a:prstGeom>
          <a:noFill/>
          <a:effectLst/>
        </p:spPr>
        <p:txBody>
          <a:bodyPr wrap="square" lIns="0" rIns="0" tIns="0" bIns="0">
            <a:spAutoFit/>
          </a:bodyPr>
          <a:lstStyle/>
          <a:p>
            <a:pPr>
              <a:lnSpc>
                <a:spcPct val="113000"/>
              </a:lnSpc>
              <a:spcAft>
                <a:spcPts val="0"/>
              </a:spcAft>
              <a:defRPr sz="1700" b="1">
                <a:solidFill>
                  <a:srgbClr val="7A202C"/>
                </a:solidFill>
                <a:latin typeface="Noto Sans"/>
              </a:defRPr>
            </a:pPr>
            <a:r>
              <a:rPr>
                <a:ea typeface="Noto Sans CJK SC"/>
              </a:rPr>
              <a:t>Forfeiture right</a:t>
            </a:r>
          </a:p>
        </p:txBody>
      </p:sp>
      <p:sp>
        <p:nvSpPr>
          <p:cNvPr id="23" name="TextBox 22"/>
          <p:cNvSpPr txBox="1"/>
          <p:nvPr/>
        </p:nvSpPr>
        <p:spPr>
          <a:xfrm>
            <a:off x="4626864" y="4453128"/>
            <a:ext cx="6858000" cy="548640"/>
          </a:xfrm>
          <a:prstGeom prst="rect">
            <a:avLst/>
          </a:prstGeom>
          <a:noFill/>
          <a:effectLst/>
        </p:spPr>
        <p:txBody>
          <a:bodyPr wrap="square" lIns="0" rIns="0" tIns="0" bIns="0">
            <a:spAutoFit/>
          </a:bodyPr>
          <a:lstStyle/>
          <a:p>
            <a:pPr>
              <a:lnSpc>
                <a:spcPct val="113000"/>
              </a:lnSpc>
              <a:spcAft>
                <a:spcPts val="0"/>
              </a:spcAft>
              <a:defRPr sz="1600" b="0">
                <a:solidFill>
                  <a:srgbClr val="1E191C"/>
                </a:solidFill>
                <a:latin typeface="Noto Sans"/>
              </a:defRPr>
            </a:pPr>
            <a:r>
              <a:rPr>
                <a:ea typeface="Noto Sans CJK SC"/>
              </a:rPr>
              <a:t>A forfeiture clause may permit early termination, subject to compliance.</a:t>
            </a:r>
          </a:p>
        </p:txBody>
      </p:sp>
      <p:cxnSp>
        <p:nvCxnSpPr>
          <p:cNvPr id="24" name="Connector 23"/>
          <p:cNvCxnSpPr/>
          <p:nvPr/>
        </p:nvCxnSpPr>
        <p:spPr>
          <a:xfrm>
            <a:off x="4626864" y="4937760"/>
            <a:ext cx="6894576"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4114800" y="5056632"/>
            <a:ext cx="411480" cy="237744"/>
          </a:xfrm>
          <a:prstGeom prst="rect">
            <a:avLst/>
          </a:prstGeom>
          <a:noFill/>
          <a:effectLst/>
        </p:spPr>
        <p:txBody>
          <a:bodyPr wrap="square" lIns="0" rIns="0" tIns="0" bIns="0">
            <a:spAutoFit/>
          </a:bodyPr>
          <a:lstStyle/>
          <a:p>
            <a:pPr>
              <a:lnSpc>
                <a:spcPct val="113000"/>
              </a:lnSpc>
              <a:spcAft>
                <a:spcPts val="0"/>
              </a:spcAft>
              <a:defRPr sz="1000" b="1">
                <a:solidFill>
                  <a:srgbClr val="A34450"/>
                </a:solidFill>
                <a:latin typeface="Noto Sans"/>
              </a:defRPr>
            </a:pPr>
            <a:r>
              <a:rPr>
                <a:ea typeface="Noto Sans CJK SC"/>
              </a:rPr>
              <a:t>04</a:t>
            </a:r>
          </a:p>
        </p:txBody>
      </p:sp>
      <p:sp>
        <p:nvSpPr>
          <p:cNvPr id="26" name="TextBox 25"/>
          <p:cNvSpPr txBox="1"/>
          <p:nvPr/>
        </p:nvSpPr>
        <p:spPr>
          <a:xfrm>
            <a:off x="4626864" y="5029200"/>
            <a:ext cx="6894575" cy="329184"/>
          </a:xfrm>
          <a:prstGeom prst="rect">
            <a:avLst/>
          </a:prstGeom>
          <a:noFill/>
          <a:effectLst/>
        </p:spPr>
        <p:txBody>
          <a:bodyPr wrap="square" lIns="0" rIns="0" tIns="0" bIns="0">
            <a:spAutoFit/>
          </a:bodyPr>
          <a:lstStyle/>
          <a:p>
            <a:pPr>
              <a:lnSpc>
                <a:spcPct val="113000"/>
              </a:lnSpc>
              <a:spcAft>
                <a:spcPts val="0"/>
              </a:spcAft>
              <a:defRPr sz="1700" b="1">
                <a:solidFill>
                  <a:srgbClr val="7A202C"/>
                </a:solidFill>
                <a:latin typeface="Noto Sans"/>
              </a:defRPr>
            </a:pPr>
            <a:r>
              <a:rPr>
                <a:ea typeface="Noto Sans CJK SC"/>
              </a:rPr>
              <a:t>Renewal negotiation</a:t>
            </a:r>
          </a:p>
        </p:txBody>
      </p:sp>
      <p:sp>
        <p:nvSpPr>
          <p:cNvPr id="27" name="TextBox 26"/>
          <p:cNvSpPr txBox="1"/>
          <p:nvPr/>
        </p:nvSpPr>
        <p:spPr>
          <a:xfrm>
            <a:off x="4626864" y="5394960"/>
            <a:ext cx="6858000" cy="548640"/>
          </a:xfrm>
          <a:prstGeom prst="rect">
            <a:avLst/>
          </a:prstGeom>
          <a:noFill/>
          <a:effectLst/>
        </p:spPr>
        <p:txBody>
          <a:bodyPr wrap="square" lIns="0" rIns="0" tIns="0" bIns="0">
            <a:spAutoFit/>
          </a:bodyPr>
          <a:lstStyle/>
          <a:p>
            <a:pPr>
              <a:lnSpc>
                <a:spcPct val="113000"/>
              </a:lnSpc>
              <a:spcAft>
                <a:spcPts val="0"/>
              </a:spcAft>
              <a:defRPr sz="1600" b="0">
                <a:solidFill>
                  <a:srgbClr val="1E191C"/>
                </a:solidFill>
                <a:latin typeface="Noto Sans"/>
              </a:defRPr>
            </a:pPr>
            <a:r>
              <a:rPr>
                <a:ea typeface="Noto Sans CJK SC"/>
              </a:rPr>
              <a:t>At expiry, Frederick need not renew on the same terms; rent is negotiable.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621792" y="6437376"/>
            <a:ext cx="10945368"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630936" y="6556248"/>
            <a:ext cx="5486400" cy="237744"/>
          </a:xfrm>
          <a:prstGeom prst="rect">
            <a:avLst/>
          </a:prstGeom>
          <a:noFill/>
          <a:effectLst/>
        </p:spPr>
        <p:txBody>
          <a:bodyPr wrap="square" lIns="0" rIns="0" tIns="0" bIns="0">
            <a:spAutoFit/>
          </a:bodyPr>
          <a:lstStyle/>
          <a:p>
            <a:pPr>
              <a:lnSpc>
                <a:spcPct val="113000"/>
              </a:lnSpc>
              <a:spcAft>
                <a:spcPts val="0"/>
              </a:spcAft>
              <a:defRPr sz="800" b="1">
                <a:solidFill>
                  <a:srgbClr val="666064"/>
                </a:solidFill>
                <a:latin typeface="Noto Sans"/>
              </a:defRPr>
            </a:pPr>
            <a:r>
              <a:rPr>
                <a:ea typeface="Noto Sans CJK SC"/>
              </a:rPr>
              <a:t>5957  /  TENANCY DISPUTE</a:t>
            </a:r>
          </a:p>
        </p:txBody>
      </p:sp>
      <p:sp>
        <p:nvSpPr>
          <p:cNvPr id="4" name="TextBox 3"/>
          <p:cNvSpPr txBox="1"/>
          <p:nvPr/>
        </p:nvSpPr>
        <p:spPr>
          <a:xfrm>
            <a:off x="10149840" y="6537960"/>
            <a:ext cx="1399032" cy="201168"/>
          </a:xfrm>
          <a:prstGeom prst="rect">
            <a:avLst/>
          </a:prstGeom>
          <a:noFill/>
          <a:effectLst/>
        </p:spPr>
        <p:txBody>
          <a:bodyPr wrap="square" lIns="0" rIns="0" tIns="0" bIns="0">
            <a:spAutoFit/>
          </a:bodyPr>
          <a:lstStyle/>
          <a:p>
            <a:pPr algn="r">
              <a:lnSpc>
                <a:spcPct val="113000"/>
              </a:lnSpc>
              <a:spcAft>
                <a:spcPts val="0"/>
              </a:spcAft>
              <a:defRPr sz="800" b="0">
                <a:solidFill>
                  <a:srgbClr val="666064"/>
                </a:solidFill>
                <a:latin typeface="Noto Sans"/>
              </a:defRPr>
            </a:pPr>
            <a:r>
              <a:rPr>
                <a:ea typeface="Noto Sans CJK SC"/>
              </a:rPr>
              <a:t>22  /  30</a:t>
            </a:r>
          </a:p>
        </p:txBody>
      </p:sp>
      <p:sp>
        <p:nvSpPr>
          <p:cNvPr id="5" name="TextBox 4"/>
          <p:cNvSpPr txBox="1"/>
          <p:nvPr/>
        </p:nvSpPr>
        <p:spPr>
          <a:xfrm>
            <a:off x="630936" y="347472"/>
            <a:ext cx="9144000" cy="237744"/>
          </a:xfrm>
          <a:prstGeom prst="rect">
            <a:avLst/>
          </a:prstGeom>
          <a:noFill/>
          <a:effectLst/>
        </p:spPr>
        <p:txBody>
          <a:bodyPr wrap="square" lIns="0" rIns="0" tIns="0" bIns="0">
            <a:spAutoFit/>
          </a:bodyPr>
          <a:lstStyle/>
          <a:p>
            <a:pPr>
              <a:lnSpc>
                <a:spcPct val="113000"/>
              </a:lnSpc>
              <a:spcAft>
                <a:spcPts val="0"/>
              </a:spcAft>
              <a:defRPr sz="900" b="1">
                <a:solidFill>
                  <a:srgbClr val="A34450"/>
                </a:solidFill>
                <a:latin typeface="Noto Sans"/>
              </a:defRPr>
            </a:pPr>
            <a:r>
              <a:rPr>
                <a:ea typeface="Noto Sans CJK SC"/>
              </a:rPr>
              <a:t>TENANT ARGUMENT BRIEF</a:t>
            </a:r>
          </a:p>
        </p:txBody>
      </p:sp>
      <p:sp>
        <p:nvSpPr>
          <p:cNvPr id="6" name="TextBox 5"/>
          <p:cNvSpPr txBox="1"/>
          <p:nvPr/>
        </p:nvSpPr>
        <p:spPr>
          <a:xfrm>
            <a:off x="603504" y="758952"/>
            <a:ext cx="10972800" cy="612648"/>
          </a:xfrm>
          <a:prstGeom prst="rect">
            <a:avLst/>
          </a:prstGeom>
          <a:noFill/>
          <a:effectLst/>
        </p:spPr>
        <p:txBody>
          <a:bodyPr wrap="square" lIns="0" rIns="0" tIns="0" bIns="0">
            <a:spAutoFit/>
          </a:bodyPr>
          <a:lstStyle/>
          <a:p>
            <a:pPr>
              <a:lnSpc>
                <a:spcPct val="113000"/>
              </a:lnSpc>
              <a:spcAft>
                <a:spcPts val="0"/>
              </a:spcAft>
              <a:defRPr sz="3000" b="0">
                <a:solidFill>
                  <a:srgbClr val="7A202C"/>
                </a:solidFill>
                <a:latin typeface="Noto Serif"/>
              </a:defRPr>
            </a:pPr>
            <a:r>
              <a:rPr>
                <a:ea typeface="Noto Sans CJK SC"/>
              </a:rPr>
              <a:t>Angela’s position</a:t>
            </a:r>
          </a:p>
        </p:txBody>
      </p:sp>
      <p:cxnSp>
        <p:nvCxnSpPr>
          <p:cNvPr id="7" name="Connector 6"/>
          <p:cNvCxnSpPr/>
          <p:nvPr/>
        </p:nvCxnSpPr>
        <p:spPr>
          <a:xfrm>
            <a:off x="621792" y="1490472"/>
            <a:ext cx="10945368" cy="0"/>
          </a:xfrm>
          <a:prstGeom prst="line">
            <a:avLst/>
          </a:prstGeom>
          <a:ln w="10795">
            <a:solidFill>
              <a:srgbClr val="D4A59A"/>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630936" y="1645920"/>
            <a:ext cx="10927080" cy="512064"/>
          </a:xfrm>
          <a:prstGeom prst="rect">
            <a:avLst/>
          </a:prstGeom>
          <a:noFill/>
          <a:effectLst/>
        </p:spPr>
        <p:txBody>
          <a:bodyPr wrap="square" lIns="0" rIns="0" tIns="0" bIns="0">
            <a:spAutoFit/>
          </a:bodyPr>
          <a:lstStyle/>
          <a:p>
            <a:pPr>
              <a:lnSpc>
                <a:spcPct val="113000"/>
              </a:lnSpc>
              <a:spcAft>
                <a:spcPts val="0"/>
              </a:spcAft>
              <a:defRPr sz="1300" b="0">
                <a:solidFill>
                  <a:srgbClr val="666064"/>
                </a:solidFill>
                <a:latin typeface="Noto Sans"/>
              </a:defRPr>
            </a:pPr>
            <a:r>
              <a:rPr>
                <a:ea typeface="Noto Sans CJK SC"/>
              </a:rPr>
              <a:t>Objective: remain in occupation or enforce a renewal.</a:t>
            </a:r>
          </a:p>
        </p:txBody>
      </p:sp>
      <p:sp>
        <p:nvSpPr>
          <p:cNvPr id="9" name="TextBox 8"/>
          <p:cNvSpPr txBox="1"/>
          <p:nvPr/>
        </p:nvSpPr>
        <p:spPr>
          <a:xfrm>
            <a:off x="667512" y="2249424"/>
            <a:ext cx="411480" cy="237744"/>
          </a:xfrm>
          <a:prstGeom prst="rect">
            <a:avLst/>
          </a:prstGeom>
          <a:noFill/>
          <a:effectLst/>
        </p:spPr>
        <p:txBody>
          <a:bodyPr wrap="square" lIns="0" rIns="0" tIns="0" bIns="0">
            <a:spAutoFit/>
          </a:bodyPr>
          <a:lstStyle/>
          <a:p>
            <a:pPr>
              <a:lnSpc>
                <a:spcPct val="113000"/>
              </a:lnSpc>
              <a:spcAft>
                <a:spcPts val="0"/>
              </a:spcAft>
              <a:defRPr sz="1000" b="1">
                <a:solidFill>
                  <a:srgbClr val="A34450"/>
                </a:solidFill>
                <a:latin typeface="Noto Sans"/>
              </a:defRPr>
            </a:pPr>
            <a:r>
              <a:rPr>
                <a:ea typeface="Noto Sans CJK SC"/>
              </a:rPr>
              <a:t>01</a:t>
            </a:r>
          </a:p>
        </p:txBody>
      </p:sp>
      <p:sp>
        <p:nvSpPr>
          <p:cNvPr id="10" name="TextBox 9"/>
          <p:cNvSpPr txBox="1"/>
          <p:nvPr/>
        </p:nvSpPr>
        <p:spPr>
          <a:xfrm>
            <a:off x="1179576" y="2221992"/>
            <a:ext cx="6858000" cy="329184"/>
          </a:xfrm>
          <a:prstGeom prst="rect">
            <a:avLst/>
          </a:prstGeom>
          <a:noFill/>
          <a:effectLst/>
        </p:spPr>
        <p:txBody>
          <a:bodyPr wrap="square" lIns="0" rIns="0" tIns="0" bIns="0">
            <a:spAutoFit/>
          </a:bodyPr>
          <a:lstStyle/>
          <a:p>
            <a:pPr>
              <a:lnSpc>
                <a:spcPct val="113000"/>
              </a:lnSpc>
              <a:spcAft>
                <a:spcPts val="0"/>
              </a:spcAft>
              <a:defRPr sz="1700" b="1">
                <a:solidFill>
                  <a:srgbClr val="7A202C"/>
                </a:solidFill>
                <a:latin typeface="Noto Sans"/>
              </a:defRPr>
            </a:pPr>
            <a:r>
              <a:rPr>
                <a:ea typeface="Noto Sans CJK SC"/>
              </a:rPr>
              <a:t>No proven breach</a:t>
            </a:r>
          </a:p>
        </p:txBody>
      </p:sp>
      <p:sp>
        <p:nvSpPr>
          <p:cNvPr id="11" name="TextBox 10"/>
          <p:cNvSpPr txBox="1"/>
          <p:nvPr/>
        </p:nvSpPr>
        <p:spPr>
          <a:xfrm>
            <a:off x="1179576" y="2587752"/>
            <a:ext cx="6821424" cy="548640"/>
          </a:xfrm>
          <a:prstGeom prst="rect">
            <a:avLst/>
          </a:prstGeom>
          <a:noFill/>
          <a:effectLst/>
        </p:spPr>
        <p:txBody>
          <a:bodyPr wrap="square" lIns="0" rIns="0" tIns="0" bIns="0">
            <a:spAutoFit/>
          </a:bodyPr>
          <a:lstStyle/>
          <a:p>
            <a:pPr>
              <a:lnSpc>
                <a:spcPct val="113000"/>
              </a:lnSpc>
              <a:spcAft>
                <a:spcPts val="0"/>
              </a:spcAft>
              <a:defRPr sz="1600" b="0">
                <a:solidFill>
                  <a:srgbClr val="1E191C"/>
                </a:solidFill>
                <a:latin typeface="Noto Sans"/>
              </a:defRPr>
            </a:pPr>
            <a:r>
              <a:rPr>
                <a:ea typeface="Noto Sans CJK SC"/>
              </a:rPr>
              <a:t>A complaint alone is not proof; alleged noise must be substantiated and material.</a:t>
            </a:r>
          </a:p>
        </p:txBody>
      </p:sp>
      <p:cxnSp>
        <p:nvCxnSpPr>
          <p:cNvPr id="12" name="Connector 11"/>
          <p:cNvCxnSpPr/>
          <p:nvPr/>
        </p:nvCxnSpPr>
        <p:spPr>
          <a:xfrm>
            <a:off x="1179576" y="3072384"/>
            <a:ext cx="6858000"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667512" y="3191256"/>
            <a:ext cx="411480" cy="237744"/>
          </a:xfrm>
          <a:prstGeom prst="rect">
            <a:avLst/>
          </a:prstGeom>
          <a:noFill/>
          <a:effectLst/>
        </p:spPr>
        <p:txBody>
          <a:bodyPr wrap="square" lIns="0" rIns="0" tIns="0" bIns="0">
            <a:spAutoFit/>
          </a:bodyPr>
          <a:lstStyle/>
          <a:p>
            <a:pPr>
              <a:lnSpc>
                <a:spcPct val="113000"/>
              </a:lnSpc>
              <a:spcAft>
                <a:spcPts val="0"/>
              </a:spcAft>
              <a:defRPr sz="1000" b="1">
                <a:solidFill>
                  <a:srgbClr val="A34450"/>
                </a:solidFill>
                <a:latin typeface="Noto Sans"/>
              </a:defRPr>
            </a:pPr>
            <a:r>
              <a:rPr>
                <a:ea typeface="Noto Sans CJK SC"/>
              </a:rPr>
              <a:t>02</a:t>
            </a:r>
          </a:p>
        </p:txBody>
      </p:sp>
      <p:sp>
        <p:nvSpPr>
          <p:cNvPr id="14" name="TextBox 13"/>
          <p:cNvSpPr txBox="1"/>
          <p:nvPr/>
        </p:nvSpPr>
        <p:spPr>
          <a:xfrm>
            <a:off x="1179576" y="3163824"/>
            <a:ext cx="6858000" cy="329184"/>
          </a:xfrm>
          <a:prstGeom prst="rect">
            <a:avLst/>
          </a:prstGeom>
          <a:noFill/>
          <a:effectLst/>
        </p:spPr>
        <p:txBody>
          <a:bodyPr wrap="square" lIns="0" rIns="0" tIns="0" bIns="0">
            <a:spAutoFit/>
          </a:bodyPr>
          <a:lstStyle/>
          <a:p>
            <a:pPr>
              <a:lnSpc>
                <a:spcPct val="113000"/>
              </a:lnSpc>
              <a:spcAft>
                <a:spcPts val="0"/>
              </a:spcAft>
              <a:defRPr sz="1700" b="1">
                <a:solidFill>
                  <a:srgbClr val="7A202C"/>
                </a:solidFill>
                <a:latin typeface="Noto Sans"/>
              </a:defRPr>
            </a:pPr>
            <a:r>
              <a:rPr>
                <a:ea typeface="Noto Sans CJK SC"/>
              </a:rPr>
              <a:t>Subletting may be permitted</a:t>
            </a:r>
          </a:p>
        </p:txBody>
      </p:sp>
      <p:sp>
        <p:nvSpPr>
          <p:cNvPr id="15" name="TextBox 14"/>
          <p:cNvSpPr txBox="1"/>
          <p:nvPr/>
        </p:nvSpPr>
        <p:spPr>
          <a:xfrm>
            <a:off x="1179576" y="3529584"/>
            <a:ext cx="6821424" cy="548640"/>
          </a:xfrm>
          <a:prstGeom prst="rect">
            <a:avLst/>
          </a:prstGeom>
          <a:noFill/>
          <a:effectLst/>
        </p:spPr>
        <p:txBody>
          <a:bodyPr wrap="square" lIns="0" rIns="0" tIns="0" bIns="0">
            <a:spAutoFit/>
          </a:bodyPr>
          <a:lstStyle/>
          <a:p>
            <a:pPr>
              <a:lnSpc>
                <a:spcPct val="113000"/>
              </a:lnSpc>
              <a:spcAft>
                <a:spcPts val="0"/>
              </a:spcAft>
              <a:defRPr sz="1600" b="0">
                <a:solidFill>
                  <a:srgbClr val="1E191C"/>
                </a:solidFill>
                <a:latin typeface="Noto Sans"/>
              </a:defRPr>
            </a:pPr>
            <a:r>
              <a:rPr>
                <a:ea typeface="Noto Sans CJK SC"/>
              </a:rPr>
              <a:t>The agreement may allow subletting, or consent may have been implied.</a:t>
            </a:r>
          </a:p>
        </p:txBody>
      </p:sp>
      <p:cxnSp>
        <p:nvCxnSpPr>
          <p:cNvPr id="16" name="Connector 15"/>
          <p:cNvCxnSpPr/>
          <p:nvPr/>
        </p:nvCxnSpPr>
        <p:spPr>
          <a:xfrm>
            <a:off x="1179576" y="4014216"/>
            <a:ext cx="6858000"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667512" y="4133088"/>
            <a:ext cx="411480" cy="237744"/>
          </a:xfrm>
          <a:prstGeom prst="rect">
            <a:avLst/>
          </a:prstGeom>
          <a:noFill/>
          <a:effectLst/>
        </p:spPr>
        <p:txBody>
          <a:bodyPr wrap="square" lIns="0" rIns="0" tIns="0" bIns="0">
            <a:spAutoFit/>
          </a:bodyPr>
          <a:lstStyle/>
          <a:p>
            <a:pPr>
              <a:lnSpc>
                <a:spcPct val="113000"/>
              </a:lnSpc>
              <a:spcAft>
                <a:spcPts val="0"/>
              </a:spcAft>
              <a:defRPr sz="1000" b="1">
                <a:solidFill>
                  <a:srgbClr val="A34450"/>
                </a:solidFill>
                <a:latin typeface="Noto Sans"/>
              </a:defRPr>
            </a:pPr>
            <a:r>
              <a:rPr>
                <a:ea typeface="Noto Sans CJK SC"/>
              </a:rPr>
              <a:t>03</a:t>
            </a:r>
          </a:p>
        </p:txBody>
      </p:sp>
      <p:sp>
        <p:nvSpPr>
          <p:cNvPr id="18" name="TextBox 17"/>
          <p:cNvSpPr txBox="1"/>
          <p:nvPr/>
        </p:nvSpPr>
        <p:spPr>
          <a:xfrm>
            <a:off x="1179576" y="4105656"/>
            <a:ext cx="6858000" cy="329184"/>
          </a:xfrm>
          <a:prstGeom prst="rect">
            <a:avLst/>
          </a:prstGeom>
          <a:noFill/>
          <a:effectLst/>
        </p:spPr>
        <p:txBody>
          <a:bodyPr wrap="square" lIns="0" rIns="0" tIns="0" bIns="0">
            <a:spAutoFit/>
          </a:bodyPr>
          <a:lstStyle/>
          <a:p>
            <a:pPr>
              <a:lnSpc>
                <a:spcPct val="113000"/>
              </a:lnSpc>
              <a:spcAft>
                <a:spcPts val="0"/>
              </a:spcAft>
              <a:defRPr sz="1700" b="1">
                <a:solidFill>
                  <a:srgbClr val="7A202C"/>
                </a:solidFill>
                <a:latin typeface="Noto Sans"/>
              </a:defRPr>
            </a:pPr>
            <a:r>
              <a:rPr>
                <a:ea typeface="Noto Sans CJK SC"/>
              </a:rPr>
              <a:t>Procedural requirements</a:t>
            </a:r>
          </a:p>
        </p:txBody>
      </p:sp>
      <p:sp>
        <p:nvSpPr>
          <p:cNvPr id="19" name="TextBox 18"/>
          <p:cNvSpPr txBox="1"/>
          <p:nvPr/>
        </p:nvSpPr>
        <p:spPr>
          <a:xfrm>
            <a:off x="1179576" y="4471416"/>
            <a:ext cx="6821424" cy="548640"/>
          </a:xfrm>
          <a:prstGeom prst="rect">
            <a:avLst/>
          </a:prstGeom>
          <a:noFill/>
          <a:effectLst/>
        </p:spPr>
        <p:txBody>
          <a:bodyPr wrap="square" lIns="0" rIns="0" tIns="0" bIns="0">
            <a:spAutoFit/>
          </a:bodyPr>
          <a:lstStyle/>
          <a:p>
            <a:pPr>
              <a:lnSpc>
                <a:spcPct val="113000"/>
              </a:lnSpc>
              <a:spcAft>
                <a:spcPts val="0"/>
              </a:spcAft>
              <a:defRPr sz="1600" b="0">
                <a:solidFill>
                  <a:srgbClr val="1E191C"/>
                </a:solidFill>
                <a:latin typeface="Noto Sans"/>
              </a:defRPr>
            </a:pPr>
            <a:r>
              <a:rPr>
                <a:ea typeface="Noto Sans CJK SC"/>
              </a:rPr>
              <a:t>Frederick must satisfy statutory notice requirements before forfeiture.</a:t>
            </a:r>
          </a:p>
        </p:txBody>
      </p:sp>
      <p:cxnSp>
        <p:nvCxnSpPr>
          <p:cNvPr id="20" name="Connector 19"/>
          <p:cNvCxnSpPr/>
          <p:nvPr/>
        </p:nvCxnSpPr>
        <p:spPr>
          <a:xfrm>
            <a:off x="1179576" y="4956048"/>
            <a:ext cx="6858000"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667512" y="5074920"/>
            <a:ext cx="411480" cy="237744"/>
          </a:xfrm>
          <a:prstGeom prst="rect">
            <a:avLst/>
          </a:prstGeom>
          <a:noFill/>
          <a:effectLst/>
        </p:spPr>
        <p:txBody>
          <a:bodyPr wrap="square" lIns="0" rIns="0" tIns="0" bIns="0">
            <a:spAutoFit/>
          </a:bodyPr>
          <a:lstStyle/>
          <a:p>
            <a:pPr>
              <a:lnSpc>
                <a:spcPct val="113000"/>
              </a:lnSpc>
              <a:spcAft>
                <a:spcPts val="0"/>
              </a:spcAft>
              <a:defRPr sz="1000" b="1">
                <a:solidFill>
                  <a:srgbClr val="A34450"/>
                </a:solidFill>
                <a:latin typeface="Noto Sans"/>
              </a:defRPr>
            </a:pPr>
            <a:r>
              <a:rPr>
                <a:ea typeface="Noto Sans CJK SC"/>
              </a:rPr>
              <a:t>04</a:t>
            </a:r>
          </a:p>
        </p:txBody>
      </p:sp>
      <p:sp>
        <p:nvSpPr>
          <p:cNvPr id="22" name="TextBox 21"/>
          <p:cNvSpPr txBox="1"/>
          <p:nvPr/>
        </p:nvSpPr>
        <p:spPr>
          <a:xfrm>
            <a:off x="1179576" y="5047488"/>
            <a:ext cx="6858000" cy="329184"/>
          </a:xfrm>
          <a:prstGeom prst="rect">
            <a:avLst/>
          </a:prstGeom>
          <a:noFill/>
          <a:effectLst/>
        </p:spPr>
        <p:txBody>
          <a:bodyPr wrap="square" lIns="0" rIns="0" tIns="0" bIns="0">
            <a:spAutoFit/>
          </a:bodyPr>
          <a:lstStyle/>
          <a:p>
            <a:pPr>
              <a:lnSpc>
                <a:spcPct val="113000"/>
              </a:lnSpc>
              <a:spcAft>
                <a:spcPts val="0"/>
              </a:spcAft>
              <a:defRPr sz="1700" b="1">
                <a:solidFill>
                  <a:srgbClr val="7A202C"/>
                </a:solidFill>
                <a:latin typeface="Noto Sans"/>
              </a:defRPr>
            </a:pPr>
            <a:r>
              <a:rPr>
                <a:ea typeface="Noto Sans CJK SC"/>
              </a:rPr>
              <a:t>Renewal right</a:t>
            </a:r>
          </a:p>
        </p:txBody>
      </p:sp>
      <p:sp>
        <p:nvSpPr>
          <p:cNvPr id="23" name="TextBox 22"/>
          <p:cNvSpPr txBox="1"/>
          <p:nvPr/>
        </p:nvSpPr>
        <p:spPr>
          <a:xfrm>
            <a:off x="1179576" y="5413248"/>
            <a:ext cx="6821424" cy="548640"/>
          </a:xfrm>
          <a:prstGeom prst="rect">
            <a:avLst/>
          </a:prstGeom>
          <a:noFill/>
          <a:effectLst/>
        </p:spPr>
        <p:txBody>
          <a:bodyPr wrap="square" lIns="0" rIns="0" tIns="0" bIns="0">
            <a:spAutoFit/>
          </a:bodyPr>
          <a:lstStyle/>
          <a:p>
            <a:pPr>
              <a:lnSpc>
                <a:spcPct val="113000"/>
              </a:lnSpc>
              <a:spcAft>
                <a:spcPts val="0"/>
              </a:spcAft>
              <a:defRPr sz="1600" b="0">
                <a:solidFill>
                  <a:srgbClr val="1E191C"/>
                </a:solidFill>
                <a:latin typeface="Noto Sans"/>
              </a:defRPr>
            </a:pPr>
            <a:r>
              <a:rPr>
                <a:ea typeface="Noto Sans CJK SC"/>
              </a:rPr>
              <a:t>A renewal provision or a valid rent mechanism may support enforcement.</a:t>
            </a:r>
          </a:p>
        </p:txBody>
      </p:sp>
      <p:sp>
        <p:nvSpPr>
          <p:cNvPr id="24" name="Rectangle 23"/>
          <p:cNvSpPr/>
          <p:nvPr/>
        </p:nvSpPr>
        <p:spPr>
          <a:xfrm>
            <a:off x="8586216" y="2231136"/>
            <a:ext cx="2980944" cy="3822191"/>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8842248" y="2551176"/>
            <a:ext cx="2468880" cy="237744"/>
          </a:xfrm>
          <a:prstGeom prst="rect">
            <a:avLst/>
          </a:prstGeom>
          <a:noFill/>
          <a:effectLst/>
        </p:spPr>
        <p:txBody>
          <a:bodyPr wrap="square" lIns="0" rIns="0" tIns="0" bIns="0">
            <a:spAutoFit/>
          </a:bodyPr>
          <a:lstStyle/>
          <a:p>
            <a:pPr>
              <a:lnSpc>
                <a:spcPct val="113000"/>
              </a:lnSpc>
              <a:spcAft>
                <a:spcPts val="0"/>
              </a:spcAft>
              <a:defRPr sz="1000" b="1">
                <a:solidFill>
                  <a:srgbClr val="A34450"/>
                </a:solidFill>
                <a:latin typeface="Noto Sans"/>
              </a:defRPr>
            </a:pPr>
            <a:r>
              <a:rPr>
                <a:ea typeface="Noto Sans CJK SC"/>
              </a:rPr>
              <a:t>TENANT</a:t>
            </a:r>
          </a:p>
        </p:txBody>
      </p:sp>
      <p:sp>
        <p:nvSpPr>
          <p:cNvPr id="26" name="TextBox 25"/>
          <p:cNvSpPr txBox="1"/>
          <p:nvPr/>
        </p:nvSpPr>
        <p:spPr>
          <a:xfrm>
            <a:off x="8823960" y="3118104"/>
            <a:ext cx="2450592" cy="1197864"/>
          </a:xfrm>
          <a:prstGeom prst="rect">
            <a:avLst/>
          </a:prstGeom>
          <a:noFill/>
          <a:effectLst/>
        </p:spPr>
        <p:txBody>
          <a:bodyPr wrap="square" lIns="0" rIns="0" tIns="0" bIns="0">
            <a:spAutoFit/>
          </a:bodyPr>
          <a:lstStyle/>
          <a:p>
            <a:pPr>
              <a:lnSpc>
                <a:spcPct val="113000"/>
              </a:lnSpc>
              <a:spcAft>
                <a:spcPts val="0"/>
              </a:spcAft>
              <a:defRPr sz="2900" b="0">
                <a:solidFill>
                  <a:srgbClr val="7A202C"/>
                </a:solidFill>
                <a:latin typeface="Noto Serif"/>
              </a:defRPr>
            </a:pPr>
            <a:r>
              <a:rPr>
                <a:ea typeface="Noto Sans CJK SC"/>
              </a:rPr>
              <a:t>Remain</a:t>
            </a:r>
          </a:p>
          <a:p>
            <a:pPr>
              <a:lnSpc>
                <a:spcPct val="113000"/>
              </a:lnSpc>
              <a:spcAft>
                <a:spcPts val="0"/>
              </a:spcAft>
              <a:defRPr sz="2900" b="0">
                <a:solidFill>
                  <a:srgbClr val="7A202C"/>
                </a:solidFill>
                <a:latin typeface="Noto Serif"/>
              </a:defRPr>
            </a:pPr>
            <a:r>
              <a:rPr>
                <a:ea typeface="Noto Sans CJK SC"/>
              </a:rPr>
              <a:t>or renew</a:t>
            </a:r>
          </a:p>
        </p:txBody>
      </p:sp>
      <p:sp>
        <p:nvSpPr>
          <p:cNvPr id="27" name="TextBox 26"/>
          <p:cNvSpPr txBox="1"/>
          <p:nvPr/>
        </p:nvSpPr>
        <p:spPr>
          <a:xfrm>
            <a:off x="8842248" y="4773168"/>
            <a:ext cx="2368296" cy="886968"/>
          </a:xfrm>
          <a:prstGeom prst="rect">
            <a:avLst/>
          </a:prstGeom>
          <a:noFill/>
          <a:effectLst/>
        </p:spPr>
        <p:txBody>
          <a:bodyPr wrap="square" lIns="0" rIns="0" tIns="0" bIns="0">
            <a:spAutoFit/>
          </a:bodyPr>
          <a:lstStyle/>
          <a:p>
            <a:pPr>
              <a:lnSpc>
                <a:spcPct val="113000"/>
              </a:lnSpc>
              <a:spcAft>
                <a:spcPts val="0"/>
              </a:spcAft>
              <a:defRPr sz="1500" b="0">
                <a:solidFill>
                  <a:srgbClr val="1E191C"/>
                </a:solidFill>
                <a:latin typeface="Noto Sans"/>
              </a:defRPr>
            </a:pPr>
            <a:r>
              <a:rPr>
                <a:ea typeface="Noto Sans CJK SC"/>
              </a:rPr>
              <a:t>Challenge the breach.</a:t>
            </a:r>
          </a:p>
          <a:p>
            <a:pPr>
              <a:lnSpc>
                <a:spcPct val="113000"/>
              </a:lnSpc>
              <a:spcAft>
                <a:spcPts val="0"/>
              </a:spcAft>
              <a:defRPr sz="1500" b="0">
                <a:solidFill>
                  <a:srgbClr val="1E191C"/>
                </a:solidFill>
                <a:latin typeface="Noto Sans"/>
              </a:defRPr>
            </a:pPr>
            <a:r>
              <a:rPr>
                <a:ea typeface="Noto Sans CJK SC"/>
              </a:rPr>
              <a:t>Examine the process.</a:t>
            </a:r>
          </a:p>
          <a:p>
            <a:pPr>
              <a:lnSpc>
                <a:spcPct val="113000"/>
              </a:lnSpc>
              <a:spcAft>
                <a:spcPts val="0"/>
              </a:spcAft>
              <a:defRPr sz="1500" b="0">
                <a:solidFill>
                  <a:srgbClr val="1E191C"/>
                </a:solidFill>
                <a:latin typeface="Noto Sans"/>
              </a:defRPr>
            </a:pPr>
            <a:r>
              <a:rPr>
                <a:ea typeface="Noto Sans CJK SC"/>
              </a:rPr>
              <a:t>Test the renewal term.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621792" y="6437376"/>
            <a:ext cx="10945368"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630936" y="6556248"/>
            <a:ext cx="5486400" cy="237744"/>
          </a:xfrm>
          <a:prstGeom prst="rect">
            <a:avLst/>
          </a:prstGeom>
          <a:noFill/>
          <a:effectLst/>
        </p:spPr>
        <p:txBody>
          <a:bodyPr wrap="square" lIns="0" rIns="0" tIns="0" bIns="0">
            <a:spAutoFit/>
          </a:bodyPr>
          <a:lstStyle/>
          <a:p>
            <a:pPr>
              <a:lnSpc>
                <a:spcPct val="113000"/>
              </a:lnSpc>
              <a:spcAft>
                <a:spcPts val="0"/>
              </a:spcAft>
              <a:defRPr sz="800" b="1">
                <a:solidFill>
                  <a:srgbClr val="666064"/>
                </a:solidFill>
                <a:latin typeface="Noto Sans"/>
              </a:defRPr>
            </a:pPr>
            <a:r>
              <a:rPr>
                <a:ea typeface="Noto Sans CJK SC"/>
              </a:rPr>
              <a:t>5957  /  TENANCY DISPUTE</a:t>
            </a:r>
          </a:p>
        </p:txBody>
      </p:sp>
      <p:sp>
        <p:nvSpPr>
          <p:cNvPr id="4" name="TextBox 3"/>
          <p:cNvSpPr txBox="1"/>
          <p:nvPr/>
        </p:nvSpPr>
        <p:spPr>
          <a:xfrm>
            <a:off x="10149840" y="6537960"/>
            <a:ext cx="1399032" cy="201168"/>
          </a:xfrm>
          <a:prstGeom prst="rect">
            <a:avLst/>
          </a:prstGeom>
          <a:noFill/>
          <a:effectLst/>
        </p:spPr>
        <p:txBody>
          <a:bodyPr wrap="square" lIns="0" rIns="0" tIns="0" bIns="0">
            <a:spAutoFit/>
          </a:bodyPr>
          <a:lstStyle/>
          <a:p>
            <a:pPr algn="r">
              <a:lnSpc>
                <a:spcPct val="113000"/>
              </a:lnSpc>
              <a:spcAft>
                <a:spcPts val="0"/>
              </a:spcAft>
              <a:defRPr sz="800" b="0">
                <a:solidFill>
                  <a:srgbClr val="666064"/>
                </a:solidFill>
                <a:latin typeface="Noto Sans"/>
              </a:defRPr>
            </a:pPr>
            <a:r>
              <a:rPr>
                <a:ea typeface="Noto Sans CJK SC"/>
              </a:rPr>
              <a:t>23  /  30</a:t>
            </a:r>
          </a:p>
        </p:txBody>
      </p:sp>
      <p:sp>
        <p:nvSpPr>
          <p:cNvPr id="5" name="TextBox 4"/>
          <p:cNvSpPr txBox="1"/>
          <p:nvPr/>
        </p:nvSpPr>
        <p:spPr>
          <a:xfrm>
            <a:off x="630936" y="347472"/>
            <a:ext cx="9144000" cy="237744"/>
          </a:xfrm>
          <a:prstGeom prst="rect">
            <a:avLst/>
          </a:prstGeom>
          <a:noFill/>
          <a:effectLst/>
        </p:spPr>
        <p:txBody>
          <a:bodyPr wrap="square" lIns="0" rIns="0" tIns="0" bIns="0">
            <a:spAutoFit/>
          </a:bodyPr>
          <a:lstStyle/>
          <a:p>
            <a:pPr>
              <a:lnSpc>
                <a:spcPct val="113000"/>
              </a:lnSpc>
              <a:spcAft>
                <a:spcPts val="0"/>
              </a:spcAft>
              <a:defRPr sz="900" b="1">
                <a:solidFill>
                  <a:srgbClr val="A34450"/>
                </a:solidFill>
                <a:latin typeface="Noto Sans"/>
              </a:defRPr>
            </a:pPr>
            <a:r>
              <a:rPr>
                <a:ea typeface="Noto Sans CJK SC"/>
              </a:rPr>
              <a:t>COMPARISON MATRIX</a:t>
            </a:r>
          </a:p>
        </p:txBody>
      </p:sp>
      <p:sp>
        <p:nvSpPr>
          <p:cNvPr id="6" name="TextBox 5"/>
          <p:cNvSpPr txBox="1"/>
          <p:nvPr/>
        </p:nvSpPr>
        <p:spPr>
          <a:xfrm>
            <a:off x="603504" y="758952"/>
            <a:ext cx="10972800" cy="612648"/>
          </a:xfrm>
          <a:prstGeom prst="rect">
            <a:avLst/>
          </a:prstGeom>
          <a:noFill/>
          <a:effectLst/>
        </p:spPr>
        <p:txBody>
          <a:bodyPr wrap="square" lIns="0" rIns="0" tIns="0" bIns="0">
            <a:spAutoFit/>
          </a:bodyPr>
          <a:lstStyle/>
          <a:p>
            <a:pPr>
              <a:lnSpc>
                <a:spcPct val="113000"/>
              </a:lnSpc>
              <a:spcAft>
                <a:spcPts val="0"/>
              </a:spcAft>
              <a:defRPr sz="3000" b="0">
                <a:solidFill>
                  <a:srgbClr val="7A202C"/>
                </a:solidFill>
                <a:latin typeface="Noto Serif"/>
              </a:defRPr>
            </a:pPr>
            <a:r>
              <a:rPr>
                <a:ea typeface="Noto Sans CJK SC"/>
              </a:rPr>
              <a:t>Compare the positions issue by issue</a:t>
            </a:r>
          </a:p>
        </p:txBody>
      </p:sp>
      <p:cxnSp>
        <p:nvCxnSpPr>
          <p:cNvPr id="7" name="Connector 6"/>
          <p:cNvCxnSpPr/>
          <p:nvPr/>
        </p:nvCxnSpPr>
        <p:spPr>
          <a:xfrm>
            <a:off x="621792" y="1490472"/>
            <a:ext cx="10945368" cy="0"/>
          </a:xfrm>
          <a:prstGeom prst="line">
            <a:avLst/>
          </a:prstGeom>
          <a:ln w="10795">
            <a:solidFill>
              <a:srgbClr val="D4A59A"/>
            </a:solidFill>
          </a:ln>
          <a:effectLst/>
        </p:spPr>
        <p:style>
          <a:lnRef idx="2">
            <a:schemeClr val="accent1"/>
          </a:lnRef>
          <a:fillRef idx="0">
            <a:schemeClr val="accent1"/>
          </a:fillRef>
          <a:effectRef idx="0">
            <a:schemeClr val="accent1"/>
          </a:effectRef>
          <a:fontRef idx="minor">
            <a:schemeClr val="tx1"/>
          </a:fontRef>
        </p:style>
      </p:cxnSp>
      <p:sp>
        <p:nvSpPr>
          <p:cNvPr id="8" name="Rectangle 7"/>
          <p:cNvSpPr/>
          <p:nvPr/>
        </p:nvSpPr>
        <p:spPr>
          <a:xfrm>
            <a:off x="630936" y="2057400"/>
            <a:ext cx="2029968" cy="512064"/>
          </a:xfrm>
          <a:prstGeom prst="rect">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86384" y="2185416"/>
            <a:ext cx="1719072" cy="283464"/>
          </a:xfrm>
          <a:prstGeom prst="rect">
            <a:avLst/>
          </a:prstGeom>
          <a:noFill/>
          <a:effectLst/>
        </p:spPr>
        <p:txBody>
          <a:bodyPr wrap="square" lIns="0" rIns="0" tIns="0" bIns="0">
            <a:spAutoFit/>
          </a:bodyPr>
          <a:lstStyle/>
          <a:p>
            <a:pPr>
              <a:lnSpc>
                <a:spcPct val="113000"/>
              </a:lnSpc>
              <a:spcAft>
                <a:spcPts val="0"/>
              </a:spcAft>
              <a:defRPr sz="1200" b="1">
                <a:solidFill>
                  <a:srgbClr val="FFFFFF"/>
                </a:solidFill>
                <a:latin typeface="Noto Sans"/>
              </a:defRPr>
            </a:pPr>
            <a:r>
              <a:rPr>
                <a:ea typeface="Noto Sans CJK SC"/>
              </a:rPr>
              <a:t>Issue</a:t>
            </a:r>
          </a:p>
        </p:txBody>
      </p:sp>
      <p:sp>
        <p:nvSpPr>
          <p:cNvPr id="10" name="Rectangle 9"/>
          <p:cNvSpPr/>
          <p:nvPr/>
        </p:nvSpPr>
        <p:spPr>
          <a:xfrm>
            <a:off x="2660904" y="2057400"/>
            <a:ext cx="4453128" cy="512064"/>
          </a:xfrm>
          <a:prstGeom prst="rect">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2816352" y="2185416"/>
            <a:ext cx="4142232" cy="283464"/>
          </a:xfrm>
          <a:prstGeom prst="rect">
            <a:avLst/>
          </a:prstGeom>
          <a:noFill/>
          <a:effectLst/>
        </p:spPr>
        <p:txBody>
          <a:bodyPr wrap="square" lIns="0" rIns="0" tIns="0" bIns="0">
            <a:spAutoFit/>
          </a:bodyPr>
          <a:lstStyle/>
          <a:p>
            <a:pPr>
              <a:lnSpc>
                <a:spcPct val="113000"/>
              </a:lnSpc>
              <a:spcAft>
                <a:spcPts val="0"/>
              </a:spcAft>
              <a:defRPr sz="1200" b="1">
                <a:solidFill>
                  <a:srgbClr val="FFFFFF"/>
                </a:solidFill>
                <a:latin typeface="Noto Sans"/>
              </a:defRPr>
            </a:pPr>
            <a:r>
              <a:rPr>
                <a:ea typeface="Noto Sans CJK SC"/>
              </a:rPr>
              <a:t>Frederick</a:t>
            </a:r>
          </a:p>
        </p:txBody>
      </p:sp>
      <p:sp>
        <p:nvSpPr>
          <p:cNvPr id="12" name="Rectangle 11"/>
          <p:cNvSpPr/>
          <p:nvPr/>
        </p:nvSpPr>
        <p:spPr>
          <a:xfrm>
            <a:off x="7114032" y="2057400"/>
            <a:ext cx="4453128" cy="512064"/>
          </a:xfrm>
          <a:prstGeom prst="rect">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269480" y="2185416"/>
            <a:ext cx="4142232" cy="283464"/>
          </a:xfrm>
          <a:prstGeom prst="rect">
            <a:avLst/>
          </a:prstGeom>
          <a:noFill/>
          <a:effectLst/>
        </p:spPr>
        <p:txBody>
          <a:bodyPr wrap="square" lIns="0" rIns="0" tIns="0" bIns="0">
            <a:spAutoFit/>
          </a:bodyPr>
          <a:lstStyle/>
          <a:p>
            <a:pPr>
              <a:lnSpc>
                <a:spcPct val="113000"/>
              </a:lnSpc>
              <a:spcAft>
                <a:spcPts val="0"/>
              </a:spcAft>
              <a:defRPr sz="1200" b="1">
                <a:solidFill>
                  <a:srgbClr val="FFFFFF"/>
                </a:solidFill>
                <a:latin typeface="Noto Sans"/>
              </a:defRPr>
            </a:pPr>
            <a:r>
              <a:rPr>
                <a:ea typeface="Noto Sans CJK SC"/>
              </a:rPr>
              <a:t>Angela</a:t>
            </a:r>
          </a:p>
        </p:txBody>
      </p:sp>
      <p:sp>
        <p:nvSpPr>
          <p:cNvPr id="14" name="Rectangle 13"/>
          <p:cNvSpPr/>
          <p:nvPr/>
        </p:nvSpPr>
        <p:spPr>
          <a:xfrm>
            <a:off x="630936" y="2569464"/>
            <a:ext cx="2029968" cy="832104"/>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86384" y="2724912"/>
            <a:ext cx="1719072" cy="603504"/>
          </a:xfrm>
          <a:prstGeom prst="rect">
            <a:avLst/>
          </a:prstGeom>
          <a:noFill/>
          <a:effectLst/>
        </p:spPr>
        <p:txBody>
          <a:bodyPr wrap="square" lIns="0" rIns="0" tIns="0" bIns="0">
            <a:spAutoFit/>
          </a:bodyPr>
          <a:lstStyle/>
          <a:p>
            <a:pPr>
              <a:lnSpc>
                <a:spcPct val="113000"/>
              </a:lnSpc>
              <a:spcAft>
                <a:spcPts val="0"/>
              </a:spcAft>
              <a:defRPr sz="1500" b="1">
                <a:solidFill>
                  <a:srgbClr val="7A202C"/>
                </a:solidFill>
                <a:latin typeface="Noto Sans"/>
              </a:defRPr>
            </a:pPr>
            <a:r>
              <a:rPr>
                <a:ea typeface="Noto Sans CJK SC"/>
              </a:rPr>
              <a:t>Subletting</a:t>
            </a:r>
          </a:p>
        </p:txBody>
      </p:sp>
      <p:sp>
        <p:nvSpPr>
          <p:cNvPr id="16" name="Rectangle 15"/>
          <p:cNvSpPr/>
          <p:nvPr/>
        </p:nvSpPr>
        <p:spPr>
          <a:xfrm>
            <a:off x="2660904" y="2569464"/>
            <a:ext cx="4453128" cy="832104"/>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2816352" y="2724912"/>
            <a:ext cx="4142232" cy="603504"/>
          </a:xfrm>
          <a:prstGeom prst="rect">
            <a:avLst/>
          </a:prstGeom>
          <a:noFill/>
          <a:effectLst/>
        </p:spPr>
        <p:txBody>
          <a:bodyPr wrap="square" lIns="0" rIns="0" tIns="0" bIns="0">
            <a:spAutoFit/>
          </a:bodyPr>
          <a:lstStyle/>
          <a:p>
            <a:pPr>
              <a:lnSpc>
                <a:spcPct val="113000"/>
              </a:lnSpc>
              <a:spcAft>
                <a:spcPts val="0"/>
              </a:spcAft>
              <a:defRPr sz="1500" b="0">
                <a:solidFill>
                  <a:srgbClr val="1E191C"/>
                </a:solidFill>
                <a:latin typeface="Noto Sans"/>
              </a:defRPr>
            </a:pPr>
            <a:r>
              <a:rPr>
                <a:ea typeface="Noto Sans CJK SC"/>
              </a:rPr>
              <a:t>Without consent; potential breach</a:t>
            </a:r>
          </a:p>
        </p:txBody>
      </p:sp>
      <p:sp>
        <p:nvSpPr>
          <p:cNvPr id="18" name="Rectangle 17"/>
          <p:cNvSpPr/>
          <p:nvPr/>
        </p:nvSpPr>
        <p:spPr>
          <a:xfrm>
            <a:off x="7114032" y="2569464"/>
            <a:ext cx="4453128" cy="832104"/>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7269480" y="2724912"/>
            <a:ext cx="4142232" cy="603504"/>
          </a:xfrm>
          <a:prstGeom prst="rect">
            <a:avLst/>
          </a:prstGeom>
          <a:noFill/>
          <a:effectLst/>
        </p:spPr>
        <p:txBody>
          <a:bodyPr wrap="square" lIns="0" rIns="0" tIns="0" bIns="0">
            <a:spAutoFit/>
          </a:bodyPr>
          <a:lstStyle/>
          <a:p>
            <a:pPr>
              <a:lnSpc>
                <a:spcPct val="113000"/>
              </a:lnSpc>
              <a:spcAft>
                <a:spcPts val="0"/>
              </a:spcAft>
              <a:defRPr sz="1500" b="0">
                <a:solidFill>
                  <a:srgbClr val="1E191C"/>
                </a:solidFill>
                <a:latin typeface="Noto Sans"/>
              </a:defRPr>
            </a:pPr>
            <a:r>
              <a:rPr>
                <a:ea typeface="Noto Sans CJK SC"/>
              </a:rPr>
              <a:t>May be permitted or consent implied</a:t>
            </a:r>
          </a:p>
        </p:txBody>
      </p:sp>
      <p:cxnSp>
        <p:nvCxnSpPr>
          <p:cNvPr id="20" name="Connector 19"/>
          <p:cNvCxnSpPr/>
          <p:nvPr/>
        </p:nvCxnSpPr>
        <p:spPr>
          <a:xfrm>
            <a:off x="630936" y="3401568"/>
            <a:ext cx="10936224"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21" name="Rectangle 20"/>
          <p:cNvSpPr/>
          <p:nvPr/>
        </p:nvSpPr>
        <p:spPr>
          <a:xfrm>
            <a:off x="630936" y="3401568"/>
            <a:ext cx="2029968" cy="832104"/>
          </a:xfrm>
          <a:prstGeom prst="rect">
            <a:avLst/>
          </a:prstGeom>
          <a:solidFill>
            <a:srgbClr val="FCF9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86384" y="3557016"/>
            <a:ext cx="1719072" cy="603504"/>
          </a:xfrm>
          <a:prstGeom prst="rect">
            <a:avLst/>
          </a:prstGeom>
          <a:noFill/>
          <a:effectLst/>
        </p:spPr>
        <p:txBody>
          <a:bodyPr wrap="square" lIns="0" rIns="0" tIns="0" bIns="0">
            <a:spAutoFit/>
          </a:bodyPr>
          <a:lstStyle/>
          <a:p>
            <a:pPr>
              <a:lnSpc>
                <a:spcPct val="113000"/>
              </a:lnSpc>
              <a:spcAft>
                <a:spcPts val="0"/>
              </a:spcAft>
              <a:defRPr sz="1500" b="1">
                <a:solidFill>
                  <a:srgbClr val="7A202C"/>
                </a:solidFill>
                <a:latin typeface="Noto Sans"/>
              </a:defRPr>
            </a:pPr>
            <a:r>
              <a:rPr>
                <a:ea typeface="Noto Sans CJK SC"/>
              </a:rPr>
              <a:t>Noise</a:t>
            </a:r>
          </a:p>
        </p:txBody>
      </p:sp>
      <p:sp>
        <p:nvSpPr>
          <p:cNvPr id="23" name="Rectangle 22"/>
          <p:cNvSpPr/>
          <p:nvPr/>
        </p:nvSpPr>
        <p:spPr>
          <a:xfrm>
            <a:off x="2660904" y="3401568"/>
            <a:ext cx="4453128" cy="832104"/>
          </a:xfrm>
          <a:prstGeom prst="rect">
            <a:avLst/>
          </a:prstGeom>
          <a:solidFill>
            <a:srgbClr val="FCF9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816352" y="3557016"/>
            <a:ext cx="4142232" cy="603504"/>
          </a:xfrm>
          <a:prstGeom prst="rect">
            <a:avLst/>
          </a:prstGeom>
          <a:noFill/>
          <a:effectLst/>
        </p:spPr>
        <p:txBody>
          <a:bodyPr wrap="square" lIns="0" rIns="0" tIns="0" bIns="0">
            <a:spAutoFit/>
          </a:bodyPr>
          <a:lstStyle/>
          <a:p>
            <a:pPr>
              <a:lnSpc>
                <a:spcPct val="113000"/>
              </a:lnSpc>
              <a:spcAft>
                <a:spcPts val="0"/>
              </a:spcAft>
              <a:defRPr sz="1500" b="0">
                <a:solidFill>
                  <a:srgbClr val="1E191C"/>
                </a:solidFill>
                <a:latin typeface="Noto Sans"/>
              </a:defRPr>
            </a:pPr>
            <a:r>
              <a:rPr>
                <a:ea typeface="Noto Sans CJK SC"/>
              </a:rPr>
              <a:t>Complaint supports alleged breach</a:t>
            </a:r>
          </a:p>
        </p:txBody>
      </p:sp>
      <p:sp>
        <p:nvSpPr>
          <p:cNvPr id="25" name="Rectangle 24"/>
          <p:cNvSpPr/>
          <p:nvPr/>
        </p:nvSpPr>
        <p:spPr>
          <a:xfrm>
            <a:off x="7114032" y="3401568"/>
            <a:ext cx="4453128" cy="832104"/>
          </a:xfrm>
          <a:prstGeom prst="rect">
            <a:avLst/>
          </a:prstGeom>
          <a:solidFill>
            <a:srgbClr val="FCF9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7269480" y="3557016"/>
            <a:ext cx="4142232" cy="603504"/>
          </a:xfrm>
          <a:prstGeom prst="rect">
            <a:avLst/>
          </a:prstGeom>
          <a:noFill/>
          <a:effectLst/>
        </p:spPr>
        <p:txBody>
          <a:bodyPr wrap="square" lIns="0" rIns="0" tIns="0" bIns="0">
            <a:spAutoFit/>
          </a:bodyPr>
          <a:lstStyle/>
          <a:p>
            <a:pPr>
              <a:lnSpc>
                <a:spcPct val="113000"/>
              </a:lnSpc>
              <a:spcAft>
                <a:spcPts val="0"/>
              </a:spcAft>
              <a:defRPr sz="1500" b="0">
                <a:solidFill>
                  <a:srgbClr val="1E191C"/>
                </a:solidFill>
                <a:latin typeface="Noto Sans"/>
              </a:defRPr>
            </a:pPr>
            <a:r>
              <a:rPr>
                <a:ea typeface="Noto Sans CJK SC"/>
              </a:rPr>
              <a:t>Complaint alone is insufficient proof</a:t>
            </a:r>
          </a:p>
        </p:txBody>
      </p:sp>
      <p:cxnSp>
        <p:nvCxnSpPr>
          <p:cNvPr id="27" name="Connector 26"/>
          <p:cNvCxnSpPr/>
          <p:nvPr/>
        </p:nvCxnSpPr>
        <p:spPr>
          <a:xfrm>
            <a:off x="630936" y="4233672"/>
            <a:ext cx="10936224"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28" name="Rectangle 27"/>
          <p:cNvSpPr/>
          <p:nvPr/>
        </p:nvSpPr>
        <p:spPr>
          <a:xfrm>
            <a:off x="630936" y="4233672"/>
            <a:ext cx="2029968" cy="832104"/>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86384" y="4389120"/>
            <a:ext cx="1719072" cy="603504"/>
          </a:xfrm>
          <a:prstGeom prst="rect">
            <a:avLst/>
          </a:prstGeom>
          <a:noFill/>
          <a:effectLst/>
        </p:spPr>
        <p:txBody>
          <a:bodyPr wrap="square" lIns="0" rIns="0" tIns="0" bIns="0">
            <a:spAutoFit/>
          </a:bodyPr>
          <a:lstStyle/>
          <a:p>
            <a:pPr>
              <a:lnSpc>
                <a:spcPct val="113000"/>
              </a:lnSpc>
              <a:spcAft>
                <a:spcPts val="0"/>
              </a:spcAft>
              <a:defRPr sz="1500" b="1">
                <a:solidFill>
                  <a:srgbClr val="7A202C"/>
                </a:solidFill>
                <a:latin typeface="Noto Sans"/>
              </a:defRPr>
            </a:pPr>
            <a:r>
              <a:rPr>
                <a:ea typeface="Noto Sans CJK SC"/>
              </a:rPr>
              <a:t>Forfeiture</a:t>
            </a:r>
          </a:p>
        </p:txBody>
      </p:sp>
      <p:sp>
        <p:nvSpPr>
          <p:cNvPr id="30" name="Rectangle 29"/>
          <p:cNvSpPr/>
          <p:nvPr/>
        </p:nvSpPr>
        <p:spPr>
          <a:xfrm>
            <a:off x="2660904" y="4233672"/>
            <a:ext cx="4453128" cy="832104"/>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2816352" y="4389120"/>
            <a:ext cx="4142232" cy="603504"/>
          </a:xfrm>
          <a:prstGeom prst="rect">
            <a:avLst/>
          </a:prstGeom>
          <a:noFill/>
          <a:effectLst/>
        </p:spPr>
        <p:txBody>
          <a:bodyPr wrap="square" lIns="0" rIns="0" tIns="0" bIns="0">
            <a:spAutoFit/>
          </a:bodyPr>
          <a:lstStyle/>
          <a:p>
            <a:pPr>
              <a:lnSpc>
                <a:spcPct val="113000"/>
              </a:lnSpc>
              <a:spcAft>
                <a:spcPts val="0"/>
              </a:spcAft>
              <a:defRPr sz="1500" b="0">
                <a:solidFill>
                  <a:srgbClr val="1E191C"/>
                </a:solidFill>
                <a:latin typeface="Noto Sans"/>
              </a:defRPr>
            </a:pPr>
            <a:r>
              <a:rPr>
                <a:ea typeface="Noto Sans CJK SC"/>
              </a:rPr>
              <a:t>Relies on a forfeiture clause</a:t>
            </a:r>
          </a:p>
        </p:txBody>
      </p:sp>
      <p:sp>
        <p:nvSpPr>
          <p:cNvPr id="32" name="Rectangle 31"/>
          <p:cNvSpPr/>
          <p:nvPr/>
        </p:nvSpPr>
        <p:spPr>
          <a:xfrm>
            <a:off x="7114032" y="4233672"/>
            <a:ext cx="4453128" cy="832104"/>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269480" y="4389120"/>
            <a:ext cx="4142232" cy="603504"/>
          </a:xfrm>
          <a:prstGeom prst="rect">
            <a:avLst/>
          </a:prstGeom>
          <a:noFill/>
          <a:effectLst/>
        </p:spPr>
        <p:txBody>
          <a:bodyPr wrap="square" lIns="0" rIns="0" tIns="0" bIns="0">
            <a:spAutoFit/>
          </a:bodyPr>
          <a:lstStyle/>
          <a:p>
            <a:pPr>
              <a:lnSpc>
                <a:spcPct val="113000"/>
              </a:lnSpc>
              <a:spcAft>
                <a:spcPts val="0"/>
              </a:spcAft>
              <a:defRPr sz="1500" b="0">
                <a:solidFill>
                  <a:srgbClr val="1E191C"/>
                </a:solidFill>
                <a:latin typeface="Noto Sans"/>
              </a:defRPr>
            </a:pPr>
            <a:r>
              <a:rPr>
                <a:ea typeface="Noto Sans CJK SC"/>
              </a:rPr>
              <a:t>Insists on strict notice compliance</a:t>
            </a:r>
          </a:p>
        </p:txBody>
      </p:sp>
      <p:cxnSp>
        <p:nvCxnSpPr>
          <p:cNvPr id="34" name="Connector 33"/>
          <p:cNvCxnSpPr/>
          <p:nvPr/>
        </p:nvCxnSpPr>
        <p:spPr>
          <a:xfrm>
            <a:off x="630936" y="5065776"/>
            <a:ext cx="10936224"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35" name="Rectangle 34"/>
          <p:cNvSpPr/>
          <p:nvPr/>
        </p:nvSpPr>
        <p:spPr>
          <a:xfrm>
            <a:off x="630936" y="5065776"/>
            <a:ext cx="2029968" cy="832104"/>
          </a:xfrm>
          <a:prstGeom prst="rect">
            <a:avLst/>
          </a:prstGeom>
          <a:solidFill>
            <a:srgbClr val="FCF9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786384" y="5221224"/>
            <a:ext cx="1719072" cy="603504"/>
          </a:xfrm>
          <a:prstGeom prst="rect">
            <a:avLst/>
          </a:prstGeom>
          <a:noFill/>
          <a:effectLst/>
        </p:spPr>
        <p:txBody>
          <a:bodyPr wrap="square" lIns="0" rIns="0" tIns="0" bIns="0">
            <a:spAutoFit/>
          </a:bodyPr>
          <a:lstStyle/>
          <a:p>
            <a:pPr>
              <a:lnSpc>
                <a:spcPct val="113000"/>
              </a:lnSpc>
              <a:spcAft>
                <a:spcPts val="0"/>
              </a:spcAft>
              <a:defRPr sz="1500" b="1">
                <a:solidFill>
                  <a:srgbClr val="7A202C"/>
                </a:solidFill>
                <a:latin typeface="Noto Sans"/>
              </a:defRPr>
            </a:pPr>
            <a:r>
              <a:rPr>
                <a:ea typeface="Noto Sans CJK SC"/>
              </a:rPr>
              <a:t>Renewal</a:t>
            </a:r>
          </a:p>
        </p:txBody>
      </p:sp>
      <p:sp>
        <p:nvSpPr>
          <p:cNvPr id="37" name="Rectangle 36"/>
          <p:cNvSpPr/>
          <p:nvPr/>
        </p:nvSpPr>
        <p:spPr>
          <a:xfrm>
            <a:off x="2660904" y="5065776"/>
            <a:ext cx="4453128" cy="832104"/>
          </a:xfrm>
          <a:prstGeom prst="rect">
            <a:avLst/>
          </a:prstGeom>
          <a:solidFill>
            <a:srgbClr val="FCF9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2816352" y="5221224"/>
            <a:ext cx="4142232" cy="603504"/>
          </a:xfrm>
          <a:prstGeom prst="rect">
            <a:avLst/>
          </a:prstGeom>
          <a:noFill/>
          <a:effectLst/>
        </p:spPr>
        <p:txBody>
          <a:bodyPr wrap="square" lIns="0" rIns="0" tIns="0" bIns="0">
            <a:spAutoFit/>
          </a:bodyPr>
          <a:lstStyle/>
          <a:p>
            <a:pPr>
              <a:lnSpc>
                <a:spcPct val="113000"/>
              </a:lnSpc>
              <a:spcAft>
                <a:spcPts val="0"/>
              </a:spcAft>
              <a:defRPr sz="1500" b="0">
                <a:solidFill>
                  <a:srgbClr val="1E191C"/>
                </a:solidFill>
                <a:latin typeface="Noto Sans"/>
              </a:defRPr>
            </a:pPr>
            <a:r>
              <a:rPr>
                <a:ea typeface="Noto Sans CJK SC"/>
              </a:rPr>
              <a:t>New terms and rent are negotiable</a:t>
            </a:r>
          </a:p>
        </p:txBody>
      </p:sp>
      <p:sp>
        <p:nvSpPr>
          <p:cNvPr id="39" name="Rectangle 38"/>
          <p:cNvSpPr/>
          <p:nvPr/>
        </p:nvSpPr>
        <p:spPr>
          <a:xfrm>
            <a:off x="7114032" y="5065776"/>
            <a:ext cx="4453128" cy="832104"/>
          </a:xfrm>
          <a:prstGeom prst="rect">
            <a:avLst/>
          </a:prstGeom>
          <a:solidFill>
            <a:srgbClr val="FCF9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7269480" y="5221224"/>
            <a:ext cx="4142232" cy="603504"/>
          </a:xfrm>
          <a:prstGeom prst="rect">
            <a:avLst/>
          </a:prstGeom>
          <a:noFill/>
          <a:effectLst/>
        </p:spPr>
        <p:txBody>
          <a:bodyPr wrap="square" lIns="0" rIns="0" tIns="0" bIns="0">
            <a:spAutoFit/>
          </a:bodyPr>
          <a:lstStyle/>
          <a:p>
            <a:pPr>
              <a:lnSpc>
                <a:spcPct val="113000"/>
              </a:lnSpc>
              <a:spcAft>
                <a:spcPts val="0"/>
              </a:spcAft>
              <a:defRPr sz="1500" b="0">
                <a:solidFill>
                  <a:srgbClr val="1E191C"/>
                </a:solidFill>
                <a:latin typeface="Noto Sans"/>
              </a:defRPr>
            </a:pPr>
            <a:r>
              <a:rPr>
                <a:ea typeface="Noto Sans CJK SC"/>
              </a:rPr>
              <a:t>Relies on an enforceable renewal term</a:t>
            </a:r>
          </a:p>
        </p:txBody>
      </p:sp>
      <p:cxnSp>
        <p:nvCxnSpPr>
          <p:cNvPr id="41" name="Connector 40"/>
          <p:cNvCxnSpPr/>
          <p:nvPr/>
        </p:nvCxnSpPr>
        <p:spPr>
          <a:xfrm>
            <a:off x="630936" y="5897880"/>
            <a:ext cx="10936224"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42" name="Rectangle 41"/>
          <p:cNvSpPr/>
          <p:nvPr/>
        </p:nvSpPr>
        <p:spPr>
          <a:xfrm>
            <a:off x="630936" y="5833872"/>
            <a:ext cx="10936224" cy="393192"/>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795528" y="5925312"/>
            <a:ext cx="10588752" cy="237744"/>
          </a:xfrm>
          <a:prstGeom prst="rect">
            <a:avLst/>
          </a:prstGeom>
          <a:noFill/>
          <a:effectLst/>
        </p:spPr>
        <p:txBody>
          <a:bodyPr wrap="square" lIns="0" rIns="0" tIns="0" bIns="0">
            <a:spAutoFit/>
          </a:bodyPr>
          <a:lstStyle/>
          <a:p>
            <a:pPr>
              <a:lnSpc>
                <a:spcPct val="113000"/>
              </a:lnSpc>
              <a:spcAft>
                <a:spcPts val="0"/>
              </a:spcAft>
              <a:defRPr sz="1150" b="0">
                <a:solidFill>
                  <a:srgbClr val="7A202C"/>
                </a:solidFill>
                <a:latin typeface="Noto Sans"/>
              </a:defRPr>
            </a:pPr>
            <a:r>
              <a:rPr>
                <a:ea typeface="Noto Sans CJK SC"/>
              </a:rPr>
              <a:t>Compare the legal basis and supporting material for each position.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621792" y="6437376"/>
            <a:ext cx="10945368"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630936" y="6556248"/>
            <a:ext cx="5486400" cy="237744"/>
          </a:xfrm>
          <a:prstGeom prst="rect">
            <a:avLst/>
          </a:prstGeom>
          <a:noFill/>
          <a:effectLst/>
        </p:spPr>
        <p:txBody>
          <a:bodyPr wrap="square" lIns="0" rIns="0" tIns="0" bIns="0">
            <a:spAutoFit/>
          </a:bodyPr>
          <a:lstStyle/>
          <a:p>
            <a:pPr>
              <a:lnSpc>
                <a:spcPct val="113000"/>
              </a:lnSpc>
              <a:spcAft>
                <a:spcPts val="0"/>
              </a:spcAft>
              <a:defRPr sz="800" b="1">
                <a:solidFill>
                  <a:srgbClr val="666064"/>
                </a:solidFill>
                <a:latin typeface="Noto Sans"/>
              </a:defRPr>
            </a:pPr>
            <a:r>
              <a:rPr>
                <a:ea typeface="Noto Sans CJK SC"/>
              </a:rPr>
              <a:t>5957  /  TENANCY DISPUTE</a:t>
            </a:r>
          </a:p>
        </p:txBody>
      </p:sp>
      <p:sp>
        <p:nvSpPr>
          <p:cNvPr id="4" name="TextBox 3"/>
          <p:cNvSpPr txBox="1"/>
          <p:nvPr/>
        </p:nvSpPr>
        <p:spPr>
          <a:xfrm>
            <a:off x="10149840" y="6537960"/>
            <a:ext cx="1399032" cy="201168"/>
          </a:xfrm>
          <a:prstGeom prst="rect">
            <a:avLst/>
          </a:prstGeom>
          <a:noFill/>
          <a:effectLst/>
        </p:spPr>
        <p:txBody>
          <a:bodyPr wrap="square" lIns="0" rIns="0" tIns="0" bIns="0">
            <a:spAutoFit/>
          </a:bodyPr>
          <a:lstStyle/>
          <a:p>
            <a:pPr algn="r">
              <a:lnSpc>
                <a:spcPct val="113000"/>
              </a:lnSpc>
              <a:spcAft>
                <a:spcPts val="0"/>
              </a:spcAft>
              <a:defRPr sz="800" b="0">
                <a:solidFill>
                  <a:srgbClr val="666064"/>
                </a:solidFill>
                <a:latin typeface="Noto Sans"/>
              </a:defRPr>
            </a:pPr>
            <a:r>
              <a:rPr>
                <a:ea typeface="Noto Sans CJK SC"/>
              </a:rPr>
              <a:t>24  /  30</a:t>
            </a:r>
          </a:p>
        </p:txBody>
      </p:sp>
      <p:sp>
        <p:nvSpPr>
          <p:cNvPr id="5" name="TextBox 4"/>
          <p:cNvSpPr txBox="1"/>
          <p:nvPr/>
        </p:nvSpPr>
        <p:spPr>
          <a:xfrm>
            <a:off x="630936" y="347472"/>
            <a:ext cx="9144000" cy="237744"/>
          </a:xfrm>
          <a:prstGeom prst="rect">
            <a:avLst/>
          </a:prstGeom>
          <a:noFill/>
          <a:effectLst/>
        </p:spPr>
        <p:txBody>
          <a:bodyPr wrap="square" lIns="0" rIns="0" tIns="0" bIns="0">
            <a:spAutoFit/>
          </a:bodyPr>
          <a:lstStyle/>
          <a:p>
            <a:pPr>
              <a:lnSpc>
                <a:spcPct val="113000"/>
              </a:lnSpc>
              <a:spcAft>
                <a:spcPts val="0"/>
              </a:spcAft>
              <a:defRPr sz="900" b="1">
                <a:solidFill>
                  <a:srgbClr val="A34450"/>
                </a:solidFill>
                <a:latin typeface="Noto Sans"/>
              </a:defRPr>
            </a:pPr>
            <a:r>
              <a:rPr>
                <a:ea typeface="Noto Sans CJK SC"/>
              </a:rPr>
              <a:t>ANALYSIS CHECKPOINT</a:t>
            </a:r>
          </a:p>
        </p:txBody>
      </p:sp>
      <p:sp>
        <p:nvSpPr>
          <p:cNvPr id="6" name="TextBox 5"/>
          <p:cNvSpPr txBox="1"/>
          <p:nvPr/>
        </p:nvSpPr>
        <p:spPr>
          <a:xfrm>
            <a:off x="603504" y="758952"/>
            <a:ext cx="10972800" cy="612648"/>
          </a:xfrm>
          <a:prstGeom prst="rect">
            <a:avLst/>
          </a:prstGeom>
          <a:noFill/>
          <a:effectLst/>
        </p:spPr>
        <p:txBody>
          <a:bodyPr wrap="square" lIns="0" rIns="0" tIns="0" bIns="0">
            <a:spAutoFit/>
          </a:bodyPr>
          <a:lstStyle/>
          <a:p>
            <a:pPr>
              <a:lnSpc>
                <a:spcPct val="113000"/>
              </a:lnSpc>
              <a:spcAft>
                <a:spcPts val="0"/>
              </a:spcAft>
              <a:defRPr sz="3000" b="0">
                <a:solidFill>
                  <a:srgbClr val="7A202C"/>
                </a:solidFill>
                <a:latin typeface="Noto Serif"/>
              </a:defRPr>
            </a:pPr>
            <a:r>
              <a:rPr>
                <a:ea typeface="Noto Sans CJK SC"/>
              </a:rPr>
              <a:t>Separate the briefing from the open questions</a:t>
            </a:r>
          </a:p>
        </p:txBody>
      </p:sp>
      <p:cxnSp>
        <p:nvCxnSpPr>
          <p:cNvPr id="7" name="Connector 6"/>
          <p:cNvCxnSpPr/>
          <p:nvPr/>
        </p:nvCxnSpPr>
        <p:spPr>
          <a:xfrm>
            <a:off x="621792" y="1490472"/>
            <a:ext cx="10945368" cy="0"/>
          </a:xfrm>
          <a:prstGeom prst="line">
            <a:avLst/>
          </a:prstGeom>
          <a:ln w="10795">
            <a:solidFill>
              <a:srgbClr val="D4A59A"/>
            </a:solidFill>
          </a:ln>
          <a:effectLst/>
        </p:spPr>
        <p:style>
          <a:lnRef idx="2">
            <a:schemeClr val="accent1"/>
          </a:lnRef>
          <a:fillRef idx="0">
            <a:schemeClr val="accent1"/>
          </a:fillRef>
          <a:effectRef idx="0">
            <a:schemeClr val="accent1"/>
          </a:effectRef>
          <a:fontRef idx="minor">
            <a:schemeClr val="tx1"/>
          </a:fontRef>
        </p:style>
      </p:cxnSp>
      <p:sp>
        <p:nvSpPr>
          <p:cNvPr id="8" name="Rectangle 7"/>
          <p:cNvSpPr/>
          <p:nvPr/>
        </p:nvSpPr>
        <p:spPr>
          <a:xfrm>
            <a:off x="630936" y="1965960"/>
            <a:ext cx="5294376" cy="640080"/>
          </a:xfrm>
          <a:prstGeom prst="rect">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41247" y="2121408"/>
            <a:ext cx="4873752" cy="365760"/>
          </a:xfrm>
          <a:prstGeom prst="rect">
            <a:avLst/>
          </a:prstGeom>
          <a:noFill/>
          <a:effectLst/>
        </p:spPr>
        <p:txBody>
          <a:bodyPr wrap="square" lIns="0" rIns="0" tIns="0" bIns="0">
            <a:spAutoFit/>
          </a:bodyPr>
          <a:lstStyle/>
          <a:p>
            <a:pPr>
              <a:lnSpc>
                <a:spcPct val="113000"/>
              </a:lnSpc>
              <a:spcAft>
                <a:spcPts val="0"/>
              </a:spcAft>
              <a:defRPr sz="2100" b="0">
                <a:solidFill>
                  <a:srgbClr val="FFFFFF"/>
                </a:solidFill>
                <a:latin typeface="Noto Serif"/>
              </a:defRPr>
            </a:pPr>
            <a:r>
              <a:rPr>
                <a:ea typeface="Noto Sans CJK SC"/>
              </a:rPr>
              <a:t>In the original briefing</a:t>
            </a:r>
          </a:p>
        </p:txBody>
      </p:sp>
      <p:sp>
        <p:nvSpPr>
          <p:cNvPr id="10" name="Diamond 9"/>
          <p:cNvSpPr/>
          <p:nvPr/>
        </p:nvSpPr>
        <p:spPr>
          <a:xfrm>
            <a:off x="868680" y="2999232"/>
            <a:ext cx="82296" cy="82296"/>
          </a:xfrm>
          <a:prstGeom prst="diamond">
            <a:avLst/>
          </a:prstGeom>
          <a:solidFill>
            <a:srgbClr val="D4A59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161288" y="2926080"/>
            <a:ext cx="4489704" cy="621792"/>
          </a:xfrm>
          <a:prstGeom prst="rect">
            <a:avLst/>
          </a:prstGeom>
          <a:noFill/>
          <a:effectLst/>
        </p:spPr>
        <p:txBody>
          <a:bodyPr wrap="square" lIns="0" rIns="0" tIns="0" bIns="0">
            <a:spAutoFit/>
          </a:bodyPr>
          <a:lstStyle/>
          <a:p>
            <a:pPr>
              <a:lnSpc>
                <a:spcPct val="113000"/>
              </a:lnSpc>
              <a:spcAft>
                <a:spcPts val="0"/>
              </a:spcAft>
              <a:defRPr sz="1900" b="0">
                <a:solidFill>
                  <a:srgbClr val="1E191C"/>
                </a:solidFill>
                <a:latin typeface="Noto Sans"/>
              </a:defRPr>
            </a:pPr>
            <a:r>
              <a:rPr>
                <a:ea typeface="Noto Sans CJK SC"/>
              </a:rPr>
              <a:t>A two-year head tenancy</a:t>
            </a:r>
          </a:p>
        </p:txBody>
      </p:sp>
      <p:cxnSp>
        <p:nvCxnSpPr>
          <p:cNvPr id="12" name="Connector 11"/>
          <p:cNvCxnSpPr/>
          <p:nvPr/>
        </p:nvCxnSpPr>
        <p:spPr>
          <a:xfrm>
            <a:off x="1161288" y="3584448"/>
            <a:ext cx="4517135" cy="0"/>
          </a:xfrm>
          <a:prstGeom prst="line">
            <a:avLst/>
          </a:prstGeom>
          <a:ln w="8255">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13" name="Diamond 12"/>
          <p:cNvSpPr/>
          <p:nvPr/>
        </p:nvSpPr>
        <p:spPr>
          <a:xfrm>
            <a:off x="868680" y="3813048"/>
            <a:ext cx="82296" cy="82296"/>
          </a:xfrm>
          <a:prstGeom prst="diamond">
            <a:avLst/>
          </a:prstGeom>
          <a:solidFill>
            <a:srgbClr val="D4A59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1161288" y="3739896"/>
            <a:ext cx="4489704" cy="621792"/>
          </a:xfrm>
          <a:prstGeom prst="rect">
            <a:avLst/>
          </a:prstGeom>
          <a:noFill/>
          <a:effectLst/>
        </p:spPr>
        <p:txBody>
          <a:bodyPr wrap="square" lIns="0" rIns="0" tIns="0" bIns="0">
            <a:spAutoFit/>
          </a:bodyPr>
          <a:lstStyle/>
          <a:p>
            <a:pPr>
              <a:lnSpc>
                <a:spcPct val="113000"/>
              </a:lnSpc>
              <a:spcAft>
                <a:spcPts val="0"/>
              </a:spcAft>
              <a:defRPr sz="1900" b="0">
                <a:solidFill>
                  <a:srgbClr val="1E191C"/>
                </a:solidFill>
                <a:latin typeface="Noto Sans"/>
              </a:defRPr>
            </a:pPr>
            <a:r>
              <a:rPr>
                <a:ea typeface="Noto Sans CJK SC"/>
              </a:rPr>
              <a:t>A sub-tenancy involving Charles</a:t>
            </a:r>
          </a:p>
        </p:txBody>
      </p:sp>
      <p:cxnSp>
        <p:nvCxnSpPr>
          <p:cNvPr id="15" name="Connector 14"/>
          <p:cNvCxnSpPr/>
          <p:nvPr/>
        </p:nvCxnSpPr>
        <p:spPr>
          <a:xfrm>
            <a:off x="1161288" y="4398264"/>
            <a:ext cx="4517135" cy="0"/>
          </a:xfrm>
          <a:prstGeom prst="line">
            <a:avLst/>
          </a:prstGeom>
          <a:ln w="8255">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16" name="Diamond 15"/>
          <p:cNvSpPr/>
          <p:nvPr/>
        </p:nvSpPr>
        <p:spPr>
          <a:xfrm>
            <a:off x="868680" y="4626864"/>
            <a:ext cx="82296" cy="82296"/>
          </a:xfrm>
          <a:prstGeom prst="diamond">
            <a:avLst/>
          </a:prstGeom>
          <a:solidFill>
            <a:srgbClr val="D4A59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1161288" y="4553712"/>
            <a:ext cx="4489704" cy="621792"/>
          </a:xfrm>
          <a:prstGeom prst="rect">
            <a:avLst/>
          </a:prstGeom>
          <a:noFill/>
          <a:effectLst/>
        </p:spPr>
        <p:txBody>
          <a:bodyPr wrap="square" lIns="0" rIns="0" tIns="0" bIns="0">
            <a:spAutoFit/>
          </a:bodyPr>
          <a:lstStyle/>
          <a:p>
            <a:pPr>
              <a:lnSpc>
                <a:spcPct val="113000"/>
              </a:lnSpc>
              <a:spcAft>
                <a:spcPts val="0"/>
              </a:spcAft>
              <a:defRPr sz="1900" b="0">
                <a:solidFill>
                  <a:srgbClr val="1E191C"/>
                </a:solidFill>
                <a:latin typeface="Noto Sans"/>
              </a:defRPr>
            </a:pPr>
            <a:r>
              <a:rPr>
                <a:ea typeface="Noto Sans CJK SC"/>
              </a:rPr>
              <a:t>A noise complaint on 1 September</a:t>
            </a:r>
          </a:p>
        </p:txBody>
      </p:sp>
      <p:sp>
        <p:nvSpPr>
          <p:cNvPr id="18" name="Rectangle 17"/>
          <p:cNvSpPr/>
          <p:nvPr/>
        </p:nvSpPr>
        <p:spPr>
          <a:xfrm>
            <a:off x="6272784" y="1965960"/>
            <a:ext cx="5294376" cy="640080"/>
          </a:xfrm>
          <a:prstGeom prst="rect">
            <a:avLst/>
          </a:prstGeom>
          <a:solidFill>
            <a:srgbClr val="A3445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483096" y="2121408"/>
            <a:ext cx="4873752" cy="365760"/>
          </a:xfrm>
          <a:prstGeom prst="rect">
            <a:avLst/>
          </a:prstGeom>
          <a:noFill/>
          <a:effectLst/>
        </p:spPr>
        <p:txBody>
          <a:bodyPr wrap="square" lIns="0" rIns="0" tIns="0" bIns="0">
            <a:spAutoFit/>
          </a:bodyPr>
          <a:lstStyle/>
          <a:p>
            <a:pPr>
              <a:lnSpc>
                <a:spcPct val="113000"/>
              </a:lnSpc>
              <a:spcAft>
                <a:spcPts val="0"/>
              </a:spcAft>
              <a:defRPr sz="2100" b="0">
                <a:solidFill>
                  <a:srgbClr val="FFFFFF"/>
                </a:solidFill>
                <a:latin typeface="Noto Serif"/>
              </a:defRPr>
            </a:pPr>
            <a:r>
              <a:rPr>
                <a:ea typeface="Noto Sans CJK SC"/>
              </a:rPr>
              <a:t>To verify before final analysis</a:t>
            </a:r>
          </a:p>
        </p:txBody>
      </p:sp>
      <p:sp>
        <p:nvSpPr>
          <p:cNvPr id="20" name="Diamond 19"/>
          <p:cNvSpPr/>
          <p:nvPr/>
        </p:nvSpPr>
        <p:spPr>
          <a:xfrm>
            <a:off x="6510528" y="2999232"/>
            <a:ext cx="82296" cy="82296"/>
          </a:xfrm>
          <a:prstGeom prst="diamond">
            <a:avLst/>
          </a:prstGeom>
          <a:solidFill>
            <a:srgbClr val="D4A59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6803136" y="2926080"/>
            <a:ext cx="4489704" cy="621792"/>
          </a:xfrm>
          <a:prstGeom prst="rect">
            <a:avLst/>
          </a:prstGeom>
          <a:noFill/>
          <a:effectLst/>
        </p:spPr>
        <p:txBody>
          <a:bodyPr wrap="square" lIns="0" rIns="0" tIns="0" bIns="0">
            <a:spAutoFit/>
          </a:bodyPr>
          <a:lstStyle/>
          <a:p>
            <a:pPr>
              <a:lnSpc>
                <a:spcPct val="113000"/>
              </a:lnSpc>
              <a:spcAft>
                <a:spcPts val="0"/>
              </a:spcAft>
              <a:defRPr sz="1900" b="0">
                <a:solidFill>
                  <a:srgbClr val="1E191C"/>
                </a:solidFill>
                <a:latin typeface="Noto Sans"/>
              </a:defRPr>
            </a:pPr>
            <a:r>
              <a:rPr>
                <a:ea typeface="Noto Sans CJK SC"/>
              </a:rPr>
              <a:t>The wording of the relevant covenants</a:t>
            </a:r>
          </a:p>
        </p:txBody>
      </p:sp>
      <p:cxnSp>
        <p:nvCxnSpPr>
          <p:cNvPr id="22" name="Connector 21"/>
          <p:cNvCxnSpPr/>
          <p:nvPr/>
        </p:nvCxnSpPr>
        <p:spPr>
          <a:xfrm>
            <a:off x="6803136" y="3584448"/>
            <a:ext cx="4517136" cy="0"/>
          </a:xfrm>
          <a:prstGeom prst="line">
            <a:avLst/>
          </a:prstGeom>
          <a:ln w="8255">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23" name="Diamond 22"/>
          <p:cNvSpPr/>
          <p:nvPr/>
        </p:nvSpPr>
        <p:spPr>
          <a:xfrm>
            <a:off x="6510528" y="3813048"/>
            <a:ext cx="82296" cy="82296"/>
          </a:xfrm>
          <a:prstGeom prst="diamond">
            <a:avLst/>
          </a:prstGeom>
          <a:solidFill>
            <a:srgbClr val="D4A59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803136" y="3739896"/>
            <a:ext cx="4489704" cy="621792"/>
          </a:xfrm>
          <a:prstGeom prst="rect">
            <a:avLst/>
          </a:prstGeom>
          <a:noFill/>
          <a:effectLst/>
        </p:spPr>
        <p:txBody>
          <a:bodyPr wrap="square" lIns="0" rIns="0" tIns="0" bIns="0">
            <a:spAutoFit/>
          </a:bodyPr>
          <a:lstStyle/>
          <a:p>
            <a:pPr>
              <a:lnSpc>
                <a:spcPct val="113000"/>
              </a:lnSpc>
              <a:spcAft>
                <a:spcPts val="0"/>
              </a:spcAft>
              <a:defRPr sz="1900" b="0">
                <a:solidFill>
                  <a:srgbClr val="1E191C"/>
                </a:solidFill>
                <a:latin typeface="Noto Sans"/>
              </a:defRPr>
            </a:pPr>
            <a:r>
              <a:rPr>
                <a:ea typeface="Noto Sans CJK SC"/>
              </a:rPr>
              <a:t>The evidence of consent and breach</a:t>
            </a:r>
          </a:p>
        </p:txBody>
      </p:sp>
      <p:cxnSp>
        <p:nvCxnSpPr>
          <p:cNvPr id="25" name="Connector 24"/>
          <p:cNvCxnSpPr/>
          <p:nvPr/>
        </p:nvCxnSpPr>
        <p:spPr>
          <a:xfrm>
            <a:off x="6803136" y="4398264"/>
            <a:ext cx="4517136" cy="0"/>
          </a:xfrm>
          <a:prstGeom prst="line">
            <a:avLst/>
          </a:prstGeom>
          <a:ln w="8255">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26" name="Diamond 25"/>
          <p:cNvSpPr/>
          <p:nvPr/>
        </p:nvSpPr>
        <p:spPr>
          <a:xfrm>
            <a:off x="6510528" y="4626864"/>
            <a:ext cx="82296" cy="82296"/>
          </a:xfrm>
          <a:prstGeom prst="diamond">
            <a:avLst/>
          </a:prstGeom>
          <a:solidFill>
            <a:srgbClr val="D4A59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803136" y="4553712"/>
            <a:ext cx="4489704" cy="621792"/>
          </a:xfrm>
          <a:prstGeom prst="rect">
            <a:avLst/>
          </a:prstGeom>
          <a:noFill/>
          <a:effectLst/>
        </p:spPr>
        <p:txBody>
          <a:bodyPr wrap="square" lIns="0" rIns="0" tIns="0" bIns="0">
            <a:spAutoFit/>
          </a:bodyPr>
          <a:lstStyle/>
          <a:p>
            <a:pPr>
              <a:lnSpc>
                <a:spcPct val="113000"/>
              </a:lnSpc>
              <a:spcAft>
                <a:spcPts val="0"/>
              </a:spcAft>
              <a:defRPr sz="1900" b="0">
                <a:solidFill>
                  <a:srgbClr val="1E191C"/>
                </a:solidFill>
                <a:latin typeface="Noto Sans"/>
              </a:defRPr>
            </a:pPr>
            <a:r>
              <a:rPr>
                <a:ea typeface="Noto Sans CJK SC"/>
              </a:rPr>
              <a:t>The notice and rent provisions</a:t>
            </a:r>
          </a:p>
        </p:txBody>
      </p:sp>
      <p:sp>
        <p:nvSpPr>
          <p:cNvPr id="28" name="Rectangle 27"/>
          <p:cNvSpPr/>
          <p:nvPr/>
        </p:nvSpPr>
        <p:spPr>
          <a:xfrm>
            <a:off x="630936" y="5833872"/>
            <a:ext cx="10936224" cy="393192"/>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95528" y="5925312"/>
            <a:ext cx="10588752" cy="237744"/>
          </a:xfrm>
          <a:prstGeom prst="rect">
            <a:avLst/>
          </a:prstGeom>
          <a:noFill/>
          <a:effectLst/>
        </p:spPr>
        <p:txBody>
          <a:bodyPr wrap="square" lIns="0" rIns="0" tIns="0" bIns="0">
            <a:spAutoFit/>
          </a:bodyPr>
          <a:lstStyle/>
          <a:p>
            <a:pPr>
              <a:lnSpc>
                <a:spcPct val="113000"/>
              </a:lnSpc>
              <a:spcAft>
                <a:spcPts val="0"/>
              </a:spcAft>
              <a:defRPr sz="1150" b="0">
                <a:solidFill>
                  <a:srgbClr val="7A202C"/>
                </a:solidFill>
                <a:latin typeface="Noto Sans"/>
              </a:defRPr>
            </a:pPr>
            <a:r>
              <a:rPr>
                <a:ea typeface="Noto Sans CJK SC"/>
              </a:rPr>
              <a:t>Review prompts provide structure; they are not findings of fact.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621792" y="6437376"/>
            <a:ext cx="10945368"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630936" y="6556248"/>
            <a:ext cx="5486400" cy="237744"/>
          </a:xfrm>
          <a:prstGeom prst="rect">
            <a:avLst/>
          </a:prstGeom>
          <a:noFill/>
          <a:effectLst/>
        </p:spPr>
        <p:txBody>
          <a:bodyPr wrap="square" lIns="0" rIns="0" tIns="0" bIns="0">
            <a:spAutoFit/>
          </a:bodyPr>
          <a:lstStyle/>
          <a:p>
            <a:pPr>
              <a:lnSpc>
                <a:spcPct val="113000"/>
              </a:lnSpc>
              <a:spcAft>
                <a:spcPts val="0"/>
              </a:spcAft>
              <a:defRPr sz="800" b="1">
                <a:solidFill>
                  <a:srgbClr val="666064"/>
                </a:solidFill>
                <a:latin typeface="Noto Sans"/>
              </a:defRPr>
            </a:pPr>
            <a:r>
              <a:rPr>
                <a:ea typeface="Noto Sans CJK SC"/>
              </a:rPr>
              <a:t>5957  /  TENANCY DISPUTE</a:t>
            </a:r>
          </a:p>
        </p:txBody>
      </p:sp>
      <p:sp>
        <p:nvSpPr>
          <p:cNvPr id="4" name="TextBox 3"/>
          <p:cNvSpPr txBox="1"/>
          <p:nvPr/>
        </p:nvSpPr>
        <p:spPr>
          <a:xfrm>
            <a:off x="10149840" y="6537960"/>
            <a:ext cx="1399032" cy="201168"/>
          </a:xfrm>
          <a:prstGeom prst="rect">
            <a:avLst/>
          </a:prstGeom>
          <a:noFill/>
          <a:effectLst/>
        </p:spPr>
        <p:txBody>
          <a:bodyPr wrap="square" lIns="0" rIns="0" tIns="0" bIns="0">
            <a:spAutoFit/>
          </a:bodyPr>
          <a:lstStyle/>
          <a:p>
            <a:pPr algn="r">
              <a:lnSpc>
                <a:spcPct val="113000"/>
              </a:lnSpc>
              <a:spcAft>
                <a:spcPts val="0"/>
              </a:spcAft>
              <a:defRPr sz="800" b="0">
                <a:solidFill>
                  <a:srgbClr val="666064"/>
                </a:solidFill>
                <a:latin typeface="Noto Sans"/>
              </a:defRPr>
            </a:pPr>
            <a:r>
              <a:rPr>
                <a:ea typeface="Noto Sans CJK SC"/>
              </a:rPr>
              <a:t>25  /  30</a:t>
            </a:r>
          </a:p>
        </p:txBody>
      </p:sp>
      <p:sp>
        <p:nvSpPr>
          <p:cNvPr id="5" name="TextBox 4"/>
          <p:cNvSpPr txBox="1"/>
          <p:nvPr/>
        </p:nvSpPr>
        <p:spPr>
          <a:xfrm>
            <a:off x="630936" y="347472"/>
            <a:ext cx="9144000" cy="237744"/>
          </a:xfrm>
          <a:prstGeom prst="rect">
            <a:avLst/>
          </a:prstGeom>
          <a:noFill/>
          <a:effectLst/>
        </p:spPr>
        <p:txBody>
          <a:bodyPr wrap="square" lIns="0" rIns="0" tIns="0" bIns="0">
            <a:spAutoFit/>
          </a:bodyPr>
          <a:lstStyle/>
          <a:p>
            <a:pPr>
              <a:lnSpc>
                <a:spcPct val="113000"/>
              </a:lnSpc>
              <a:spcAft>
                <a:spcPts val="0"/>
              </a:spcAft>
              <a:defRPr sz="900" b="1">
                <a:solidFill>
                  <a:srgbClr val="A34450"/>
                </a:solidFill>
                <a:latin typeface="Noto Sans"/>
              </a:defRPr>
            </a:pPr>
            <a:r>
              <a:rPr>
                <a:ea typeface="Noto Sans CJK SC"/>
              </a:rPr>
              <a:t>CASE / AUTHORITY TEMPLATE</a:t>
            </a:r>
          </a:p>
        </p:txBody>
      </p:sp>
      <p:sp>
        <p:nvSpPr>
          <p:cNvPr id="6" name="TextBox 5"/>
          <p:cNvSpPr txBox="1"/>
          <p:nvPr/>
        </p:nvSpPr>
        <p:spPr>
          <a:xfrm>
            <a:off x="603504" y="758952"/>
            <a:ext cx="10972800" cy="612648"/>
          </a:xfrm>
          <a:prstGeom prst="rect">
            <a:avLst/>
          </a:prstGeom>
          <a:noFill/>
          <a:effectLst/>
        </p:spPr>
        <p:txBody>
          <a:bodyPr wrap="square" lIns="0" rIns="0" tIns="0" bIns="0">
            <a:spAutoFit/>
          </a:bodyPr>
          <a:lstStyle/>
          <a:p>
            <a:pPr>
              <a:lnSpc>
                <a:spcPct val="113000"/>
              </a:lnSpc>
              <a:spcAft>
                <a:spcPts val="0"/>
              </a:spcAft>
              <a:defRPr sz="3000" b="0">
                <a:solidFill>
                  <a:srgbClr val="7A202C"/>
                </a:solidFill>
                <a:latin typeface="Noto Serif"/>
              </a:defRPr>
            </a:pPr>
            <a:r>
              <a:rPr>
                <a:ea typeface="Noto Sans CJK SC"/>
              </a:rPr>
              <a:t>Authority and application</a:t>
            </a:r>
          </a:p>
        </p:txBody>
      </p:sp>
      <p:cxnSp>
        <p:nvCxnSpPr>
          <p:cNvPr id="7" name="Connector 6"/>
          <p:cNvCxnSpPr/>
          <p:nvPr/>
        </p:nvCxnSpPr>
        <p:spPr>
          <a:xfrm>
            <a:off x="621792" y="1490472"/>
            <a:ext cx="10945368" cy="0"/>
          </a:xfrm>
          <a:prstGeom prst="line">
            <a:avLst/>
          </a:prstGeom>
          <a:ln w="10795">
            <a:solidFill>
              <a:srgbClr val="D4A59A"/>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630936" y="1645920"/>
            <a:ext cx="10927080" cy="512064"/>
          </a:xfrm>
          <a:prstGeom prst="rect">
            <a:avLst/>
          </a:prstGeom>
          <a:noFill/>
          <a:effectLst/>
        </p:spPr>
        <p:txBody>
          <a:bodyPr wrap="square" lIns="0" rIns="0" tIns="0" bIns="0">
            <a:spAutoFit/>
          </a:bodyPr>
          <a:lstStyle/>
          <a:p>
            <a:pPr>
              <a:lnSpc>
                <a:spcPct val="113000"/>
              </a:lnSpc>
              <a:spcAft>
                <a:spcPts val="0"/>
              </a:spcAft>
              <a:defRPr sz="1300" b="0">
                <a:solidFill>
                  <a:srgbClr val="666064"/>
                </a:solidFill>
                <a:latin typeface="Noto Sans"/>
              </a:defRPr>
            </a:pPr>
            <a:r>
              <a:rPr>
                <a:ea typeface="Noto Sans CJK SC"/>
              </a:rPr>
              <a:t>Insert a verified authority rather than treating this page as a supplied legal citation.</a:t>
            </a:r>
          </a:p>
        </p:txBody>
      </p:sp>
      <p:sp>
        <p:nvSpPr>
          <p:cNvPr id="9" name="Rectangle 8"/>
          <p:cNvSpPr/>
          <p:nvPr/>
        </p:nvSpPr>
        <p:spPr>
          <a:xfrm>
            <a:off x="630936" y="2148840"/>
            <a:ext cx="3666744" cy="3566160"/>
          </a:xfrm>
          <a:prstGeom prst="rect">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86968" y="2450592"/>
            <a:ext cx="3108960" cy="237744"/>
          </a:xfrm>
          <a:prstGeom prst="rect">
            <a:avLst/>
          </a:prstGeom>
          <a:noFill/>
          <a:effectLst/>
        </p:spPr>
        <p:txBody>
          <a:bodyPr wrap="square" lIns="0" rIns="0" tIns="0" bIns="0">
            <a:spAutoFit/>
          </a:bodyPr>
          <a:lstStyle/>
          <a:p>
            <a:pPr>
              <a:lnSpc>
                <a:spcPct val="113000"/>
              </a:lnSpc>
              <a:spcAft>
                <a:spcPts val="0"/>
              </a:spcAft>
              <a:defRPr sz="1000" b="1">
                <a:solidFill>
                  <a:srgbClr val="E6BEC5"/>
                </a:solidFill>
                <a:latin typeface="Noto Sans"/>
              </a:defRPr>
            </a:pPr>
            <a:r>
              <a:rPr>
                <a:ea typeface="Noto Sans CJK SC"/>
              </a:rPr>
              <a:t>AUTHORITY</a:t>
            </a:r>
          </a:p>
        </p:txBody>
      </p:sp>
      <p:sp>
        <p:nvSpPr>
          <p:cNvPr id="11" name="TextBox 10"/>
          <p:cNvSpPr txBox="1"/>
          <p:nvPr/>
        </p:nvSpPr>
        <p:spPr>
          <a:xfrm>
            <a:off x="868680" y="3063240"/>
            <a:ext cx="3136392" cy="1298448"/>
          </a:xfrm>
          <a:prstGeom prst="rect">
            <a:avLst/>
          </a:prstGeom>
          <a:noFill/>
          <a:effectLst/>
        </p:spPr>
        <p:txBody>
          <a:bodyPr wrap="square" lIns="0" rIns="0" tIns="0" bIns="0">
            <a:spAutoFit/>
          </a:bodyPr>
          <a:lstStyle/>
          <a:p>
            <a:pPr>
              <a:lnSpc>
                <a:spcPct val="113000"/>
              </a:lnSpc>
              <a:spcAft>
                <a:spcPts val="0"/>
              </a:spcAft>
              <a:defRPr sz="2900" b="0">
                <a:solidFill>
                  <a:srgbClr val="FFFFFF"/>
                </a:solidFill>
                <a:latin typeface="Noto Serif"/>
              </a:defRPr>
            </a:pPr>
            <a:r>
              <a:rPr>
                <a:ea typeface="Noto Sans CJK SC"/>
              </a:rPr>
              <a:t>[Case name</a:t>
            </a:r>
          </a:p>
          <a:p>
            <a:pPr>
              <a:lnSpc>
                <a:spcPct val="113000"/>
              </a:lnSpc>
              <a:spcAft>
                <a:spcPts val="0"/>
              </a:spcAft>
              <a:defRPr sz="2900" b="0">
                <a:solidFill>
                  <a:srgbClr val="FFFFFF"/>
                </a:solidFill>
                <a:latin typeface="Noto Serif"/>
              </a:defRPr>
            </a:pPr>
            <a:r>
              <a:rPr>
                <a:ea typeface="Noto Sans CJK SC"/>
              </a:rPr>
              <a:t>or statute]</a:t>
            </a:r>
          </a:p>
        </p:txBody>
      </p:sp>
      <p:sp>
        <p:nvSpPr>
          <p:cNvPr id="12" name="TextBox 11"/>
          <p:cNvSpPr txBox="1"/>
          <p:nvPr/>
        </p:nvSpPr>
        <p:spPr>
          <a:xfrm>
            <a:off x="896112" y="5056632"/>
            <a:ext cx="3081528" cy="448056"/>
          </a:xfrm>
          <a:prstGeom prst="rect">
            <a:avLst/>
          </a:prstGeom>
          <a:noFill/>
          <a:effectLst/>
        </p:spPr>
        <p:txBody>
          <a:bodyPr wrap="square" lIns="0" rIns="0" tIns="0" bIns="0">
            <a:spAutoFit/>
          </a:bodyPr>
          <a:lstStyle/>
          <a:p>
            <a:pPr>
              <a:lnSpc>
                <a:spcPct val="113000"/>
              </a:lnSpc>
              <a:spcAft>
                <a:spcPts val="0"/>
              </a:spcAft>
              <a:defRPr sz="1300" b="0">
                <a:solidFill>
                  <a:srgbClr val="E9CDD2"/>
                </a:solidFill>
                <a:latin typeface="Noto Sans"/>
              </a:defRPr>
            </a:pPr>
            <a:r>
              <a:rPr>
                <a:ea typeface="Noto Sans CJK SC"/>
              </a:rPr>
              <a:t>[Citation / section / paragraph]</a:t>
            </a:r>
          </a:p>
        </p:txBody>
      </p:sp>
      <p:sp>
        <p:nvSpPr>
          <p:cNvPr id="13" name="TextBox 12"/>
          <p:cNvSpPr txBox="1"/>
          <p:nvPr/>
        </p:nvSpPr>
        <p:spPr>
          <a:xfrm>
            <a:off x="4846320" y="2267712"/>
            <a:ext cx="6217920" cy="237744"/>
          </a:xfrm>
          <a:prstGeom prst="rect">
            <a:avLst/>
          </a:prstGeom>
          <a:noFill/>
          <a:effectLst/>
        </p:spPr>
        <p:txBody>
          <a:bodyPr wrap="square" lIns="0" rIns="0" tIns="0" bIns="0">
            <a:spAutoFit/>
          </a:bodyPr>
          <a:lstStyle/>
          <a:p>
            <a:pPr>
              <a:lnSpc>
                <a:spcPct val="113000"/>
              </a:lnSpc>
              <a:spcAft>
                <a:spcPts val="0"/>
              </a:spcAft>
              <a:defRPr sz="1000" b="1">
                <a:solidFill>
                  <a:srgbClr val="A34450"/>
                </a:solidFill>
                <a:latin typeface="Noto Sans"/>
              </a:defRPr>
            </a:pPr>
            <a:r>
              <a:rPr>
                <a:ea typeface="Noto Sans CJK SC"/>
              </a:rPr>
              <a:t>PRINCIPLE</a:t>
            </a:r>
          </a:p>
        </p:txBody>
      </p:sp>
      <p:sp>
        <p:nvSpPr>
          <p:cNvPr id="14" name="TextBox 13"/>
          <p:cNvSpPr txBox="1"/>
          <p:nvPr/>
        </p:nvSpPr>
        <p:spPr>
          <a:xfrm>
            <a:off x="4846320" y="2660904"/>
            <a:ext cx="6492240" cy="658368"/>
          </a:xfrm>
          <a:prstGeom prst="rect">
            <a:avLst/>
          </a:prstGeom>
          <a:noFill/>
          <a:effectLst/>
        </p:spPr>
        <p:txBody>
          <a:bodyPr wrap="square" lIns="0" rIns="0" tIns="0" bIns="0">
            <a:spAutoFit/>
          </a:bodyPr>
          <a:lstStyle/>
          <a:p>
            <a:pPr>
              <a:lnSpc>
                <a:spcPct val="113000"/>
              </a:lnSpc>
              <a:spcAft>
                <a:spcPts val="0"/>
              </a:spcAft>
              <a:defRPr sz="1800" b="0">
                <a:solidFill>
                  <a:srgbClr val="1E191C"/>
                </a:solidFill>
                <a:latin typeface="Noto Sans"/>
              </a:defRPr>
            </a:pPr>
            <a:r>
              <a:rPr>
                <a:ea typeface="Noto Sans CJK SC"/>
              </a:rPr>
              <a:t>[Insert the relevant legal proposition.]</a:t>
            </a:r>
          </a:p>
        </p:txBody>
      </p:sp>
      <p:sp>
        <p:nvSpPr>
          <p:cNvPr id="15" name="TextBox 14"/>
          <p:cNvSpPr txBox="1"/>
          <p:nvPr/>
        </p:nvSpPr>
        <p:spPr>
          <a:xfrm>
            <a:off x="4846320" y="3493008"/>
            <a:ext cx="6217920" cy="237744"/>
          </a:xfrm>
          <a:prstGeom prst="rect">
            <a:avLst/>
          </a:prstGeom>
          <a:noFill/>
          <a:effectLst/>
        </p:spPr>
        <p:txBody>
          <a:bodyPr wrap="square" lIns="0" rIns="0" tIns="0" bIns="0">
            <a:spAutoFit/>
          </a:bodyPr>
          <a:lstStyle/>
          <a:p>
            <a:pPr>
              <a:lnSpc>
                <a:spcPct val="113000"/>
              </a:lnSpc>
              <a:spcAft>
                <a:spcPts val="0"/>
              </a:spcAft>
              <a:defRPr sz="1000" b="1">
                <a:solidFill>
                  <a:srgbClr val="A34450"/>
                </a:solidFill>
                <a:latin typeface="Noto Sans"/>
              </a:defRPr>
            </a:pPr>
            <a:r>
              <a:rPr>
                <a:ea typeface="Noto Sans CJK SC"/>
              </a:rPr>
              <a:t>APPLICATION</a:t>
            </a:r>
          </a:p>
        </p:txBody>
      </p:sp>
      <p:sp>
        <p:nvSpPr>
          <p:cNvPr id="16" name="TextBox 15"/>
          <p:cNvSpPr txBox="1"/>
          <p:nvPr/>
        </p:nvSpPr>
        <p:spPr>
          <a:xfrm>
            <a:off x="4846320" y="3886200"/>
            <a:ext cx="6492240" cy="658368"/>
          </a:xfrm>
          <a:prstGeom prst="rect">
            <a:avLst/>
          </a:prstGeom>
          <a:noFill/>
          <a:effectLst/>
        </p:spPr>
        <p:txBody>
          <a:bodyPr wrap="square" lIns="0" rIns="0" tIns="0" bIns="0">
            <a:spAutoFit/>
          </a:bodyPr>
          <a:lstStyle/>
          <a:p>
            <a:pPr>
              <a:lnSpc>
                <a:spcPct val="113000"/>
              </a:lnSpc>
              <a:spcAft>
                <a:spcPts val="0"/>
              </a:spcAft>
              <a:defRPr sz="1800" b="0">
                <a:solidFill>
                  <a:srgbClr val="1E191C"/>
                </a:solidFill>
                <a:latin typeface="Noto Sans"/>
              </a:defRPr>
            </a:pPr>
            <a:r>
              <a:rPr>
                <a:ea typeface="Noto Sans CJK SC"/>
              </a:rPr>
              <a:t>[Explain how it relates to the tenancy facts.]</a:t>
            </a:r>
          </a:p>
        </p:txBody>
      </p:sp>
      <p:sp>
        <p:nvSpPr>
          <p:cNvPr id="17" name="TextBox 16"/>
          <p:cNvSpPr txBox="1"/>
          <p:nvPr/>
        </p:nvSpPr>
        <p:spPr>
          <a:xfrm>
            <a:off x="4846320" y="4718304"/>
            <a:ext cx="6217920" cy="237744"/>
          </a:xfrm>
          <a:prstGeom prst="rect">
            <a:avLst/>
          </a:prstGeom>
          <a:noFill/>
          <a:effectLst/>
        </p:spPr>
        <p:txBody>
          <a:bodyPr wrap="square" lIns="0" rIns="0" tIns="0" bIns="0">
            <a:spAutoFit/>
          </a:bodyPr>
          <a:lstStyle/>
          <a:p>
            <a:pPr>
              <a:lnSpc>
                <a:spcPct val="113000"/>
              </a:lnSpc>
              <a:spcAft>
                <a:spcPts val="0"/>
              </a:spcAft>
              <a:defRPr sz="1000" b="1">
                <a:solidFill>
                  <a:srgbClr val="A34450"/>
                </a:solidFill>
                <a:latin typeface="Noto Sans"/>
              </a:defRPr>
            </a:pPr>
            <a:r>
              <a:rPr>
                <a:ea typeface="Noto Sans CJK SC"/>
              </a:rPr>
              <a:t>QUALIFICATION</a:t>
            </a:r>
          </a:p>
        </p:txBody>
      </p:sp>
      <p:sp>
        <p:nvSpPr>
          <p:cNvPr id="18" name="TextBox 17"/>
          <p:cNvSpPr txBox="1"/>
          <p:nvPr/>
        </p:nvSpPr>
        <p:spPr>
          <a:xfrm>
            <a:off x="4846320" y="5111496"/>
            <a:ext cx="6492240" cy="658368"/>
          </a:xfrm>
          <a:prstGeom prst="rect">
            <a:avLst/>
          </a:prstGeom>
          <a:noFill/>
          <a:effectLst/>
        </p:spPr>
        <p:txBody>
          <a:bodyPr wrap="square" lIns="0" rIns="0" tIns="0" bIns="0">
            <a:spAutoFit/>
          </a:bodyPr>
          <a:lstStyle/>
          <a:p>
            <a:pPr>
              <a:lnSpc>
                <a:spcPct val="113000"/>
              </a:lnSpc>
              <a:spcAft>
                <a:spcPts val="0"/>
              </a:spcAft>
              <a:defRPr sz="1800" b="0">
                <a:solidFill>
                  <a:srgbClr val="1E191C"/>
                </a:solidFill>
                <a:latin typeface="Noto Sans"/>
              </a:defRPr>
            </a:pPr>
            <a:r>
              <a:rPr>
                <a:ea typeface="Noto Sans CJK SC"/>
              </a:rPr>
              <a:t>[Identify any distinction, limit or condition.]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621792" y="6437376"/>
            <a:ext cx="10945368"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630936" y="6556248"/>
            <a:ext cx="5486400" cy="237744"/>
          </a:xfrm>
          <a:prstGeom prst="rect">
            <a:avLst/>
          </a:prstGeom>
          <a:noFill/>
          <a:effectLst/>
        </p:spPr>
        <p:txBody>
          <a:bodyPr wrap="square" lIns="0" rIns="0" tIns="0" bIns="0">
            <a:spAutoFit/>
          </a:bodyPr>
          <a:lstStyle/>
          <a:p>
            <a:pPr>
              <a:lnSpc>
                <a:spcPct val="113000"/>
              </a:lnSpc>
              <a:spcAft>
                <a:spcPts val="0"/>
              </a:spcAft>
              <a:defRPr sz="800" b="1">
                <a:solidFill>
                  <a:srgbClr val="666064"/>
                </a:solidFill>
                <a:latin typeface="Noto Sans"/>
              </a:defRPr>
            </a:pPr>
            <a:r>
              <a:rPr>
                <a:ea typeface="Noto Sans CJK SC"/>
              </a:rPr>
              <a:t>5957  /  TENANCY DISPUTE</a:t>
            </a:r>
          </a:p>
        </p:txBody>
      </p:sp>
      <p:sp>
        <p:nvSpPr>
          <p:cNvPr id="4" name="TextBox 3"/>
          <p:cNvSpPr txBox="1"/>
          <p:nvPr/>
        </p:nvSpPr>
        <p:spPr>
          <a:xfrm>
            <a:off x="10149840" y="6537960"/>
            <a:ext cx="1399032" cy="201168"/>
          </a:xfrm>
          <a:prstGeom prst="rect">
            <a:avLst/>
          </a:prstGeom>
          <a:noFill/>
          <a:effectLst/>
        </p:spPr>
        <p:txBody>
          <a:bodyPr wrap="square" lIns="0" rIns="0" tIns="0" bIns="0">
            <a:spAutoFit/>
          </a:bodyPr>
          <a:lstStyle/>
          <a:p>
            <a:pPr algn="r">
              <a:lnSpc>
                <a:spcPct val="113000"/>
              </a:lnSpc>
              <a:spcAft>
                <a:spcPts val="0"/>
              </a:spcAft>
              <a:defRPr sz="800" b="0">
                <a:solidFill>
                  <a:srgbClr val="666064"/>
                </a:solidFill>
                <a:latin typeface="Noto Sans"/>
              </a:defRPr>
            </a:pPr>
            <a:r>
              <a:rPr>
                <a:ea typeface="Noto Sans CJK SC"/>
              </a:rPr>
              <a:t>26  /  30</a:t>
            </a:r>
          </a:p>
        </p:txBody>
      </p:sp>
      <p:sp>
        <p:nvSpPr>
          <p:cNvPr id="5" name="TextBox 4"/>
          <p:cNvSpPr txBox="1"/>
          <p:nvPr/>
        </p:nvSpPr>
        <p:spPr>
          <a:xfrm>
            <a:off x="630936" y="347472"/>
            <a:ext cx="9144000" cy="237744"/>
          </a:xfrm>
          <a:prstGeom prst="rect">
            <a:avLst/>
          </a:prstGeom>
          <a:noFill/>
          <a:effectLst/>
        </p:spPr>
        <p:txBody>
          <a:bodyPr wrap="square" lIns="0" rIns="0" tIns="0" bIns="0">
            <a:spAutoFit/>
          </a:bodyPr>
          <a:lstStyle/>
          <a:p>
            <a:pPr>
              <a:lnSpc>
                <a:spcPct val="113000"/>
              </a:lnSpc>
              <a:spcAft>
                <a:spcPts val="0"/>
              </a:spcAft>
              <a:defRPr sz="900" b="1">
                <a:solidFill>
                  <a:srgbClr val="A34450"/>
                </a:solidFill>
                <a:latin typeface="Noto Sans"/>
              </a:defRPr>
            </a:pPr>
            <a:r>
              <a:rPr>
                <a:ea typeface="Noto Sans CJK SC"/>
              </a:rPr>
              <a:t>OPTIONS TEMPLATE</a:t>
            </a:r>
          </a:p>
        </p:txBody>
      </p:sp>
      <p:sp>
        <p:nvSpPr>
          <p:cNvPr id="6" name="TextBox 5"/>
          <p:cNvSpPr txBox="1"/>
          <p:nvPr/>
        </p:nvSpPr>
        <p:spPr>
          <a:xfrm>
            <a:off x="603504" y="758952"/>
            <a:ext cx="10972800" cy="612648"/>
          </a:xfrm>
          <a:prstGeom prst="rect">
            <a:avLst/>
          </a:prstGeom>
          <a:noFill/>
          <a:effectLst/>
        </p:spPr>
        <p:txBody>
          <a:bodyPr wrap="square" lIns="0" rIns="0" tIns="0" bIns="0">
            <a:spAutoFit/>
          </a:bodyPr>
          <a:lstStyle/>
          <a:p>
            <a:pPr>
              <a:lnSpc>
                <a:spcPct val="113000"/>
              </a:lnSpc>
              <a:spcAft>
                <a:spcPts val="0"/>
              </a:spcAft>
              <a:defRPr sz="3000" b="0">
                <a:solidFill>
                  <a:srgbClr val="7A202C"/>
                </a:solidFill>
                <a:latin typeface="Noto Serif"/>
              </a:defRPr>
            </a:pPr>
            <a:r>
              <a:rPr>
                <a:ea typeface="Noto Sans CJK SC"/>
              </a:rPr>
              <a:t>Options and implications</a:t>
            </a:r>
          </a:p>
        </p:txBody>
      </p:sp>
      <p:cxnSp>
        <p:nvCxnSpPr>
          <p:cNvPr id="7" name="Connector 6"/>
          <p:cNvCxnSpPr/>
          <p:nvPr/>
        </p:nvCxnSpPr>
        <p:spPr>
          <a:xfrm>
            <a:off x="621792" y="1490472"/>
            <a:ext cx="10945368" cy="0"/>
          </a:xfrm>
          <a:prstGeom prst="line">
            <a:avLst/>
          </a:prstGeom>
          <a:ln w="10795">
            <a:solidFill>
              <a:srgbClr val="D4A59A"/>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630936" y="1645920"/>
            <a:ext cx="10927080" cy="512064"/>
          </a:xfrm>
          <a:prstGeom prst="rect">
            <a:avLst/>
          </a:prstGeom>
          <a:noFill/>
          <a:effectLst/>
        </p:spPr>
        <p:txBody>
          <a:bodyPr wrap="square" lIns="0" rIns="0" tIns="0" bIns="0">
            <a:spAutoFit/>
          </a:bodyPr>
          <a:lstStyle/>
          <a:p>
            <a:pPr>
              <a:lnSpc>
                <a:spcPct val="113000"/>
              </a:lnSpc>
              <a:spcAft>
                <a:spcPts val="0"/>
              </a:spcAft>
              <a:defRPr sz="1300" b="0">
                <a:solidFill>
                  <a:srgbClr val="666064"/>
                </a:solidFill>
                <a:latin typeface="Noto Sans"/>
              </a:defRPr>
            </a:pPr>
            <a:r>
              <a:rPr>
                <a:ea typeface="Noto Sans CJK SC"/>
              </a:rPr>
              <a:t>Use verified analysis to replace the placeholders before presenting this page.</a:t>
            </a:r>
          </a:p>
        </p:txBody>
      </p:sp>
      <p:sp>
        <p:nvSpPr>
          <p:cNvPr id="9" name="Rectangle 8"/>
          <p:cNvSpPr/>
          <p:nvPr/>
        </p:nvSpPr>
        <p:spPr>
          <a:xfrm>
            <a:off x="630936" y="2148840"/>
            <a:ext cx="3447288" cy="3794760"/>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68680" y="2404872"/>
            <a:ext cx="914400" cy="685800"/>
          </a:xfrm>
          <a:prstGeom prst="rect">
            <a:avLst/>
          </a:prstGeom>
          <a:noFill/>
          <a:effectLst/>
        </p:spPr>
        <p:txBody>
          <a:bodyPr wrap="square" lIns="0" rIns="0" tIns="0" bIns="0">
            <a:spAutoFit/>
          </a:bodyPr>
          <a:lstStyle/>
          <a:p>
            <a:pPr>
              <a:lnSpc>
                <a:spcPct val="113000"/>
              </a:lnSpc>
              <a:spcAft>
                <a:spcPts val="0"/>
              </a:spcAft>
              <a:defRPr sz="3700" b="0">
                <a:solidFill>
                  <a:srgbClr val="A34450"/>
                </a:solidFill>
                <a:latin typeface="Noto Serif"/>
              </a:defRPr>
            </a:pPr>
            <a:r>
              <a:rPr>
                <a:ea typeface="Noto Sans CJK SC"/>
              </a:rPr>
              <a:t>A</a:t>
            </a:r>
          </a:p>
        </p:txBody>
      </p:sp>
      <p:sp>
        <p:nvSpPr>
          <p:cNvPr id="11" name="TextBox 10"/>
          <p:cNvSpPr txBox="1"/>
          <p:nvPr/>
        </p:nvSpPr>
        <p:spPr>
          <a:xfrm>
            <a:off x="877824" y="3300984"/>
            <a:ext cx="2935224" cy="502920"/>
          </a:xfrm>
          <a:prstGeom prst="rect">
            <a:avLst/>
          </a:prstGeom>
          <a:noFill/>
          <a:effectLst/>
        </p:spPr>
        <p:txBody>
          <a:bodyPr wrap="square" lIns="0" rIns="0" tIns="0" bIns="0">
            <a:spAutoFit/>
          </a:bodyPr>
          <a:lstStyle/>
          <a:p>
            <a:pPr>
              <a:lnSpc>
                <a:spcPct val="113000"/>
              </a:lnSpc>
              <a:spcAft>
                <a:spcPts val="0"/>
              </a:spcAft>
              <a:defRPr sz="2300" b="0">
                <a:solidFill>
                  <a:srgbClr val="7A202C"/>
                </a:solidFill>
                <a:latin typeface="Noto Serif"/>
              </a:defRPr>
            </a:pPr>
            <a:r>
              <a:rPr>
                <a:ea typeface="Noto Sans CJK SC"/>
              </a:rPr>
              <a:t>[Option one]</a:t>
            </a:r>
          </a:p>
        </p:txBody>
      </p:sp>
      <p:sp>
        <p:nvSpPr>
          <p:cNvPr id="12" name="TextBox 11"/>
          <p:cNvSpPr txBox="1"/>
          <p:nvPr/>
        </p:nvSpPr>
        <p:spPr>
          <a:xfrm>
            <a:off x="886968" y="4105656"/>
            <a:ext cx="2834640" cy="237744"/>
          </a:xfrm>
          <a:prstGeom prst="rect">
            <a:avLst/>
          </a:prstGeom>
          <a:noFill/>
          <a:effectLst/>
        </p:spPr>
        <p:txBody>
          <a:bodyPr wrap="square" lIns="0" rIns="0" tIns="0" bIns="0">
            <a:spAutoFit/>
          </a:bodyPr>
          <a:lstStyle/>
          <a:p>
            <a:pPr>
              <a:lnSpc>
                <a:spcPct val="113000"/>
              </a:lnSpc>
              <a:spcAft>
                <a:spcPts val="0"/>
              </a:spcAft>
              <a:defRPr sz="900" b="1">
                <a:solidFill>
                  <a:srgbClr val="A34450"/>
                </a:solidFill>
                <a:latin typeface="Noto Sans"/>
              </a:defRPr>
            </a:pPr>
            <a:r>
              <a:rPr>
                <a:ea typeface="Noto Sans CJK SC"/>
              </a:rPr>
              <a:t>REQUIREMENT</a:t>
            </a:r>
          </a:p>
        </p:txBody>
      </p:sp>
      <p:sp>
        <p:nvSpPr>
          <p:cNvPr id="13" name="TextBox 12"/>
          <p:cNvSpPr txBox="1"/>
          <p:nvPr/>
        </p:nvSpPr>
        <p:spPr>
          <a:xfrm>
            <a:off x="886968" y="4443984"/>
            <a:ext cx="2907792" cy="594360"/>
          </a:xfrm>
          <a:prstGeom prst="rect">
            <a:avLst/>
          </a:prstGeom>
          <a:noFill/>
          <a:effectLst/>
        </p:spPr>
        <p:txBody>
          <a:bodyPr wrap="square" lIns="0" rIns="0" tIns="0" bIns="0">
            <a:spAutoFit/>
          </a:bodyPr>
          <a:lstStyle/>
          <a:p>
            <a:pPr>
              <a:lnSpc>
                <a:spcPct val="113000"/>
              </a:lnSpc>
              <a:spcAft>
                <a:spcPts val="0"/>
              </a:spcAft>
              <a:defRPr sz="1500" b="0">
                <a:solidFill>
                  <a:srgbClr val="1E191C"/>
                </a:solidFill>
                <a:latin typeface="Noto Sans"/>
              </a:defRPr>
            </a:pPr>
            <a:r>
              <a:rPr>
                <a:ea typeface="Noto Sans CJK SC"/>
              </a:rPr>
              <a:t>[What must be established?]</a:t>
            </a:r>
          </a:p>
        </p:txBody>
      </p:sp>
      <p:sp>
        <p:nvSpPr>
          <p:cNvPr id="14" name="TextBox 13"/>
          <p:cNvSpPr txBox="1"/>
          <p:nvPr/>
        </p:nvSpPr>
        <p:spPr>
          <a:xfrm>
            <a:off x="886968" y="5230368"/>
            <a:ext cx="2834640" cy="237744"/>
          </a:xfrm>
          <a:prstGeom prst="rect">
            <a:avLst/>
          </a:prstGeom>
          <a:noFill/>
          <a:effectLst/>
        </p:spPr>
        <p:txBody>
          <a:bodyPr wrap="square" lIns="0" rIns="0" tIns="0" bIns="0">
            <a:spAutoFit/>
          </a:bodyPr>
          <a:lstStyle/>
          <a:p>
            <a:pPr>
              <a:lnSpc>
                <a:spcPct val="113000"/>
              </a:lnSpc>
              <a:spcAft>
                <a:spcPts val="0"/>
              </a:spcAft>
              <a:defRPr sz="900" b="1">
                <a:solidFill>
                  <a:srgbClr val="A34450"/>
                </a:solidFill>
                <a:latin typeface="Noto Sans"/>
              </a:defRPr>
            </a:pPr>
            <a:r>
              <a:rPr>
                <a:ea typeface="Noto Sans CJK SC"/>
              </a:rPr>
              <a:t>IMPLICATION</a:t>
            </a:r>
          </a:p>
        </p:txBody>
      </p:sp>
      <p:sp>
        <p:nvSpPr>
          <p:cNvPr id="15" name="TextBox 14"/>
          <p:cNvSpPr txBox="1"/>
          <p:nvPr/>
        </p:nvSpPr>
        <p:spPr>
          <a:xfrm>
            <a:off x="886968" y="5568696"/>
            <a:ext cx="2907792" cy="292608"/>
          </a:xfrm>
          <a:prstGeom prst="rect">
            <a:avLst/>
          </a:prstGeom>
          <a:noFill/>
          <a:effectLst/>
        </p:spPr>
        <p:txBody>
          <a:bodyPr wrap="square" lIns="0" rIns="0" tIns="0" bIns="0">
            <a:spAutoFit/>
          </a:bodyPr>
          <a:lstStyle/>
          <a:p>
            <a:pPr>
              <a:lnSpc>
                <a:spcPct val="113000"/>
              </a:lnSpc>
              <a:spcAft>
                <a:spcPts val="0"/>
              </a:spcAft>
              <a:defRPr sz="1300" b="0">
                <a:solidFill>
                  <a:srgbClr val="1E191C"/>
                </a:solidFill>
                <a:latin typeface="Noto Sans"/>
              </a:defRPr>
            </a:pPr>
            <a:r>
              <a:rPr>
                <a:ea typeface="Noto Sans CJK SC"/>
              </a:rPr>
              <a:t>[What follows if satisfied?]</a:t>
            </a:r>
          </a:p>
        </p:txBody>
      </p:sp>
      <p:sp>
        <p:nvSpPr>
          <p:cNvPr id="16" name="Rectangle 15"/>
          <p:cNvSpPr/>
          <p:nvPr/>
        </p:nvSpPr>
        <p:spPr>
          <a:xfrm>
            <a:off x="4370832" y="2148840"/>
            <a:ext cx="3447288" cy="3794760"/>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608576" y="2404872"/>
            <a:ext cx="914400" cy="685800"/>
          </a:xfrm>
          <a:prstGeom prst="rect">
            <a:avLst/>
          </a:prstGeom>
          <a:noFill/>
          <a:effectLst/>
        </p:spPr>
        <p:txBody>
          <a:bodyPr wrap="square" lIns="0" rIns="0" tIns="0" bIns="0">
            <a:spAutoFit/>
          </a:bodyPr>
          <a:lstStyle/>
          <a:p>
            <a:pPr>
              <a:lnSpc>
                <a:spcPct val="113000"/>
              </a:lnSpc>
              <a:spcAft>
                <a:spcPts val="0"/>
              </a:spcAft>
              <a:defRPr sz="3700" b="0">
                <a:solidFill>
                  <a:srgbClr val="A34450"/>
                </a:solidFill>
                <a:latin typeface="Noto Serif"/>
              </a:defRPr>
            </a:pPr>
            <a:r>
              <a:rPr>
                <a:ea typeface="Noto Sans CJK SC"/>
              </a:rPr>
              <a:t>B</a:t>
            </a:r>
          </a:p>
        </p:txBody>
      </p:sp>
      <p:sp>
        <p:nvSpPr>
          <p:cNvPr id="18" name="TextBox 17"/>
          <p:cNvSpPr txBox="1"/>
          <p:nvPr/>
        </p:nvSpPr>
        <p:spPr>
          <a:xfrm>
            <a:off x="4617720" y="3300984"/>
            <a:ext cx="2935224" cy="502920"/>
          </a:xfrm>
          <a:prstGeom prst="rect">
            <a:avLst/>
          </a:prstGeom>
          <a:noFill/>
          <a:effectLst/>
        </p:spPr>
        <p:txBody>
          <a:bodyPr wrap="square" lIns="0" rIns="0" tIns="0" bIns="0">
            <a:spAutoFit/>
          </a:bodyPr>
          <a:lstStyle/>
          <a:p>
            <a:pPr>
              <a:lnSpc>
                <a:spcPct val="113000"/>
              </a:lnSpc>
              <a:spcAft>
                <a:spcPts val="0"/>
              </a:spcAft>
              <a:defRPr sz="2300" b="0">
                <a:solidFill>
                  <a:srgbClr val="7A202C"/>
                </a:solidFill>
                <a:latin typeface="Noto Serif"/>
              </a:defRPr>
            </a:pPr>
            <a:r>
              <a:rPr>
                <a:ea typeface="Noto Sans CJK SC"/>
              </a:rPr>
              <a:t>[Option two]</a:t>
            </a:r>
          </a:p>
        </p:txBody>
      </p:sp>
      <p:sp>
        <p:nvSpPr>
          <p:cNvPr id="19" name="TextBox 18"/>
          <p:cNvSpPr txBox="1"/>
          <p:nvPr/>
        </p:nvSpPr>
        <p:spPr>
          <a:xfrm>
            <a:off x="4626864" y="4105656"/>
            <a:ext cx="2834640" cy="237744"/>
          </a:xfrm>
          <a:prstGeom prst="rect">
            <a:avLst/>
          </a:prstGeom>
          <a:noFill/>
          <a:effectLst/>
        </p:spPr>
        <p:txBody>
          <a:bodyPr wrap="square" lIns="0" rIns="0" tIns="0" bIns="0">
            <a:spAutoFit/>
          </a:bodyPr>
          <a:lstStyle/>
          <a:p>
            <a:pPr>
              <a:lnSpc>
                <a:spcPct val="113000"/>
              </a:lnSpc>
              <a:spcAft>
                <a:spcPts val="0"/>
              </a:spcAft>
              <a:defRPr sz="900" b="1">
                <a:solidFill>
                  <a:srgbClr val="A34450"/>
                </a:solidFill>
                <a:latin typeface="Noto Sans"/>
              </a:defRPr>
            </a:pPr>
            <a:r>
              <a:rPr>
                <a:ea typeface="Noto Sans CJK SC"/>
              </a:rPr>
              <a:t>REQUIREMENT</a:t>
            </a:r>
          </a:p>
        </p:txBody>
      </p:sp>
      <p:sp>
        <p:nvSpPr>
          <p:cNvPr id="20" name="TextBox 19"/>
          <p:cNvSpPr txBox="1"/>
          <p:nvPr/>
        </p:nvSpPr>
        <p:spPr>
          <a:xfrm>
            <a:off x="4626864" y="4443984"/>
            <a:ext cx="2907792" cy="594360"/>
          </a:xfrm>
          <a:prstGeom prst="rect">
            <a:avLst/>
          </a:prstGeom>
          <a:noFill/>
          <a:effectLst/>
        </p:spPr>
        <p:txBody>
          <a:bodyPr wrap="square" lIns="0" rIns="0" tIns="0" bIns="0">
            <a:spAutoFit/>
          </a:bodyPr>
          <a:lstStyle/>
          <a:p>
            <a:pPr>
              <a:lnSpc>
                <a:spcPct val="113000"/>
              </a:lnSpc>
              <a:spcAft>
                <a:spcPts val="0"/>
              </a:spcAft>
              <a:defRPr sz="1500" b="0">
                <a:solidFill>
                  <a:srgbClr val="1E191C"/>
                </a:solidFill>
                <a:latin typeface="Noto Sans"/>
              </a:defRPr>
            </a:pPr>
            <a:r>
              <a:rPr>
                <a:ea typeface="Noto Sans CJK SC"/>
              </a:rPr>
              <a:t>[What must be established?]</a:t>
            </a:r>
          </a:p>
        </p:txBody>
      </p:sp>
      <p:sp>
        <p:nvSpPr>
          <p:cNvPr id="21" name="TextBox 20"/>
          <p:cNvSpPr txBox="1"/>
          <p:nvPr/>
        </p:nvSpPr>
        <p:spPr>
          <a:xfrm>
            <a:off x="4626864" y="5230368"/>
            <a:ext cx="2834640" cy="237744"/>
          </a:xfrm>
          <a:prstGeom prst="rect">
            <a:avLst/>
          </a:prstGeom>
          <a:noFill/>
          <a:effectLst/>
        </p:spPr>
        <p:txBody>
          <a:bodyPr wrap="square" lIns="0" rIns="0" tIns="0" bIns="0">
            <a:spAutoFit/>
          </a:bodyPr>
          <a:lstStyle/>
          <a:p>
            <a:pPr>
              <a:lnSpc>
                <a:spcPct val="113000"/>
              </a:lnSpc>
              <a:spcAft>
                <a:spcPts val="0"/>
              </a:spcAft>
              <a:defRPr sz="900" b="1">
                <a:solidFill>
                  <a:srgbClr val="A34450"/>
                </a:solidFill>
                <a:latin typeface="Noto Sans"/>
              </a:defRPr>
            </a:pPr>
            <a:r>
              <a:rPr>
                <a:ea typeface="Noto Sans CJK SC"/>
              </a:rPr>
              <a:t>IMPLICATION</a:t>
            </a:r>
          </a:p>
        </p:txBody>
      </p:sp>
      <p:sp>
        <p:nvSpPr>
          <p:cNvPr id="22" name="TextBox 21"/>
          <p:cNvSpPr txBox="1"/>
          <p:nvPr/>
        </p:nvSpPr>
        <p:spPr>
          <a:xfrm>
            <a:off x="4626864" y="5568696"/>
            <a:ext cx="2907792" cy="292608"/>
          </a:xfrm>
          <a:prstGeom prst="rect">
            <a:avLst/>
          </a:prstGeom>
          <a:noFill/>
          <a:effectLst/>
        </p:spPr>
        <p:txBody>
          <a:bodyPr wrap="square" lIns="0" rIns="0" tIns="0" bIns="0">
            <a:spAutoFit/>
          </a:bodyPr>
          <a:lstStyle/>
          <a:p>
            <a:pPr>
              <a:lnSpc>
                <a:spcPct val="113000"/>
              </a:lnSpc>
              <a:spcAft>
                <a:spcPts val="0"/>
              </a:spcAft>
              <a:defRPr sz="1300" b="0">
                <a:solidFill>
                  <a:srgbClr val="1E191C"/>
                </a:solidFill>
                <a:latin typeface="Noto Sans"/>
              </a:defRPr>
            </a:pPr>
            <a:r>
              <a:rPr>
                <a:ea typeface="Noto Sans CJK SC"/>
              </a:rPr>
              <a:t>[What follows if satisfied?]</a:t>
            </a:r>
          </a:p>
        </p:txBody>
      </p:sp>
      <p:sp>
        <p:nvSpPr>
          <p:cNvPr id="23" name="Rectangle 22"/>
          <p:cNvSpPr/>
          <p:nvPr/>
        </p:nvSpPr>
        <p:spPr>
          <a:xfrm>
            <a:off x="8110727" y="2148840"/>
            <a:ext cx="3447288" cy="3794760"/>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348471" y="2404872"/>
            <a:ext cx="914400" cy="685800"/>
          </a:xfrm>
          <a:prstGeom prst="rect">
            <a:avLst/>
          </a:prstGeom>
          <a:noFill/>
          <a:effectLst/>
        </p:spPr>
        <p:txBody>
          <a:bodyPr wrap="square" lIns="0" rIns="0" tIns="0" bIns="0">
            <a:spAutoFit/>
          </a:bodyPr>
          <a:lstStyle/>
          <a:p>
            <a:pPr>
              <a:lnSpc>
                <a:spcPct val="113000"/>
              </a:lnSpc>
              <a:spcAft>
                <a:spcPts val="0"/>
              </a:spcAft>
              <a:defRPr sz="3700" b="0">
                <a:solidFill>
                  <a:srgbClr val="A34450"/>
                </a:solidFill>
                <a:latin typeface="Noto Serif"/>
              </a:defRPr>
            </a:pPr>
            <a:r>
              <a:rPr>
                <a:ea typeface="Noto Sans CJK SC"/>
              </a:rPr>
              <a:t>C</a:t>
            </a:r>
          </a:p>
        </p:txBody>
      </p:sp>
      <p:sp>
        <p:nvSpPr>
          <p:cNvPr id="25" name="TextBox 24"/>
          <p:cNvSpPr txBox="1"/>
          <p:nvPr/>
        </p:nvSpPr>
        <p:spPr>
          <a:xfrm>
            <a:off x="8357615" y="3300984"/>
            <a:ext cx="2935224" cy="502920"/>
          </a:xfrm>
          <a:prstGeom prst="rect">
            <a:avLst/>
          </a:prstGeom>
          <a:noFill/>
          <a:effectLst/>
        </p:spPr>
        <p:txBody>
          <a:bodyPr wrap="square" lIns="0" rIns="0" tIns="0" bIns="0">
            <a:spAutoFit/>
          </a:bodyPr>
          <a:lstStyle/>
          <a:p>
            <a:pPr>
              <a:lnSpc>
                <a:spcPct val="113000"/>
              </a:lnSpc>
              <a:spcAft>
                <a:spcPts val="0"/>
              </a:spcAft>
              <a:defRPr sz="2300" b="0">
                <a:solidFill>
                  <a:srgbClr val="7A202C"/>
                </a:solidFill>
                <a:latin typeface="Noto Serif"/>
              </a:defRPr>
            </a:pPr>
            <a:r>
              <a:rPr>
                <a:ea typeface="Noto Sans CJK SC"/>
              </a:rPr>
              <a:t>[Option three]</a:t>
            </a:r>
          </a:p>
        </p:txBody>
      </p:sp>
      <p:sp>
        <p:nvSpPr>
          <p:cNvPr id="26" name="TextBox 25"/>
          <p:cNvSpPr txBox="1"/>
          <p:nvPr/>
        </p:nvSpPr>
        <p:spPr>
          <a:xfrm>
            <a:off x="8366759" y="4105656"/>
            <a:ext cx="2834640" cy="237744"/>
          </a:xfrm>
          <a:prstGeom prst="rect">
            <a:avLst/>
          </a:prstGeom>
          <a:noFill/>
          <a:effectLst/>
        </p:spPr>
        <p:txBody>
          <a:bodyPr wrap="square" lIns="0" rIns="0" tIns="0" bIns="0">
            <a:spAutoFit/>
          </a:bodyPr>
          <a:lstStyle/>
          <a:p>
            <a:pPr>
              <a:lnSpc>
                <a:spcPct val="113000"/>
              </a:lnSpc>
              <a:spcAft>
                <a:spcPts val="0"/>
              </a:spcAft>
              <a:defRPr sz="900" b="1">
                <a:solidFill>
                  <a:srgbClr val="A34450"/>
                </a:solidFill>
                <a:latin typeface="Noto Sans"/>
              </a:defRPr>
            </a:pPr>
            <a:r>
              <a:rPr>
                <a:ea typeface="Noto Sans CJK SC"/>
              </a:rPr>
              <a:t>REQUIREMENT</a:t>
            </a:r>
          </a:p>
        </p:txBody>
      </p:sp>
      <p:sp>
        <p:nvSpPr>
          <p:cNvPr id="27" name="TextBox 26"/>
          <p:cNvSpPr txBox="1"/>
          <p:nvPr/>
        </p:nvSpPr>
        <p:spPr>
          <a:xfrm>
            <a:off x="8366759" y="4443984"/>
            <a:ext cx="2907792" cy="594360"/>
          </a:xfrm>
          <a:prstGeom prst="rect">
            <a:avLst/>
          </a:prstGeom>
          <a:noFill/>
          <a:effectLst/>
        </p:spPr>
        <p:txBody>
          <a:bodyPr wrap="square" lIns="0" rIns="0" tIns="0" bIns="0">
            <a:spAutoFit/>
          </a:bodyPr>
          <a:lstStyle/>
          <a:p>
            <a:pPr>
              <a:lnSpc>
                <a:spcPct val="113000"/>
              </a:lnSpc>
              <a:spcAft>
                <a:spcPts val="0"/>
              </a:spcAft>
              <a:defRPr sz="1500" b="0">
                <a:solidFill>
                  <a:srgbClr val="1E191C"/>
                </a:solidFill>
                <a:latin typeface="Noto Sans"/>
              </a:defRPr>
            </a:pPr>
            <a:r>
              <a:rPr>
                <a:ea typeface="Noto Sans CJK SC"/>
              </a:rPr>
              <a:t>[What must be established?]</a:t>
            </a:r>
          </a:p>
        </p:txBody>
      </p:sp>
      <p:sp>
        <p:nvSpPr>
          <p:cNvPr id="28" name="TextBox 27"/>
          <p:cNvSpPr txBox="1"/>
          <p:nvPr/>
        </p:nvSpPr>
        <p:spPr>
          <a:xfrm>
            <a:off x="8366759" y="5230368"/>
            <a:ext cx="2834640" cy="237744"/>
          </a:xfrm>
          <a:prstGeom prst="rect">
            <a:avLst/>
          </a:prstGeom>
          <a:noFill/>
          <a:effectLst/>
        </p:spPr>
        <p:txBody>
          <a:bodyPr wrap="square" lIns="0" rIns="0" tIns="0" bIns="0">
            <a:spAutoFit/>
          </a:bodyPr>
          <a:lstStyle/>
          <a:p>
            <a:pPr>
              <a:lnSpc>
                <a:spcPct val="113000"/>
              </a:lnSpc>
              <a:spcAft>
                <a:spcPts val="0"/>
              </a:spcAft>
              <a:defRPr sz="900" b="1">
                <a:solidFill>
                  <a:srgbClr val="A34450"/>
                </a:solidFill>
                <a:latin typeface="Noto Sans"/>
              </a:defRPr>
            </a:pPr>
            <a:r>
              <a:rPr>
                <a:ea typeface="Noto Sans CJK SC"/>
              </a:rPr>
              <a:t>IMPLICATION</a:t>
            </a:r>
          </a:p>
        </p:txBody>
      </p:sp>
      <p:sp>
        <p:nvSpPr>
          <p:cNvPr id="29" name="TextBox 28"/>
          <p:cNvSpPr txBox="1"/>
          <p:nvPr/>
        </p:nvSpPr>
        <p:spPr>
          <a:xfrm>
            <a:off x="8366759" y="5568696"/>
            <a:ext cx="2907792" cy="292608"/>
          </a:xfrm>
          <a:prstGeom prst="rect">
            <a:avLst/>
          </a:prstGeom>
          <a:noFill/>
          <a:effectLst/>
        </p:spPr>
        <p:txBody>
          <a:bodyPr wrap="square" lIns="0" rIns="0" tIns="0" bIns="0">
            <a:spAutoFit/>
          </a:bodyPr>
          <a:lstStyle/>
          <a:p>
            <a:pPr>
              <a:lnSpc>
                <a:spcPct val="113000"/>
              </a:lnSpc>
              <a:spcAft>
                <a:spcPts val="0"/>
              </a:spcAft>
              <a:defRPr sz="1300" b="0">
                <a:solidFill>
                  <a:srgbClr val="1E191C"/>
                </a:solidFill>
                <a:latin typeface="Noto Sans"/>
              </a:defRPr>
            </a:pPr>
            <a:r>
              <a:rPr>
                <a:ea typeface="Noto Sans CJK SC"/>
              </a:rPr>
              <a:t>[What follows if satisfied?]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621792" y="6437376"/>
            <a:ext cx="10945368"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630936" y="6556248"/>
            <a:ext cx="5486400" cy="237744"/>
          </a:xfrm>
          <a:prstGeom prst="rect">
            <a:avLst/>
          </a:prstGeom>
          <a:noFill/>
          <a:effectLst/>
        </p:spPr>
        <p:txBody>
          <a:bodyPr wrap="square" lIns="0" rIns="0" tIns="0" bIns="0">
            <a:spAutoFit/>
          </a:bodyPr>
          <a:lstStyle/>
          <a:p>
            <a:pPr>
              <a:lnSpc>
                <a:spcPct val="113000"/>
              </a:lnSpc>
              <a:spcAft>
                <a:spcPts val="0"/>
              </a:spcAft>
              <a:defRPr sz="800" b="1">
                <a:solidFill>
                  <a:srgbClr val="666064"/>
                </a:solidFill>
                <a:latin typeface="Noto Sans"/>
              </a:defRPr>
            </a:pPr>
            <a:r>
              <a:rPr>
                <a:ea typeface="Noto Sans CJK SC"/>
              </a:rPr>
              <a:t>5957  /  TENANCY DISPUTE</a:t>
            </a:r>
          </a:p>
        </p:txBody>
      </p:sp>
      <p:sp>
        <p:nvSpPr>
          <p:cNvPr id="4" name="TextBox 3"/>
          <p:cNvSpPr txBox="1"/>
          <p:nvPr/>
        </p:nvSpPr>
        <p:spPr>
          <a:xfrm>
            <a:off x="10149840" y="6537960"/>
            <a:ext cx="1399032" cy="201168"/>
          </a:xfrm>
          <a:prstGeom prst="rect">
            <a:avLst/>
          </a:prstGeom>
          <a:noFill/>
          <a:effectLst/>
        </p:spPr>
        <p:txBody>
          <a:bodyPr wrap="square" lIns="0" rIns="0" tIns="0" bIns="0">
            <a:spAutoFit/>
          </a:bodyPr>
          <a:lstStyle/>
          <a:p>
            <a:pPr algn="r">
              <a:lnSpc>
                <a:spcPct val="113000"/>
              </a:lnSpc>
              <a:spcAft>
                <a:spcPts val="0"/>
              </a:spcAft>
              <a:defRPr sz="800" b="0">
                <a:solidFill>
                  <a:srgbClr val="666064"/>
                </a:solidFill>
                <a:latin typeface="Noto Sans"/>
              </a:defRPr>
            </a:pPr>
            <a:r>
              <a:rPr>
                <a:ea typeface="Noto Sans CJK SC"/>
              </a:rPr>
              <a:t>27  /  30</a:t>
            </a:r>
          </a:p>
        </p:txBody>
      </p:sp>
      <p:sp>
        <p:nvSpPr>
          <p:cNvPr id="5" name="TextBox 4"/>
          <p:cNvSpPr txBox="1"/>
          <p:nvPr/>
        </p:nvSpPr>
        <p:spPr>
          <a:xfrm>
            <a:off x="630936" y="347472"/>
            <a:ext cx="9144000" cy="237744"/>
          </a:xfrm>
          <a:prstGeom prst="rect">
            <a:avLst/>
          </a:prstGeom>
          <a:noFill/>
          <a:effectLst/>
        </p:spPr>
        <p:txBody>
          <a:bodyPr wrap="square" lIns="0" rIns="0" tIns="0" bIns="0">
            <a:spAutoFit/>
          </a:bodyPr>
          <a:lstStyle/>
          <a:p>
            <a:pPr>
              <a:lnSpc>
                <a:spcPct val="113000"/>
              </a:lnSpc>
              <a:spcAft>
                <a:spcPts val="0"/>
              </a:spcAft>
              <a:defRPr sz="900" b="1">
                <a:solidFill>
                  <a:srgbClr val="A34450"/>
                </a:solidFill>
                <a:latin typeface="Noto Sans"/>
              </a:defRPr>
            </a:pPr>
            <a:r>
              <a:rPr>
                <a:ea typeface="Noto Sans CJK SC"/>
              </a:rPr>
              <a:t>CONCLUSION SUMMARY</a:t>
            </a:r>
          </a:p>
        </p:txBody>
      </p:sp>
      <p:sp>
        <p:nvSpPr>
          <p:cNvPr id="6" name="TextBox 5"/>
          <p:cNvSpPr txBox="1"/>
          <p:nvPr/>
        </p:nvSpPr>
        <p:spPr>
          <a:xfrm>
            <a:off x="603504" y="758952"/>
            <a:ext cx="10972800" cy="612648"/>
          </a:xfrm>
          <a:prstGeom prst="rect">
            <a:avLst/>
          </a:prstGeom>
          <a:noFill/>
          <a:effectLst/>
        </p:spPr>
        <p:txBody>
          <a:bodyPr wrap="square" lIns="0" rIns="0" tIns="0" bIns="0">
            <a:spAutoFit/>
          </a:bodyPr>
          <a:lstStyle/>
          <a:p>
            <a:pPr>
              <a:lnSpc>
                <a:spcPct val="113000"/>
              </a:lnSpc>
              <a:spcAft>
                <a:spcPts val="0"/>
              </a:spcAft>
              <a:defRPr sz="3000" b="0">
                <a:solidFill>
                  <a:srgbClr val="7A202C"/>
                </a:solidFill>
                <a:latin typeface="Noto Serif"/>
              </a:defRPr>
            </a:pPr>
            <a:r>
              <a:rPr>
                <a:ea typeface="Noto Sans CJK SC"/>
              </a:rPr>
              <a:t>Conditional conclusions</a:t>
            </a:r>
          </a:p>
        </p:txBody>
      </p:sp>
      <p:cxnSp>
        <p:nvCxnSpPr>
          <p:cNvPr id="7" name="Connector 6"/>
          <p:cNvCxnSpPr/>
          <p:nvPr/>
        </p:nvCxnSpPr>
        <p:spPr>
          <a:xfrm>
            <a:off x="621792" y="1490472"/>
            <a:ext cx="10945368" cy="0"/>
          </a:xfrm>
          <a:prstGeom prst="line">
            <a:avLst/>
          </a:prstGeom>
          <a:ln w="10795">
            <a:solidFill>
              <a:srgbClr val="D4A59A"/>
            </a:solidFill>
          </a:ln>
          <a:effectLst/>
        </p:spPr>
        <p:style>
          <a:lnRef idx="2">
            <a:schemeClr val="accent1"/>
          </a:lnRef>
          <a:fillRef idx="0">
            <a:schemeClr val="accent1"/>
          </a:fillRef>
          <a:effectRef idx="0">
            <a:schemeClr val="accent1"/>
          </a:effectRef>
          <a:fontRef idx="minor">
            <a:schemeClr val="tx1"/>
          </a:fontRef>
        </p:style>
      </p:cxnSp>
      <p:sp>
        <p:nvSpPr>
          <p:cNvPr id="8" name="Rectangle 7"/>
          <p:cNvSpPr/>
          <p:nvPr/>
        </p:nvSpPr>
        <p:spPr>
          <a:xfrm>
            <a:off x="630936" y="1947672"/>
            <a:ext cx="10936224" cy="1746504"/>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77824" y="2176272"/>
            <a:ext cx="1005840" cy="658368"/>
          </a:xfrm>
          <a:prstGeom prst="rect">
            <a:avLst/>
          </a:prstGeom>
          <a:noFill/>
          <a:effectLst/>
        </p:spPr>
        <p:txBody>
          <a:bodyPr wrap="square" lIns="0" rIns="0" tIns="0" bIns="0">
            <a:spAutoFit/>
          </a:bodyPr>
          <a:lstStyle/>
          <a:p>
            <a:pPr>
              <a:lnSpc>
                <a:spcPct val="113000"/>
              </a:lnSpc>
              <a:spcAft>
                <a:spcPts val="0"/>
              </a:spcAft>
              <a:defRPr sz="3500" b="0">
                <a:solidFill>
                  <a:srgbClr val="A34450"/>
                </a:solidFill>
                <a:latin typeface="Noto Serif"/>
              </a:defRPr>
            </a:pPr>
            <a:r>
              <a:rPr>
                <a:ea typeface="Noto Sans CJK SC"/>
              </a:rPr>
              <a:t>(a)</a:t>
            </a:r>
          </a:p>
        </p:txBody>
      </p:sp>
      <p:sp>
        <p:nvSpPr>
          <p:cNvPr id="10" name="TextBox 9"/>
          <p:cNvSpPr txBox="1"/>
          <p:nvPr/>
        </p:nvSpPr>
        <p:spPr>
          <a:xfrm>
            <a:off x="2066543" y="2185415"/>
            <a:ext cx="9125712" cy="521207"/>
          </a:xfrm>
          <a:prstGeom prst="rect">
            <a:avLst/>
          </a:prstGeom>
          <a:noFill/>
          <a:effectLst/>
        </p:spPr>
        <p:txBody>
          <a:bodyPr wrap="square" lIns="0" rIns="0" tIns="0" bIns="0">
            <a:spAutoFit/>
          </a:bodyPr>
          <a:lstStyle/>
          <a:p>
            <a:pPr>
              <a:lnSpc>
                <a:spcPct val="113000"/>
              </a:lnSpc>
              <a:spcAft>
                <a:spcPts val="0"/>
              </a:spcAft>
              <a:defRPr sz="2500" b="0">
                <a:solidFill>
                  <a:srgbClr val="7A202C"/>
                </a:solidFill>
                <a:latin typeface="Noto Serif"/>
              </a:defRPr>
            </a:pPr>
            <a:r>
              <a:rPr>
                <a:ea typeface="Noto Sans CJK SC"/>
              </a:rPr>
              <a:t>Recovery before expiry</a:t>
            </a:r>
          </a:p>
        </p:txBody>
      </p:sp>
      <p:sp>
        <p:nvSpPr>
          <p:cNvPr id="11" name="TextBox 10"/>
          <p:cNvSpPr txBox="1"/>
          <p:nvPr/>
        </p:nvSpPr>
        <p:spPr>
          <a:xfrm>
            <a:off x="2093976" y="2871215"/>
            <a:ext cx="8951976" cy="694944"/>
          </a:xfrm>
          <a:prstGeom prst="rect">
            <a:avLst/>
          </a:prstGeom>
          <a:noFill/>
          <a:effectLst/>
        </p:spPr>
        <p:txBody>
          <a:bodyPr wrap="square" lIns="0" rIns="0" tIns="0" bIns="0">
            <a:spAutoFit/>
          </a:bodyPr>
          <a:lstStyle/>
          <a:p>
            <a:pPr>
              <a:lnSpc>
                <a:spcPct val="113000"/>
              </a:lnSpc>
              <a:spcAft>
                <a:spcPts val="0"/>
              </a:spcAft>
              <a:defRPr sz="1700" b="0">
                <a:solidFill>
                  <a:srgbClr val="1E191C"/>
                </a:solidFill>
                <a:latin typeface="Noto Sans"/>
              </a:defRPr>
            </a:pPr>
            <a:r>
              <a:rPr>
                <a:ea typeface="Noto Sans CJK SC"/>
              </a:rPr>
              <a:t>Frederick can lawfully recover possession only if he proves a valid breach and strictly complies with the contractual and statutory forfeiture requirements.</a:t>
            </a:r>
          </a:p>
        </p:txBody>
      </p:sp>
      <p:sp>
        <p:nvSpPr>
          <p:cNvPr id="12" name="Rectangle 11"/>
          <p:cNvSpPr/>
          <p:nvPr/>
        </p:nvSpPr>
        <p:spPr>
          <a:xfrm>
            <a:off x="630936" y="4078224"/>
            <a:ext cx="10936224" cy="1746504"/>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77824" y="4306824"/>
            <a:ext cx="1005840" cy="658368"/>
          </a:xfrm>
          <a:prstGeom prst="rect">
            <a:avLst/>
          </a:prstGeom>
          <a:noFill/>
          <a:effectLst/>
        </p:spPr>
        <p:txBody>
          <a:bodyPr wrap="square" lIns="0" rIns="0" tIns="0" bIns="0">
            <a:spAutoFit/>
          </a:bodyPr>
          <a:lstStyle/>
          <a:p>
            <a:pPr>
              <a:lnSpc>
                <a:spcPct val="113000"/>
              </a:lnSpc>
              <a:spcAft>
                <a:spcPts val="0"/>
              </a:spcAft>
              <a:defRPr sz="3500" b="0">
                <a:solidFill>
                  <a:srgbClr val="A34450"/>
                </a:solidFill>
                <a:latin typeface="Noto Serif"/>
              </a:defRPr>
            </a:pPr>
            <a:r>
              <a:rPr>
                <a:ea typeface="Noto Sans CJK SC"/>
              </a:rPr>
              <a:t>(b)</a:t>
            </a:r>
          </a:p>
        </p:txBody>
      </p:sp>
      <p:sp>
        <p:nvSpPr>
          <p:cNvPr id="14" name="TextBox 13"/>
          <p:cNvSpPr txBox="1"/>
          <p:nvPr/>
        </p:nvSpPr>
        <p:spPr>
          <a:xfrm>
            <a:off x="2066543" y="4315968"/>
            <a:ext cx="9125712" cy="521207"/>
          </a:xfrm>
          <a:prstGeom prst="rect">
            <a:avLst/>
          </a:prstGeom>
          <a:noFill/>
          <a:effectLst/>
        </p:spPr>
        <p:txBody>
          <a:bodyPr wrap="square" lIns="0" rIns="0" tIns="0" bIns="0">
            <a:spAutoFit/>
          </a:bodyPr>
          <a:lstStyle/>
          <a:p>
            <a:pPr>
              <a:lnSpc>
                <a:spcPct val="113000"/>
              </a:lnSpc>
              <a:spcAft>
                <a:spcPts val="0"/>
              </a:spcAft>
              <a:defRPr sz="2500" b="0">
                <a:solidFill>
                  <a:srgbClr val="7A202C"/>
                </a:solidFill>
                <a:latin typeface="Noto Serif"/>
              </a:defRPr>
            </a:pPr>
            <a:r>
              <a:rPr>
                <a:ea typeface="Noto Sans CJK SC"/>
              </a:rPr>
              <a:t>Renewal at expiry</a:t>
            </a:r>
          </a:p>
        </p:txBody>
      </p:sp>
      <p:sp>
        <p:nvSpPr>
          <p:cNvPr id="15" name="TextBox 14"/>
          <p:cNvSpPr txBox="1"/>
          <p:nvPr/>
        </p:nvSpPr>
        <p:spPr>
          <a:xfrm>
            <a:off x="2093976" y="5001768"/>
            <a:ext cx="8951976" cy="694944"/>
          </a:xfrm>
          <a:prstGeom prst="rect">
            <a:avLst/>
          </a:prstGeom>
          <a:noFill/>
          <a:effectLst/>
        </p:spPr>
        <p:txBody>
          <a:bodyPr wrap="square" lIns="0" rIns="0" tIns="0" bIns="0">
            <a:spAutoFit/>
          </a:bodyPr>
          <a:lstStyle/>
          <a:p>
            <a:pPr>
              <a:lnSpc>
                <a:spcPct val="113000"/>
              </a:lnSpc>
              <a:spcAft>
                <a:spcPts val="0"/>
              </a:spcAft>
              <a:defRPr sz="1700" b="0">
                <a:solidFill>
                  <a:srgbClr val="1E191C"/>
                </a:solidFill>
                <a:latin typeface="Noto Sans"/>
              </a:defRPr>
            </a:pPr>
            <a:r>
              <a:rPr>
                <a:ea typeface="Noto Sans CJK SC"/>
              </a:rPr>
              <a:t>Angela’s right to enforce renewal turns on whether the new rent can be validly determined. The noise complaint is background, not decisive.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621792" y="6437376"/>
            <a:ext cx="10945368"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630936" y="6556248"/>
            <a:ext cx="5486400" cy="237744"/>
          </a:xfrm>
          <a:prstGeom prst="rect">
            <a:avLst/>
          </a:prstGeom>
          <a:noFill/>
          <a:effectLst/>
        </p:spPr>
        <p:txBody>
          <a:bodyPr wrap="square" lIns="0" rIns="0" tIns="0" bIns="0">
            <a:spAutoFit/>
          </a:bodyPr>
          <a:lstStyle/>
          <a:p>
            <a:pPr>
              <a:lnSpc>
                <a:spcPct val="113000"/>
              </a:lnSpc>
              <a:spcAft>
                <a:spcPts val="0"/>
              </a:spcAft>
              <a:defRPr sz="800" b="1">
                <a:solidFill>
                  <a:srgbClr val="666064"/>
                </a:solidFill>
                <a:latin typeface="Noto Sans"/>
              </a:defRPr>
            </a:pPr>
            <a:r>
              <a:rPr>
                <a:ea typeface="Noto Sans CJK SC"/>
              </a:rPr>
              <a:t>5957  /  TENANCY DISPUTE</a:t>
            </a:r>
          </a:p>
        </p:txBody>
      </p:sp>
      <p:sp>
        <p:nvSpPr>
          <p:cNvPr id="4" name="TextBox 3"/>
          <p:cNvSpPr txBox="1"/>
          <p:nvPr/>
        </p:nvSpPr>
        <p:spPr>
          <a:xfrm>
            <a:off x="10149840" y="6537960"/>
            <a:ext cx="1399032" cy="201168"/>
          </a:xfrm>
          <a:prstGeom prst="rect">
            <a:avLst/>
          </a:prstGeom>
          <a:noFill/>
          <a:effectLst/>
        </p:spPr>
        <p:txBody>
          <a:bodyPr wrap="square" lIns="0" rIns="0" tIns="0" bIns="0">
            <a:spAutoFit/>
          </a:bodyPr>
          <a:lstStyle/>
          <a:p>
            <a:pPr algn="r">
              <a:lnSpc>
                <a:spcPct val="113000"/>
              </a:lnSpc>
              <a:spcAft>
                <a:spcPts val="0"/>
              </a:spcAft>
              <a:defRPr sz="800" b="0">
                <a:solidFill>
                  <a:srgbClr val="666064"/>
                </a:solidFill>
                <a:latin typeface="Noto Sans"/>
              </a:defRPr>
            </a:pPr>
            <a:r>
              <a:rPr>
                <a:ea typeface="Noto Sans CJK SC"/>
              </a:rPr>
              <a:t>28  /  30</a:t>
            </a:r>
          </a:p>
        </p:txBody>
      </p:sp>
      <p:sp>
        <p:nvSpPr>
          <p:cNvPr id="5" name="TextBox 4"/>
          <p:cNvSpPr txBox="1"/>
          <p:nvPr/>
        </p:nvSpPr>
        <p:spPr>
          <a:xfrm>
            <a:off x="630936" y="347472"/>
            <a:ext cx="9144000" cy="237744"/>
          </a:xfrm>
          <a:prstGeom prst="rect">
            <a:avLst/>
          </a:prstGeom>
          <a:noFill/>
          <a:effectLst/>
        </p:spPr>
        <p:txBody>
          <a:bodyPr wrap="square" lIns="0" rIns="0" tIns="0" bIns="0">
            <a:spAutoFit/>
          </a:bodyPr>
          <a:lstStyle/>
          <a:p>
            <a:pPr>
              <a:lnSpc>
                <a:spcPct val="113000"/>
              </a:lnSpc>
              <a:spcAft>
                <a:spcPts val="0"/>
              </a:spcAft>
              <a:defRPr sz="900" b="1">
                <a:solidFill>
                  <a:srgbClr val="A34450"/>
                </a:solidFill>
                <a:latin typeface="Noto Sans"/>
              </a:defRPr>
            </a:pPr>
            <a:r>
              <a:rPr>
                <a:ea typeface="Noto Sans CJK SC"/>
              </a:rPr>
              <a:t>NEXT-STAGE ANALYSIS</a:t>
            </a:r>
          </a:p>
        </p:txBody>
      </p:sp>
      <p:sp>
        <p:nvSpPr>
          <p:cNvPr id="6" name="TextBox 5"/>
          <p:cNvSpPr txBox="1"/>
          <p:nvPr/>
        </p:nvSpPr>
        <p:spPr>
          <a:xfrm>
            <a:off x="603504" y="758952"/>
            <a:ext cx="10972800" cy="612648"/>
          </a:xfrm>
          <a:prstGeom prst="rect">
            <a:avLst/>
          </a:prstGeom>
          <a:noFill/>
          <a:effectLst/>
        </p:spPr>
        <p:txBody>
          <a:bodyPr wrap="square" lIns="0" rIns="0" tIns="0" bIns="0">
            <a:spAutoFit/>
          </a:bodyPr>
          <a:lstStyle/>
          <a:p>
            <a:pPr>
              <a:lnSpc>
                <a:spcPct val="113000"/>
              </a:lnSpc>
              <a:spcAft>
                <a:spcPts val="0"/>
              </a:spcAft>
              <a:defRPr sz="3000" b="0">
                <a:solidFill>
                  <a:srgbClr val="7A202C"/>
                </a:solidFill>
                <a:latin typeface="Noto Serif"/>
              </a:defRPr>
            </a:pPr>
            <a:r>
              <a:rPr>
                <a:ea typeface="Noto Sans CJK SC"/>
              </a:rPr>
              <a:t>Summary and handover</a:t>
            </a:r>
          </a:p>
        </p:txBody>
      </p:sp>
      <p:cxnSp>
        <p:nvCxnSpPr>
          <p:cNvPr id="7" name="Connector 6"/>
          <p:cNvCxnSpPr/>
          <p:nvPr/>
        </p:nvCxnSpPr>
        <p:spPr>
          <a:xfrm>
            <a:off x="621792" y="1490472"/>
            <a:ext cx="10945368" cy="0"/>
          </a:xfrm>
          <a:prstGeom prst="line">
            <a:avLst/>
          </a:prstGeom>
          <a:ln w="10795">
            <a:solidFill>
              <a:srgbClr val="D4A59A"/>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694944" y="1984248"/>
            <a:ext cx="914400" cy="640080"/>
          </a:xfrm>
          <a:prstGeom prst="rect">
            <a:avLst/>
          </a:prstGeom>
          <a:noFill/>
          <a:effectLst/>
        </p:spPr>
        <p:txBody>
          <a:bodyPr wrap="square" lIns="0" rIns="0" tIns="0" bIns="0">
            <a:spAutoFit/>
          </a:bodyPr>
          <a:lstStyle/>
          <a:p>
            <a:pPr>
              <a:lnSpc>
                <a:spcPct val="113000"/>
              </a:lnSpc>
              <a:spcAft>
                <a:spcPts val="0"/>
              </a:spcAft>
              <a:defRPr sz="3400" b="0">
                <a:solidFill>
                  <a:srgbClr val="7A202C"/>
                </a:solidFill>
                <a:latin typeface="Noto Serif"/>
              </a:defRPr>
            </a:pPr>
            <a:r>
              <a:rPr>
                <a:ea typeface="Noto Sans CJK SC"/>
              </a:rPr>
              <a:t>01</a:t>
            </a:r>
          </a:p>
        </p:txBody>
      </p:sp>
      <p:sp>
        <p:nvSpPr>
          <p:cNvPr id="9" name="TextBox 8"/>
          <p:cNvSpPr txBox="1"/>
          <p:nvPr/>
        </p:nvSpPr>
        <p:spPr>
          <a:xfrm>
            <a:off x="1828800" y="2011679"/>
            <a:ext cx="2697480" cy="448056"/>
          </a:xfrm>
          <a:prstGeom prst="rect">
            <a:avLst/>
          </a:prstGeom>
          <a:noFill/>
          <a:effectLst/>
        </p:spPr>
        <p:txBody>
          <a:bodyPr wrap="square" lIns="0" rIns="0" tIns="0" bIns="0">
            <a:spAutoFit/>
          </a:bodyPr>
          <a:lstStyle/>
          <a:p>
            <a:pPr>
              <a:lnSpc>
                <a:spcPct val="113000"/>
              </a:lnSpc>
              <a:spcAft>
                <a:spcPts val="0"/>
              </a:spcAft>
              <a:defRPr sz="2500" b="0">
                <a:solidFill>
                  <a:srgbClr val="7A202C"/>
                </a:solidFill>
                <a:latin typeface="Noto Serif"/>
              </a:defRPr>
            </a:pPr>
            <a:r>
              <a:rPr>
                <a:ea typeface="Noto Sans CJK SC"/>
              </a:rPr>
              <a:t>Facts</a:t>
            </a:r>
          </a:p>
        </p:txBody>
      </p:sp>
      <p:sp>
        <p:nvSpPr>
          <p:cNvPr id="10" name="TextBox 9"/>
          <p:cNvSpPr txBox="1"/>
          <p:nvPr/>
        </p:nvSpPr>
        <p:spPr>
          <a:xfrm>
            <a:off x="4599432" y="2075688"/>
            <a:ext cx="6784848" cy="621792"/>
          </a:xfrm>
          <a:prstGeom prst="rect">
            <a:avLst/>
          </a:prstGeom>
          <a:noFill/>
          <a:effectLst/>
        </p:spPr>
        <p:txBody>
          <a:bodyPr wrap="square" lIns="0" rIns="0" tIns="0" bIns="0">
            <a:spAutoFit/>
          </a:bodyPr>
          <a:lstStyle/>
          <a:p>
            <a:pPr>
              <a:lnSpc>
                <a:spcPct val="113000"/>
              </a:lnSpc>
              <a:spcAft>
                <a:spcPts val="0"/>
              </a:spcAft>
              <a:defRPr sz="1800" b="0">
                <a:solidFill>
                  <a:srgbClr val="1E191C"/>
                </a:solidFill>
                <a:latin typeface="Noto Sans"/>
              </a:defRPr>
            </a:pPr>
            <a:r>
              <a:rPr>
                <a:ea typeface="Noto Sans CJK SC"/>
              </a:rPr>
              <a:t>Three parties, two agreements and a fixed term.</a:t>
            </a:r>
          </a:p>
        </p:txBody>
      </p:sp>
      <p:cxnSp>
        <p:nvCxnSpPr>
          <p:cNvPr id="11" name="Connector 10"/>
          <p:cNvCxnSpPr/>
          <p:nvPr/>
        </p:nvCxnSpPr>
        <p:spPr>
          <a:xfrm>
            <a:off x="1837943" y="2779776"/>
            <a:ext cx="9628633" cy="0"/>
          </a:xfrm>
          <a:prstGeom prst="line">
            <a:avLst/>
          </a:prstGeom>
          <a:ln w="889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94944" y="3008376"/>
            <a:ext cx="914400" cy="640080"/>
          </a:xfrm>
          <a:prstGeom prst="rect">
            <a:avLst/>
          </a:prstGeom>
          <a:noFill/>
          <a:effectLst/>
        </p:spPr>
        <p:txBody>
          <a:bodyPr wrap="square" lIns="0" rIns="0" tIns="0" bIns="0">
            <a:spAutoFit/>
          </a:bodyPr>
          <a:lstStyle/>
          <a:p>
            <a:pPr>
              <a:lnSpc>
                <a:spcPct val="113000"/>
              </a:lnSpc>
              <a:spcAft>
                <a:spcPts val="0"/>
              </a:spcAft>
              <a:defRPr sz="3400" b="0">
                <a:solidFill>
                  <a:srgbClr val="7A202C"/>
                </a:solidFill>
                <a:latin typeface="Noto Serif"/>
              </a:defRPr>
            </a:pPr>
            <a:r>
              <a:rPr>
                <a:ea typeface="Noto Sans CJK SC"/>
              </a:rPr>
              <a:t>02</a:t>
            </a:r>
          </a:p>
        </p:txBody>
      </p:sp>
      <p:sp>
        <p:nvSpPr>
          <p:cNvPr id="13" name="TextBox 12"/>
          <p:cNvSpPr txBox="1"/>
          <p:nvPr/>
        </p:nvSpPr>
        <p:spPr>
          <a:xfrm>
            <a:off x="1828800" y="3035808"/>
            <a:ext cx="2697480" cy="448056"/>
          </a:xfrm>
          <a:prstGeom prst="rect">
            <a:avLst/>
          </a:prstGeom>
          <a:noFill/>
          <a:effectLst/>
        </p:spPr>
        <p:txBody>
          <a:bodyPr wrap="square" lIns="0" rIns="0" tIns="0" bIns="0">
            <a:spAutoFit/>
          </a:bodyPr>
          <a:lstStyle/>
          <a:p>
            <a:pPr>
              <a:lnSpc>
                <a:spcPct val="113000"/>
              </a:lnSpc>
              <a:spcAft>
                <a:spcPts val="0"/>
              </a:spcAft>
              <a:defRPr sz="2500" b="0">
                <a:solidFill>
                  <a:srgbClr val="7A202C"/>
                </a:solidFill>
                <a:latin typeface="Noto Serif"/>
              </a:defRPr>
            </a:pPr>
            <a:r>
              <a:rPr>
                <a:ea typeface="Noto Sans CJK SC"/>
              </a:rPr>
              <a:t>Arguments</a:t>
            </a:r>
          </a:p>
        </p:txBody>
      </p:sp>
      <p:sp>
        <p:nvSpPr>
          <p:cNvPr id="14" name="TextBox 13"/>
          <p:cNvSpPr txBox="1"/>
          <p:nvPr/>
        </p:nvSpPr>
        <p:spPr>
          <a:xfrm>
            <a:off x="4599432" y="3099816"/>
            <a:ext cx="6784848" cy="621792"/>
          </a:xfrm>
          <a:prstGeom prst="rect">
            <a:avLst/>
          </a:prstGeom>
          <a:noFill/>
          <a:effectLst/>
        </p:spPr>
        <p:txBody>
          <a:bodyPr wrap="square" lIns="0" rIns="0" tIns="0" bIns="0">
            <a:spAutoFit/>
          </a:bodyPr>
          <a:lstStyle/>
          <a:p>
            <a:pPr>
              <a:lnSpc>
                <a:spcPct val="113000"/>
              </a:lnSpc>
              <a:spcAft>
                <a:spcPts val="0"/>
              </a:spcAft>
              <a:defRPr sz="1800" b="0">
                <a:solidFill>
                  <a:srgbClr val="1E191C"/>
                </a:solidFill>
                <a:latin typeface="Noto Sans"/>
              </a:defRPr>
            </a:pPr>
            <a:r>
              <a:rPr>
                <a:ea typeface="Noto Sans CJK SC"/>
              </a:rPr>
              <a:t>Competing claims on breach, forfeiture and renewal.</a:t>
            </a:r>
          </a:p>
        </p:txBody>
      </p:sp>
      <p:cxnSp>
        <p:nvCxnSpPr>
          <p:cNvPr id="15" name="Connector 14"/>
          <p:cNvCxnSpPr/>
          <p:nvPr/>
        </p:nvCxnSpPr>
        <p:spPr>
          <a:xfrm>
            <a:off x="1837943" y="3803904"/>
            <a:ext cx="9628633" cy="0"/>
          </a:xfrm>
          <a:prstGeom prst="line">
            <a:avLst/>
          </a:prstGeom>
          <a:ln w="889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694944" y="4032504"/>
            <a:ext cx="914400" cy="640080"/>
          </a:xfrm>
          <a:prstGeom prst="rect">
            <a:avLst/>
          </a:prstGeom>
          <a:noFill/>
          <a:effectLst/>
        </p:spPr>
        <p:txBody>
          <a:bodyPr wrap="square" lIns="0" rIns="0" tIns="0" bIns="0">
            <a:spAutoFit/>
          </a:bodyPr>
          <a:lstStyle/>
          <a:p>
            <a:pPr>
              <a:lnSpc>
                <a:spcPct val="113000"/>
              </a:lnSpc>
              <a:spcAft>
                <a:spcPts val="0"/>
              </a:spcAft>
              <a:defRPr sz="3400" b="0">
                <a:solidFill>
                  <a:srgbClr val="7A202C"/>
                </a:solidFill>
                <a:latin typeface="Noto Serif"/>
              </a:defRPr>
            </a:pPr>
            <a:r>
              <a:rPr>
                <a:ea typeface="Noto Sans CJK SC"/>
              </a:rPr>
              <a:t>03</a:t>
            </a:r>
          </a:p>
        </p:txBody>
      </p:sp>
      <p:sp>
        <p:nvSpPr>
          <p:cNvPr id="17" name="TextBox 16"/>
          <p:cNvSpPr txBox="1"/>
          <p:nvPr/>
        </p:nvSpPr>
        <p:spPr>
          <a:xfrm>
            <a:off x="1828800" y="4059936"/>
            <a:ext cx="2697480" cy="448056"/>
          </a:xfrm>
          <a:prstGeom prst="rect">
            <a:avLst/>
          </a:prstGeom>
          <a:noFill/>
          <a:effectLst/>
        </p:spPr>
        <p:txBody>
          <a:bodyPr wrap="square" lIns="0" rIns="0" tIns="0" bIns="0">
            <a:spAutoFit/>
          </a:bodyPr>
          <a:lstStyle/>
          <a:p>
            <a:pPr>
              <a:lnSpc>
                <a:spcPct val="113000"/>
              </a:lnSpc>
              <a:spcAft>
                <a:spcPts val="0"/>
              </a:spcAft>
              <a:defRPr sz="2500" b="0">
                <a:solidFill>
                  <a:srgbClr val="7A202C"/>
                </a:solidFill>
                <a:latin typeface="Noto Serif"/>
              </a:defRPr>
            </a:pPr>
            <a:r>
              <a:rPr>
                <a:ea typeface="Noto Sans CJK SC"/>
              </a:rPr>
              <a:t>Conclusions</a:t>
            </a:r>
          </a:p>
        </p:txBody>
      </p:sp>
      <p:sp>
        <p:nvSpPr>
          <p:cNvPr id="18" name="TextBox 17"/>
          <p:cNvSpPr txBox="1"/>
          <p:nvPr/>
        </p:nvSpPr>
        <p:spPr>
          <a:xfrm>
            <a:off x="4599432" y="4123944"/>
            <a:ext cx="6784848" cy="621792"/>
          </a:xfrm>
          <a:prstGeom prst="rect">
            <a:avLst/>
          </a:prstGeom>
          <a:noFill/>
          <a:effectLst/>
        </p:spPr>
        <p:txBody>
          <a:bodyPr wrap="square" lIns="0" rIns="0" tIns="0" bIns="0">
            <a:spAutoFit/>
          </a:bodyPr>
          <a:lstStyle/>
          <a:p>
            <a:pPr>
              <a:lnSpc>
                <a:spcPct val="113000"/>
              </a:lnSpc>
              <a:spcAft>
                <a:spcPts val="0"/>
              </a:spcAft>
              <a:defRPr sz="1800" b="0">
                <a:solidFill>
                  <a:srgbClr val="1E191C"/>
                </a:solidFill>
                <a:latin typeface="Noto Sans"/>
              </a:defRPr>
            </a:pPr>
            <a:r>
              <a:rPr>
                <a:ea typeface="Noto Sans CJK SC"/>
              </a:rPr>
              <a:t>Both outcomes depend on the conditions identified.</a:t>
            </a:r>
          </a:p>
        </p:txBody>
      </p:sp>
      <p:cxnSp>
        <p:nvCxnSpPr>
          <p:cNvPr id="19" name="Connector 18"/>
          <p:cNvCxnSpPr/>
          <p:nvPr/>
        </p:nvCxnSpPr>
        <p:spPr>
          <a:xfrm>
            <a:off x="1837943" y="4828032"/>
            <a:ext cx="9628633" cy="0"/>
          </a:xfrm>
          <a:prstGeom prst="line">
            <a:avLst/>
          </a:prstGeom>
          <a:ln w="889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20" name="Rectangle 19"/>
          <p:cNvSpPr/>
          <p:nvPr/>
        </p:nvSpPr>
        <p:spPr>
          <a:xfrm>
            <a:off x="630936" y="5522976"/>
            <a:ext cx="10936224" cy="630936"/>
          </a:xfrm>
          <a:prstGeom prst="rect">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77824" y="5724144"/>
            <a:ext cx="10460736" cy="310896"/>
          </a:xfrm>
          <a:prstGeom prst="rect">
            <a:avLst/>
          </a:prstGeom>
          <a:noFill/>
          <a:effectLst/>
        </p:spPr>
        <p:txBody>
          <a:bodyPr wrap="square" lIns="0" rIns="0" tIns="0" bIns="0">
            <a:spAutoFit/>
          </a:bodyPr>
          <a:lstStyle/>
          <a:p>
            <a:pPr>
              <a:lnSpc>
                <a:spcPct val="113000"/>
              </a:lnSpc>
              <a:spcAft>
                <a:spcPts val="0"/>
              </a:spcAft>
              <a:defRPr sz="1400" b="0">
                <a:solidFill>
                  <a:srgbClr val="FFFFFF"/>
                </a:solidFill>
                <a:latin typeface="Noto Sans"/>
              </a:defRPr>
            </a:pPr>
            <a:r>
              <a:rPr>
                <a:ea typeface="Noto Sans CJK SC"/>
              </a:rPr>
              <a:t>Member 1: arguments &amp; conditional conclusions     →     Final analysis by Member 10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621792" y="6437376"/>
            <a:ext cx="10945368"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630936" y="6556248"/>
            <a:ext cx="5486400" cy="237744"/>
          </a:xfrm>
          <a:prstGeom prst="rect">
            <a:avLst/>
          </a:prstGeom>
          <a:noFill/>
          <a:effectLst/>
        </p:spPr>
        <p:txBody>
          <a:bodyPr wrap="square" lIns="0" rIns="0" tIns="0" bIns="0">
            <a:spAutoFit/>
          </a:bodyPr>
          <a:lstStyle/>
          <a:p>
            <a:pPr>
              <a:lnSpc>
                <a:spcPct val="113000"/>
              </a:lnSpc>
              <a:spcAft>
                <a:spcPts val="0"/>
              </a:spcAft>
              <a:defRPr sz="800" b="1">
                <a:solidFill>
                  <a:srgbClr val="666064"/>
                </a:solidFill>
                <a:latin typeface="Noto Sans"/>
              </a:defRPr>
            </a:pPr>
            <a:r>
              <a:rPr>
                <a:ea typeface="Noto Sans CJK SC"/>
              </a:rPr>
              <a:t>5957  /  TENANCY DISPUTE</a:t>
            </a:r>
          </a:p>
        </p:txBody>
      </p:sp>
      <p:sp>
        <p:nvSpPr>
          <p:cNvPr id="4" name="TextBox 3"/>
          <p:cNvSpPr txBox="1"/>
          <p:nvPr/>
        </p:nvSpPr>
        <p:spPr>
          <a:xfrm>
            <a:off x="10149840" y="6537960"/>
            <a:ext cx="1399032" cy="201168"/>
          </a:xfrm>
          <a:prstGeom prst="rect">
            <a:avLst/>
          </a:prstGeom>
          <a:noFill/>
          <a:effectLst/>
        </p:spPr>
        <p:txBody>
          <a:bodyPr wrap="square" lIns="0" rIns="0" tIns="0" bIns="0">
            <a:spAutoFit/>
          </a:bodyPr>
          <a:lstStyle/>
          <a:p>
            <a:pPr algn="r">
              <a:lnSpc>
                <a:spcPct val="113000"/>
              </a:lnSpc>
              <a:spcAft>
                <a:spcPts val="0"/>
              </a:spcAft>
              <a:defRPr sz="800" b="0">
                <a:solidFill>
                  <a:srgbClr val="666064"/>
                </a:solidFill>
                <a:latin typeface="Noto Sans"/>
              </a:defRPr>
            </a:pPr>
            <a:r>
              <a:rPr>
                <a:ea typeface="Noto Sans CJK SC"/>
              </a:rPr>
              <a:t>29  /  30</a:t>
            </a:r>
          </a:p>
        </p:txBody>
      </p:sp>
      <p:sp>
        <p:nvSpPr>
          <p:cNvPr id="5" name="TextBox 4"/>
          <p:cNvSpPr txBox="1"/>
          <p:nvPr/>
        </p:nvSpPr>
        <p:spPr>
          <a:xfrm>
            <a:off x="630936" y="347472"/>
            <a:ext cx="9144000" cy="237744"/>
          </a:xfrm>
          <a:prstGeom prst="rect">
            <a:avLst/>
          </a:prstGeom>
          <a:noFill/>
          <a:effectLst/>
        </p:spPr>
        <p:txBody>
          <a:bodyPr wrap="square" lIns="0" rIns="0" tIns="0" bIns="0">
            <a:spAutoFit/>
          </a:bodyPr>
          <a:lstStyle/>
          <a:p>
            <a:pPr>
              <a:lnSpc>
                <a:spcPct val="113000"/>
              </a:lnSpc>
              <a:spcAft>
                <a:spcPts val="0"/>
              </a:spcAft>
              <a:defRPr sz="900" b="1">
                <a:solidFill>
                  <a:srgbClr val="A34450"/>
                </a:solidFill>
                <a:latin typeface="Noto Sans"/>
              </a:defRPr>
            </a:pPr>
            <a:r>
              <a:rPr>
                <a:ea typeface="Noto Sans CJK SC"/>
              </a:rPr>
              <a:t>REFERENCE TEMPLATE</a:t>
            </a:r>
          </a:p>
        </p:txBody>
      </p:sp>
      <p:sp>
        <p:nvSpPr>
          <p:cNvPr id="6" name="TextBox 5"/>
          <p:cNvSpPr txBox="1"/>
          <p:nvPr/>
        </p:nvSpPr>
        <p:spPr>
          <a:xfrm>
            <a:off x="603504" y="758952"/>
            <a:ext cx="10972800" cy="612648"/>
          </a:xfrm>
          <a:prstGeom prst="rect">
            <a:avLst/>
          </a:prstGeom>
          <a:noFill/>
          <a:effectLst/>
        </p:spPr>
        <p:txBody>
          <a:bodyPr wrap="square" lIns="0" rIns="0" tIns="0" bIns="0">
            <a:spAutoFit/>
          </a:bodyPr>
          <a:lstStyle/>
          <a:p>
            <a:pPr>
              <a:lnSpc>
                <a:spcPct val="113000"/>
              </a:lnSpc>
              <a:spcAft>
                <a:spcPts val="0"/>
              </a:spcAft>
              <a:defRPr sz="3000" b="0">
                <a:solidFill>
                  <a:srgbClr val="7A202C"/>
                </a:solidFill>
                <a:latin typeface="Noto Serif"/>
              </a:defRPr>
            </a:pPr>
            <a:r>
              <a:rPr>
                <a:ea typeface="Noto Sans CJK SC"/>
              </a:rPr>
              <a:t>Sources and supporting materials</a:t>
            </a:r>
          </a:p>
        </p:txBody>
      </p:sp>
      <p:cxnSp>
        <p:nvCxnSpPr>
          <p:cNvPr id="7" name="Connector 6"/>
          <p:cNvCxnSpPr/>
          <p:nvPr/>
        </p:nvCxnSpPr>
        <p:spPr>
          <a:xfrm>
            <a:off x="621792" y="1490472"/>
            <a:ext cx="10945368" cy="0"/>
          </a:xfrm>
          <a:prstGeom prst="line">
            <a:avLst/>
          </a:prstGeom>
          <a:ln w="10795">
            <a:solidFill>
              <a:srgbClr val="D4A59A"/>
            </a:solidFill>
          </a:ln>
          <a:effectLst/>
        </p:spPr>
        <p:style>
          <a:lnRef idx="2">
            <a:schemeClr val="accent1"/>
          </a:lnRef>
          <a:fillRef idx="0">
            <a:schemeClr val="accent1"/>
          </a:fillRef>
          <a:effectRef idx="0">
            <a:schemeClr val="accent1"/>
          </a:effectRef>
          <a:fontRef idx="minor">
            <a:schemeClr val="tx1"/>
          </a:fontRef>
        </p:style>
      </p:cxnSp>
      <p:sp>
        <p:nvSpPr>
          <p:cNvPr id="8" name="Rectangle 7"/>
          <p:cNvSpPr/>
          <p:nvPr/>
        </p:nvSpPr>
        <p:spPr>
          <a:xfrm>
            <a:off x="630936" y="2057400"/>
            <a:ext cx="3044952" cy="512064"/>
          </a:xfrm>
          <a:prstGeom prst="rect">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86384" y="2185416"/>
            <a:ext cx="2734056" cy="283464"/>
          </a:xfrm>
          <a:prstGeom prst="rect">
            <a:avLst/>
          </a:prstGeom>
          <a:noFill/>
          <a:effectLst/>
        </p:spPr>
        <p:txBody>
          <a:bodyPr wrap="square" lIns="0" rIns="0" tIns="0" bIns="0">
            <a:spAutoFit/>
          </a:bodyPr>
          <a:lstStyle/>
          <a:p>
            <a:pPr>
              <a:lnSpc>
                <a:spcPct val="113000"/>
              </a:lnSpc>
              <a:spcAft>
                <a:spcPts val="0"/>
              </a:spcAft>
              <a:defRPr sz="1200" b="1">
                <a:solidFill>
                  <a:srgbClr val="FFFFFF"/>
                </a:solidFill>
                <a:latin typeface="Noto Sans"/>
              </a:defRPr>
            </a:pPr>
            <a:r>
              <a:rPr>
                <a:ea typeface="Noto Sans CJK SC"/>
              </a:rPr>
              <a:t>Reference</a:t>
            </a:r>
          </a:p>
        </p:txBody>
      </p:sp>
      <p:sp>
        <p:nvSpPr>
          <p:cNvPr id="10" name="Rectangle 9"/>
          <p:cNvSpPr/>
          <p:nvPr/>
        </p:nvSpPr>
        <p:spPr>
          <a:xfrm>
            <a:off x="3675887" y="2057400"/>
            <a:ext cx="4828032" cy="512064"/>
          </a:xfrm>
          <a:prstGeom prst="rect">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3831335" y="2185416"/>
            <a:ext cx="4517136" cy="283464"/>
          </a:xfrm>
          <a:prstGeom prst="rect">
            <a:avLst/>
          </a:prstGeom>
          <a:noFill/>
          <a:effectLst/>
        </p:spPr>
        <p:txBody>
          <a:bodyPr wrap="square" lIns="0" rIns="0" tIns="0" bIns="0">
            <a:spAutoFit/>
          </a:bodyPr>
          <a:lstStyle/>
          <a:p>
            <a:pPr>
              <a:lnSpc>
                <a:spcPct val="113000"/>
              </a:lnSpc>
              <a:spcAft>
                <a:spcPts val="0"/>
              </a:spcAft>
              <a:defRPr sz="1200" b="1">
                <a:solidFill>
                  <a:srgbClr val="FFFFFF"/>
                </a:solidFill>
                <a:latin typeface="Noto Sans"/>
              </a:defRPr>
            </a:pPr>
            <a:r>
              <a:rPr>
                <a:ea typeface="Noto Sans CJK SC"/>
              </a:rPr>
              <a:t>Use in this briefing</a:t>
            </a:r>
          </a:p>
        </p:txBody>
      </p:sp>
      <p:sp>
        <p:nvSpPr>
          <p:cNvPr id="12" name="Rectangle 11"/>
          <p:cNvSpPr/>
          <p:nvPr/>
        </p:nvSpPr>
        <p:spPr>
          <a:xfrm>
            <a:off x="8503920" y="2057400"/>
            <a:ext cx="3063240" cy="512064"/>
          </a:xfrm>
          <a:prstGeom prst="rect">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659368" y="2185416"/>
            <a:ext cx="2752344" cy="283464"/>
          </a:xfrm>
          <a:prstGeom prst="rect">
            <a:avLst/>
          </a:prstGeom>
          <a:noFill/>
          <a:effectLst/>
        </p:spPr>
        <p:txBody>
          <a:bodyPr wrap="square" lIns="0" rIns="0" tIns="0" bIns="0">
            <a:spAutoFit/>
          </a:bodyPr>
          <a:lstStyle/>
          <a:p>
            <a:pPr>
              <a:lnSpc>
                <a:spcPct val="113000"/>
              </a:lnSpc>
              <a:spcAft>
                <a:spcPts val="0"/>
              </a:spcAft>
              <a:defRPr sz="1200" b="1">
                <a:solidFill>
                  <a:srgbClr val="FFFFFF"/>
                </a:solidFill>
                <a:latin typeface="Noto Sans"/>
              </a:defRPr>
            </a:pPr>
            <a:r>
              <a:rPr>
                <a:ea typeface="Noto Sans CJK SC"/>
              </a:rPr>
              <a:t>Location</a:t>
            </a:r>
          </a:p>
        </p:txBody>
      </p:sp>
      <p:sp>
        <p:nvSpPr>
          <p:cNvPr id="14" name="Rectangle 13"/>
          <p:cNvSpPr/>
          <p:nvPr/>
        </p:nvSpPr>
        <p:spPr>
          <a:xfrm>
            <a:off x="630936" y="2569464"/>
            <a:ext cx="3044952" cy="777240"/>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86384" y="2724912"/>
            <a:ext cx="2734056" cy="548640"/>
          </a:xfrm>
          <a:prstGeom prst="rect">
            <a:avLst/>
          </a:prstGeom>
          <a:noFill/>
          <a:effectLst/>
        </p:spPr>
        <p:txBody>
          <a:bodyPr wrap="square" lIns="0" rIns="0" tIns="0" bIns="0">
            <a:spAutoFit/>
          </a:bodyPr>
          <a:lstStyle/>
          <a:p>
            <a:pPr>
              <a:lnSpc>
                <a:spcPct val="113000"/>
              </a:lnSpc>
              <a:spcAft>
                <a:spcPts val="0"/>
              </a:spcAft>
              <a:defRPr sz="1400" b="1">
                <a:solidFill>
                  <a:srgbClr val="7A202C"/>
                </a:solidFill>
                <a:latin typeface="Noto Sans"/>
              </a:defRPr>
            </a:pPr>
            <a:r>
              <a:rPr>
                <a:ea typeface="Noto Sans CJK SC"/>
              </a:rPr>
              <a:t>5957汇报.pptx</a:t>
            </a:r>
          </a:p>
        </p:txBody>
      </p:sp>
      <p:sp>
        <p:nvSpPr>
          <p:cNvPr id="16" name="Rectangle 15"/>
          <p:cNvSpPr/>
          <p:nvPr/>
        </p:nvSpPr>
        <p:spPr>
          <a:xfrm>
            <a:off x="3675887" y="2569464"/>
            <a:ext cx="4828032" cy="777240"/>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3831335" y="2724912"/>
            <a:ext cx="4517136" cy="548640"/>
          </a:xfrm>
          <a:prstGeom prst="rect">
            <a:avLst/>
          </a:prstGeom>
          <a:noFill/>
          <a:effectLst/>
        </p:spPr>
        <p:txBody>
          <a:bodyPr wrap="square" lIns="0" rIns="0" tIns="0" bIns="0">
            <a:spAutoFit/>
          </a:bodyPr>
          <a:lstStyle/>
          <a:p>
            <a:pPr>
              <a:lnSpc>
                <a:spcPct val="113000"/>
              </a:lnSpc>
              <a:spcAft>
                <a:spcPts val="0"/>
              </a:spcAft>
              <a:defRPr sz="1400" b="0">
                <a:solidFill>
                  <a:srgbClr val="1E191C"/>
                </a:solidFill>
                <a:latin typeface="Noto Sans"/>
              </a:defRPr>
            </a:pPr>
            <a:r>
              <a:rPr>
                <a:ea typeface="Noto Sans CJK SC"/>
              </a:rPr>
              <a:t>Original two-page facts and arguments</a:t>
            </a:r>
          </a:p>
        </p:txBody>
      </p:sp>
      <p:sp>
        <p:nvSpPr>
          <p:cNvPr id="18" name="Rectangle 17"/>
          <p:cNvSpPr/>
          <p:nvPr/>
        </p:nvSpPr>
        <p:spPr>
          <a:xfrm>
            <a:off x="8503920" y="2569464"/>
            <a:ext cx="3063240" cy="777240"/>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659368" y="2724912"/>
            <a:ext cx="2752344" cy="548640"/>
          </a:xfrm>
          <a:prstGeom prst="rect">
            <a:avLst/>
          </a:prstGeom>
          <a:noFill/>
          <a:effectLst/>
        </p:spPr>
        <p:txBody>
          <a:bodyPr wrap="square" lIns="0" rIns="0" tIns="0" bIns="0">
            <a:spAutoFit/>
          </a:bodyPr>
          <a:lstStyle/>
          <a:p>
            <a:pPr>
              <a:lnSpc>
                <a:spcPct val="113000"/>
              </a:lnSpc>
              <a:spcAft>
                <a:spcPts val="0"/>
              </a:spcAft>
              <a:defRPr sz="1400" b="0">
                <a:solidFill>
                  <a:srgbClr val="1E191C"/>
                </a:solidFill>
                <a:latin typeface="Noto Sans"/>
              </a:defRPr>
            </a:pPr>
            <a:r>
              <a:rPr>
                <a:ea typeface="Noto Sans CJK SC"/>
              </a:rPr>
              <a:t>User-supplied source</a:t>
            </a:r>
          </a:p>
        </p:txBody>
      </p:sp>
      <p:cxnSp>
        <p:nvCxnSpPr>
          <p:cNvPr id="20" name="Connector 19"/>
          <p:cNvCxnSpPr/>
          <p:nvPr/>
        </p:nvCxnSpPr>
        <p:spPr>
          <a:xfrm>
            <a:off x="630936" y="3346704"/>
            <a:ext cx="10936224"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21" name="Rectangle 20"/>
          <p:cNvSpPr/>
          <p:nvPr/>
        </p:nvSpPr>
        <p:spPr>
          <a:xfrm>
            <a:off x="630936" y="3346704"/>
            <a:ext cx="3044952" cy="777240"/>
          </a:xfrm>
          <a:prstGeom prst="rect">
            <a:avLst/>
          </a:prstGeom>
          <a:solidFill>
            <a:srgbClr val="FCF9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86384" y="3502152"/>
            <a:ext cx="2734056" cy="548640"/>
          </a:xfrm>
          <a:prstGeom prst="rect">
            <a:avLst/>
          </a:prstGeom>
          <a:noFill/>
          <a:effectLst/>
        </p:spPr>
        <p:txBody>
          <a:bodyPr wrap="square" lIns="0" rIns="0" tIns="0" bIns="0">
            <a:spAutoFit/>
          </a:bodyPr>
          <a:lstStyle/>
          <a:p>
            <a:pPr>
              <a:lnSpc>
                <a:spcPct val="113000"/>
              </a:lnSpc>
              <a:spcAft>
                <a:spcPts val="0"/>
              </a:spcAft>
              <a:defRPr sz="1400" b="1">
                <a:solidFill>
                  <a:srgbClr val="7A202C"/>
                </a:solidFill>
                <a:latin typeface="Noto Sans"/>
              </a:defRPr>
            </a:pPr>
            <a:r>
              <a:rPr>
                <a:ea typeface="Noto Sans CJK SC"/>
              </a:rPr>
              <a:t>[Executed tenancy]</a:t>
            </a:r>
          </a:p>
        </p:txBody>
      </p:sp>
      <p:sp>
        <p:nvSpPr>
          <p:cNvPr id="23" name="Rectangle 22"/>
          <p:cNvSpPr/>
          <p:nvPr/>
        </p:nvSpPr>
        <p:spPr>
          <a:xfrm>
            <a:off x="3675887" y="3346704"/>
            <a:ext cx="4828032" cy="777240"/>
          </a:xfrm>
          <a:prstGeom prst="rect">
            <a:avLst/>
          </a:prstGeom>
          <a:solidFill>
            <a:srgbClr val="FCF9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3831335" y="3502152"/>
            <a:ext cx="4517136" cy="548640"/>
          </a:xfrm>
          <a:prstGeom prst="rect">
            <a:avLst/>
          </a:prstGeom>
          <a:noFill/>
          <a:effectLst/>
        </p:spPr>
        <p:txBody>
          <a:bodyPr wrap="square" lIns="0" rIns="0" tIns="0" bIns="0">
            <a:spAutoFit/>
          </a:bodyPr>
          <a:lstStyle/>
          <a:p>
            <a:pPr>
              <a:lnSpc>
                <a:spcPct val="113000"/>
              </a:lnSpc>
              <a:spcAft>
                <a:spcPts val="0"/>
              </a:spcAft>
              <a:defRPr sz="1400" b="0">
                <a:solidFill>
                  <a:srgbClr val="1E191C"/>
                </a:solidFill>
                <a:latin typeface="Noto Sans"/>
              </a:defRPr>
            </a:pPr>
            <a:r>
              <a:rPr>
                <a:ea typeface="Noto Sans CJK SC"/>
              </a:rPr>
              <a:t>[Insert relevant clause / extract]</a:t>
            </a:r>
          </a:p>
        </p:txBody>
      </p:sp>
      <p:sp>
        <p:nvSpPr>
          <p:cNvPr id="25" name="Rectangle 24"/>
          <p:cNvSpPr/>
          <p:nvPr/>
        </p:nvSpPr>
        <p:spPr>
          <a:xfrm>
            <a:off x="8503920" y="3346704"/>
            <a:ext cx="3063240" cy="777240"/>
          </a:xfrm>
          <a:prstGeom prst="rect">
            <a:avLst/>
          </a:prstGeom>
          <a:solidFill>
            <a:srgbClr val="FCF9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8659368" y="3502152"/>
            <a:ext cx="2752344" cy="548640"/>
          </a:xfrm>
          <a:prstGeom prst="rect">
            <a:avLst/>
          </a:prstGeom>
          <a:noFill/>
          <a:effectLst/>
        </p:spPr>
        <p:txBody>
          <a:bodyPr wrap="square" lIns="0" rIns="0" tIns="0" bIns="0">
            <a:spAutoFit/>
          </a:bodyPr>
          <a:lstStyle/>
          <a:p>
            <a:pPr>
              <a:lnSpc>
                <a:spcPct val="113000"/>
              </a:lnSpc>
              <a:spcAft>
                <a:spcPts val="0"/>
              </a:spcAft>
              <a:defRPr sz="1400" b="0">
                <a:solidFill>
                  <a:srgbClr val="1E191C"/>
                </a:solidFill>
                <a:latin typeface="Noto Sans"/>
              </a:defRPr>
            </a:pPr>
            <a:r>
              <a:rPr>
                <a:ea typeface="Noto Sans CJK SC"/>
              </a:rPr>
              <a:t>[Page / clause]</a:t>
            </a:r>
          </a:p>
        </p:txBody>
      </p:sp>
      <p:cxnSp>
        <p:nvCxnSpPr>
          <p:cNvPr id="27" name="Connector 26"/>
          <p:cNvCxnSpPr/>
          <p:nvPr/>
        </p:nvCxnSpPr>
        <p:spPr>
          <a:xfrm>
            <a:off x="630936" y="4123944"/>
            <a:ext cx="10936224"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28" name="Rectangle 27"/>
          <p:cNvSpPr/>
          <p:nvPr/>
        </p:nvSpPr>
        <p:spPr>
          <a:xfrm>
            <a:off x="630936" y="4123944"/>
            <a:ext cx="3044952" cy="777240"/>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86384" y="4279392"/>
            <a:ext cx="2734056" cy="548640"/>
          </a:xfrm>
          <a:prstGeom prst="rect">
            <a:avLst/>
          </a:prstGeom>
          <a:noFill/>
          <a:effectLst/>
        </p:spPr>
        <p:txBody>
          <a:bodyPr wrap="square" lIns="0" rIns="0" tIns="0" bIns="0">
            <a:spAutoFit/>
          </a:bodyPr>
          <a:lstStyle/>
          <a:p>
            <a:pPr>
              <a:lnSpc>
                <a:spcPct val="113000"/>
              </a:lnSpc>
              <a:spcAft>
                <a:spcPts val="0"/>
              </a:spcAft>
              <a:defRPr sz="1400" b="1">
                <a:solidFill>
                  <a:srgbClr val="7A202C"/>
                </a:solidFill>
                <a:latin typeface="Noto Sans"/>
              </a:defRPr>
            </a:pPr>
            <a:r>
              <a:rPr>
                <a:ea typeface="Noto Sans CJK SC"/>
              </a:rPr>
              <a:t>[Verified authority]</a:t>
            </a:r>
          </a:p>
        </p:txBody>
      </p:sp>
      <p:sp>
        <p:nvSpPr>
          <p:cNvPr id="30" name="Rectangle 29"/>
          <p:cNvSpPr/>
          <p:nvPr/>
        </p:nvSpPr>
        <p:spPr>
          <a:xfrm>
            <a:off x="3675887" y="4123944"/>
            <a:ext cx="4828032" cy="777240"/>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3831335" y="4279392"/>
            <a:ext cx="4517136" cy="548640"/>
          </a:xfrm>
          <a:prstGeom prst="rect">
            <a:avLst/>
          </a:prstGeom>
          <a:noFill/>
          <a:effectLst/>
        </p:spPr>
        <p:txBody>
          <a:bodyPr wrap="square" lIns="0" rIns="0" tIns="0" bIns="0">
            <a:spAutoFit/>
          </a:bodyPr>
          <a:lstStyle/>
          <a:p>
            <a:pPr>
              <a:lnSpc>
                <a:spcPct val="113000"/>
              </a:lnSpc>
              <a:spcAft>
                <a:spcPts val="0"/>
              </a:spcAft>
              <a:defRPr sz="1400" b="0">
                <a:solidFill>
                  <a:srgbClr val="1E191C"/>
                </a:solidFill>
                <a:latin typeface="Noto Sans"/>
              </a:defRPr>
            </a:pPr>
            <a:r>
              <a:rPr>
                <a:ea typeface="Noto Sans CJK SC"/>
              </a:rPr>
              <a:t>[Insert principle or provision]</a:t>
            </a:r>
          </a:p>
        </p:txBody>
      </p:sp>
      <p:sp>
        <p:nvSpPr>
          <p:cNvPr id="32" name="Rectangle 31"/>
          <p:cNvSpPr/>
          <p:nvPr/>
        </p:nvSpPr>
        <p:spPr>
          <a:xfrm>
            <a:off x="8503920" y="4123944"/>
            <a:ext cx="3063240" cy="777240"/>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8659368" y="4279392"/>
            <a:ext cx="2752344" cy="548640"/>
          </a:xfrm>
          <a:prstGeom prst="rect">
            <a:avLst/>
          </a:prstGeom>
          <a:noFill/>
          <a:effectLst/>
        </p:spPr>
        <p:txBody>
          <a:bodyPr wrap="square" lIns="0" rIns="0" tIns="0" bIns="0">
            <a:spAutoFit/>
          </a:bodyPr>
          <a:lstStyle/>
          <a:p>
            <a:pPr>
              <a:lnSpc>
                <a:spcPct val="113000"/>
              </a:lnSpc>
              <a:spcAft>
                <a:spcPts val="0"/>
              </a:spcAft>
              <a:defRPr sz="1400" b="0">
                <a:solidFill>
                  <a:srgbClr val="1E191C"/>
                </a:solidFill>
                <a:latin typeface="Noto Sans"/>
              </a:defRPr>
            </a:pPr>
            <a:r>
              <a:rPr>
                <a:ea typeface="Noto Sans CJK SC"/>
              </a:rPr>
              <a:t>[Citation / section]</a:t>
            </a:r>
          </a:p>
        </p:txBody>
      </p:sp>
      <p:cxnSp>
        <p:nvCxnSpPr>
          <p:cNvPr id="34" name="Connector 33"/>
          <p:cNvCxnSpPr/>
          <p:nvPr/>
        </p:nvCxnSpPr>
        <p:spPr>
          <a:xfrm>
            <a:off x="630936" y="4901183"/>
            <a:ext cx="10936224"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35" name="Rectangle 34"/>
          <p:cNvSpPr/>
          <p:nvPr/>
        </p:nvSpPr>
        <p:spPr>
          <a:xfrm>
            <a:off x="630936" y="4901183"/>
            <a:ext cx="3044952" cy="777240"/>
          </a:xfrm>
          <a:prstGeom prst="rect">
            <a:avLst/>
          </a:prstGeom>
          <a:solidFill>
            <a:srgbClr val="FCF9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786384" y="5056631"/>
            <a:ext cx="2734056" cy="548640"/>
          </a:xfrm>
          <a:prstGeom prst="rect">
            <a:avLst/>
          </a:prstGeom>
          <a:noFill/>
          <a:effectLst/>
        </p:spPr>
        <p:txBody>
          <a:bodyPr wrap="square" lIns="0" rIns="0" tIns="0" bIns="0">
            <a:spAutoFit/>
          </a:bodyPr>
          <a:lstStyle/>
          <a:p>
            <a:pPr>
              <a:lnSpc>
                <a:spcPct val="113000"/>
              </a:lnSpc>
              <a:spcAft>
                <a:spcPts val="0"/>
              </a:spcAft>
              <a:defRPr sz="1400" b="1">
                <a:solidFill>
                  <a:srgbClr val="7A202C"/>
                </a:solidFill>
                <a:latin typeface="Noto Sans"/>
              </a:defRPr>
            </a:pPr>
            <a:r>
              <a:rPr>
                <a:ea typeface="Noto Sans CJK SC"/>
              </a:rPr>
              <a:t>[Evidence record]</a:t>
            </a:r>
          </a:p>
        </p:txBody>
      </p:sp>
      <p:sp>
        <p:nvSpPr>
          <p:cNvPr id="37" name="Rectangle 36"/>
          <p:cNvSpPr/>
          <p:nvPr/>
        </p:nvSpPr>
        <p:spPr>
          <a:xfrm>
            <a:off x="3675887" y="4901183"/>
            <a:ext cx="4828032" cy="777240"/>
          </a:xfrm>
          <a:prstGeom prst="rect">
            <a:avLst/>
          </a:prstGeom>
          <a:solidFill>
            <a:srgbClr val="FCF9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3831335" y="5056631"/>
            <a:ext cx="4517136" cy="548640"/>
          </a:xfrm>
          <a:prstGeom prst="rect">
            <a:avLst/>
          </a:prstGeom>
          <a:noFill/>
          <a:effectLst/>
        </p:spPr>
        <p:txBody>
          <a:bodyPr wrap="square" lIns="0" rIns="0" tIns="0" bIns="0">
            <a:spAutoFit/>
          </a:bodyPr>
          <a:lstStyle/>
          <a:p>
            <a:pPr>
              <a:lnSpc>
                <a:spcPct val="113000"/>
              </a:lnSpc>
              <a:spcAft>
                <a:spcPts val="0"/>
              </a:spcAft>
              <a:defRPr sz="1400" b="0">
                <a:solidFill>
                  <a:srgbClr val="1E191C"/>
                </a:solidFill>
                <a:latin typeface="Noto Sans"/>
              </a:defRPr>
            </a:pPr>
            <a:r>
              <a:rPr>
                <a:ea typeface="Noto Sans CJK SC"/>
              </a:rPr>
              <a:t>[Insert fact supported by the record]</a:t>
            </a:r>
          </a:p>
        </p:txBody>
      </p:sp>
      <p:sp>
        <p:nvSpPr>
          <p:cNvPr id="39" name="Rectangle 38"/>
          <p:cNvSpPr/>
          <p:nvPr/>
        </p:nvSpPr>
        <p:spPr>
          <a:xfrm>
            <a:off x="8503920" y="4901183"/>
            <a:ext cx="3063240" cy="777240"/>
          </a:xfrm>
          <a:prstGeom prst="rect">
            <a:avLst/>
          </a:prstGeom>
          <a:solidFill>
            <a:srgbClr val="FCF9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8659368" y="5056631"/>
            <a:ext cx="2752344" cy="548640"/>
          </a:xfrm>
          <a:prstGeom prst="rect">
            <a:avLst/>
          </a:prstGeom>
          <a:noFill/>
          <a:effectLst/>
        </p:spPr>
        <p:txBody>
          <a:bodyPr wrap="square" lIns="0" rIns="0" tIns="0" bIns="0">
            <a:spAutoFit/>
          </a:bodyPr>
          <a:lstStyle/>
          <a:p>
            <a:pPr>
              <a:lnSpc>
                <a:spcPct val="113000"/>
              </a:lnSpc>
              <a:spcAft>
                <a:spcPts val="0"/>
              </a:spcAft>
              <a:defRPr sz="1400" b="0">
                <a:solidFill>
                  <a:srgbClr val="1E191C"/>
                </a:solidFill>
                <a:latin typeface="Noto Sans"/>
              </a:defRPr>
            </a:pPr>
            <a:r>
              <a:rPr>
                <a:ea typeface="Noto Sans CJK SC"/>
              </a:rPr>
              <a:t>[Document / date]</a:t>
            </a:r>
          </a:p>
        </p:txBody>
      </p:sp>
      <p:cxnSp>
        <p:nvCxnSpPr>
          <p:cNvPr id="41" name="Connector 40"/>
          <p:cNvCxnSpPr/>
          <p:nvPr/>
        </p:nvCxnSpPr>
        <p:spPr>
          <a:xfrm>
            <a:off x="630936" y="5678423"/>
            <a:ext cx="10936224"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42" name="Rectangle 41"/>
          <p:cNvSpPr/>
          <p:nvPr/>
        </p:nvSpPr>
        <p:spPr>
          <a:xfrm>
            <a:off x="630936" y="5833872"/>
            <a:ext cx="10936224" cy="393192"/>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795528" y="5925312"/>
            <a:ext cx="10588752" cy="237744"/>
          </a:xfrm>
          <a:prstGeom prst="rect">
            <a:avLst/>
          </a:prstGeom>
          <a:noFill/>
          <a:effectLst/>
        </p:spPr>
        <p:txBody>
          <a:bodyPr wrap="square" lIns="0" rIns="0" tIns="0" bIns="0">
            <a:spAutoFit/>
          </a:bodyPr>
          <a:lstStyle/>
          <a:p>
            <a:pPr>
              <a:lnSpc>
                <a:spcPct val="113000"/>
              </a:lnSpc>
              <a:spcAft>
                <a:spcPts val="0"/>
              </a:spcAft>
              <a:defRPr sz="1150" b="0">
                <a:solidFill>
                  <a:srgbClr val="7A202C"/>
                </a:solidFill>
                <a:latin typeface="Noto Sans"/>
              </a:defRPr>
            </a:pPr>
            <a:r>
              <a:rPr>
                <a:ea typeface="Noto Sans CJK SC"/>
              </a:rPr>
              <a:t>Bracketed entries are placeholders for material you add and verify.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621792" y="6437376"/>
            <a:ext cx="10945368" cy="0"/>
          </a:xfrm>
          <a:prstGeom prst="line">
            <a:avLst/>
          </a:prstGeom>
          <a:ln w="7620">
            <a:solidFill>
              <a:srgbClr val="E8D5D7"/>
            </a:solidFill>
          </a:ln>
          <a:effectLst/>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630936" y="6556248"/>
            <a:ext cx="5486400" cy="237744"/>
          </a:xfrm>
          <a:prstGeom prst="rect">
            <a:avLst/>
          </a:prstGeom>
          <a:noFill/>
          <a:effectLst/>
        </p:spPr>
        <p:txBody>
          <a:bodyPr wrap="square" lIns="0" rIns="0" tIns="0" bIns="0">
            <a:spAutoFit/>
          </a:bodyPr>
          <a:lstStyle/>
          <a:p>
            <a:pPr>
              <a:lnSpc>
                <a:spcPct val="113000"/>
              </a:lnSpc>
              <a:spcAft>
                <a:spcPts val="0"/>
              </a:spcAft>
              <a:defRPr sz="800" b="1">
                <a:solidFill>
                  <a:srgbClr val="666064"/>
                </a:solidFill>
                <a:latin typeface="Noto Sans"/>
              </a:defRPr>
            </a:pPr>
            <a:r>
              <a:rPr>
                <a:ea typeface="Noto Sans CJK SC"/>
              </a:rPr>
              <a:t>5957  /  TENANCY DISPUTE</a:t>
            </a:r>
          </a:p>
        </p:txBody>
      </p:sp>
      <p:sp>
        <p:nvSpPr>
          <p:cNvPr id="4" name="TextBox 3"/>
          <p:cNvSpPr txBox="1"/>
          <p:nvPr/>
        </p:nvSpPr>
        <p:spPr>
          <a:xfrm>
            <a:off x="10149840" y="6537960"/>
            <a:ext cx="1399032" cy="201168"/>
          </a:xfrm>
          <a:prstGeom prst="rect">
            <a:avLst/>
          </a:prstGeom>
          <a:noFill/>
          <a:effectLst/>
        </p:spPr>
        <p:txBody>
          <a:bodyPr wrap="square" lIns="0" rIns="0" tIns="0" bIns="0">
            <a:spAutoFit/>
          </a:bodyPr>
          <a:lstStyle/>
          <a:p>
            <a:pPr algn="r">
              <a:lnSpc>
                <a:spcPct val="113000"/>
              </a:lnSpc>
              <a:spcAft>
                <a:spcPts val="0"/>
              </a:spcAft>
              <a:defRPr sz="800" b="0">
                <a:solidFill>
                  <a:srgbClr val="666064"/>
                </a:solidFill>
                <a:latin typeface="Noto Sans"/>
              </a:defRPr>
            </a:pPr>
            <a:r>
              <a:rPr>
                <a:ea typeface="Noto Sans CJK SC"/>
              </a:rPr>
              <a:t>30  /  30</a:t>
            </a:r>
          </a:p>
        </p:txBody>
      </p:sp>
      <p:sp>
        <p:nvSpPr>
          <p:cNvPr id="5" name="Rectangle 4"/>
          <p:cNvSpPr/>
          <p:nvPr/>
        </p:nvSpPr>
        <p:spPr>
          <a:xfrm>
            <a:off x="9601200" y="0"/>
            <a:ext cx="2590799" cy="6428232"/>
          </a:xfrm>
          <a:prstGeom prst="rect">
            <a:avLst/>
          </a:prstGeom>
          <a:solidFill>
            <a:srgbClr val="F8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94944" y="658368"/>
            <a:ext cx="8229600" cy="237744"/>
          </a:xfrm>
          <a:prstGeom prst="rect">
            <a:avLst/>
          </a:prstGeom>
          <a:noFill/>
          <a:effectLst/>
        </p:spPr>
        <p:txBody>
          <a:bodyPr wrap="square" lIns="0" rIns="0" tIns="0" bIns="0">
            <a:spAutoFit/>
          </a:bodyPr>
          <a:lstStyle/>
          <a:p>
            <a:pPr>
              <a:lnSpc>
                <a:spcPct val="113000"/>
              </a:lnSpc>
              <a:spcAft>
                <a:spcPts val="0"/>
              </a:spcAft>
              <a:defRPr sz="1000" b="1">
                <a:solidFill>
                  <a:srgbClr val="A34450"/>
                </a:solidFill>
                <a:latin typeface="Noto Sans"/>
              </a:defRPr>
            </a:pPr>
            <a:r>
              <a:rPr>
                <a:ea typeface="Noto Sans CJK SC"/>
              </a:rPr>
              <a:t>5957  /  LEGAL CASE BRIEFING</a:t>
            </a:r>
          </a:p>
        </p:txBody>
      </p:sp>
      <p:cxnSp>
        <p:nvCxnSpPr>
          <p:cNvPr id="7" name="Connector 6"/>
          <p:cNvCxnSpPr/>
          <p:nvPr/>
        </p:nvCxnSpPr>
        <p:spPr>
          <a:xfrm>
            <a:off x="722376" y="2103120"/>
            <a:ext cx="859536" cy="0"/>
          </a:xfrm>
          <a:prstGeom prst="line">
            <a:avLst/>
          </a:prstGeom>
          <a:ln w="25400">
            <a:solidFill>
              <a:srgbClr val="7A202C"/>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649224" y="2615184"/>
            <a:ext cx="9235440" cy="1060704"/>
          </a:xfrm>
          <a:prstGeom prst="rect">
            <a:avLst/>
          </a:prstGeom>
          <a:noFill/>
          <a:effectLst/>
        </p:spPr>
        <p:txBody>
          <a:bodyPr wrap="square" lIns="0" rIns="0" tIns="0" bIns="0">
            <a:spAutoFit/>
          </a:bodyPr>
          <a:lstStyle/>
          <a:p>
            <a:pPr>
              <a:lnSpc>
                <a:spcPct val="113000"/>
              </a:lnSpc>
              <a:spcAft>
                <a:spcPts val="0"/>
              </a:spcAft>
              <a:defRPr sz="5600" b="0">
                <a:solidFill>
                  <a:srgbClr val="7A202C"/>
                </a:solidFill>
                <a:latin typeface="Noto Serif"/>
              </a:defRPr>
            </a:pPr>
            <a:r>
              <a:rPr>
                <a:ea typeface="Noto Sans CJK SC"/>
              </a:rPr>
              <a:t>Thank you.</a:t>
            </a:r>
          </a:p>
        </p:txBody>
      </p:sp>
      <p:sp>
        <p:nvSpPr>
          <p:cNvPr id="9" name="TextBox 8"/>
          <p:cNvSpPr txBox="1"/>
          <p:nvPr/>
        </p:nvSpPr>
        <p:spPr>
          <a:xfrm>
            <a:off x="722376" y="4142232"/>
            <a:ext cx="8686800" cy="557784"/>
          </a:xfrm>
          <a:prstGeom prst="rect">
            <a:avLst/>
          </a:prstGeom>
          <a:noFill/>
          <a:effectLst/>
        </p:spPr>
        <p:txBody>
          <a:bodyPr wrap="square" lIns="0" rIns="0" tIns="0" bIns="0">
            <a:spAutoFit/>
          </a:bodyPr>
          <a:lstStyle/>
          <a:p>
            <a:pPr>
              <a:lnSpc>
                <a:spcPct val="113000"/>
              </a:lnSpc>
              <a:spcAft>
                <a:spcPts val="0"/>
              </a:spcAft>
              <a:defRPr sz="2700" b="0">
                <a:solidFill>
                  <a:srgbClr val="1E191C"/>
                </a:solidFill>
                <a:latin typeface="Noto Sans"/>
              </a:defRPr>
            </a:pPr>
            <a:r>
              <a:rPr>
                <a:ea typeface="Noto Sans CJK SC"/>
              </a:rPr>
              <a:t>Questions &amp; discussion</a:t>
            </a:r>
          </a:p>
        </p:txBody>
      </p:sp>
      <p:sp>
        <p:nvSpPr>
          <p:cNvPr id="10" name="TextBox 9"/>
          <p:cNvSpPr txBox="1"/>
          <p:nvPr/>
        </p:nvSpPr>
        <p:spPr>
          <a:xfrm>
            <a:off x="731520" y="4974336"/>
            <a:ext cx="8412480" cy="365760"/>
          </a:xfrm>
          <a:prstGeom prst="rect">
            <a:avLst/>
          </a:prstGeom>
          <a:noFill/>
          <a:effectLst/>
        </p:spPr>
        <p:txBody>
          <a:bodyPr wrap="square" lIns="0" rIns="0" tIns="0" bIns="0">
            <a:spAutoFit/>
          </a:bodyPr>
          <a:lstStyle/>
          <a:p>
            <a:pPr>
              <a:lnSpc>
                <a:spcPct val="113000"/>
              </a:lnSpc>
              <a:spcAft>
                <a:spcPts val="0"/>
              </a:spcAft>
              <a:defRPr sz="1600" b="0">
                <a:solidFill>
                  <a:srgbClr val="666064"/>
                </a:solidFill>
                <a:latin typeface="Noto Sans"/>
              </a:defRPr>
            </a:pPr>
            <a:r>
              <a:rPr>
                <a:ea typeface="Noto Sans CJK SC"/>
              </a:rPr>
              <a:t>Forfeiture  /  Possession  /  Renewal</a:t>
            </a:r>
          </a:p>
        </p:txBody>
      </p:sp>
      <p:sp>
        <p:nvSpPr>
          <p:cNvPr id="11" name="Rectangle 10"/>
          <p:cNvSpPr/>
          <p:nvPr/>
        </p:nvSpPr>
        <p:spPr>
          <a:xfrm>
            <a:off x="10222992" y="2267712"/>
            <a:ext cx="749808" cy="466344"/>
          </a:xfrm>
          <a:prstGeom prst="rect">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10222992" y="2990088"/>
            <a:ext cx="749808" cy="466344"/>
          </a:xfrm>
          <a:prstGeom prst="rect">
            <a:avLst/>
          </a:prstGeom>
          <a:solidFill>
            <a:srgbClr val="A3445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10222992" y="3712464"/>
            <a:ext cx="749808" cy="466344"/>
          </a:xfrm>
          <a:prstGeom prst="rect">
            <a:avLst/>
          </a:prstGeom>
          <a:solidFill>
            <a:srgbClr val="D4A59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rgbClr val="1E191C"/>
      </a:dk1>
      <a:lt1>
        <a:srgbClr val="FFFFFF"/>
      </a:lt1>
      <a:dk2>
        <a:srgbClr val="7A202C"/>
      </a:dk2>
      <a:lt2>
        <a:srgbClr val="F8F1F0"/>
      </a:lt2>
      <a:accent1>
        <a:srgbClr val="7A202C"/>
      </a:accent1>
      <a:accent2>
        <a:srgbClr val="A34450"/>
      </a:accent2>
      <a:accent3>
        <a:srgbClr val="D4A59A"/>
      </a:accent3>
      <a:accent4>
        <a:srgbClr val="B97A84"/>
      </a:accent4>
      <a:accent5>
        <a:srgbClr val="D9B8BC"/>
      </a:accent5>
      <a:accent6>
        <a:srgbClr val="6F5960"/>
      </a:accent6>
      <a:hlink>
        <a:srgbClr val="0000FF"/>
      </a:hlink>
      <a:folHlink>
        <a:srgbClr val="800080"/>
      </a:folHlink>
    </a:clrScheme>
    <a:fontScheme name="Office">
      <a:majorFont>
        <a:latin typeface="Noto Serif"/>
        <a:ea typeface="Noto Sans CJK SC"/>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SC"/>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5957 | 30-Page Burgundy Legal Briefing Template</dc:title>
  <dc:subject>Advanced editable templates based on the original two-page report</dc:subject>
  <dc:creator/>
  <cp:keywords>burgundy, legal briefing, 30 slides, editable template</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